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Yehia Sobeh and I will be presenting my bachelor's thesis: Bridging the Enforcement Verification Gap — detecting divergence between declared and actual security posture in Kubernetes containerized environments. This work was supervised by Kirill Saltanov. Over the next ten minutes I will explain what this gap is, why no existing tool addresses it, the tool I built to bridge it, and the two key findings my evaluation revealed.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that drove this thesis. On the left, a developer declared in YAML that their container should use RuntimeDefault seccomp filtering. On the right, what the kernel actually applies: zero seccomp filter, all 41 Linux capabilities granted. The declaration says one thing — the runtime does another, and no existing tool tells you. That mismatch is what I call the enforcement verification gap, and detecting it is the central contribution of this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set the stage: Kubernetes is declarative. The operator writes a pod spec — fields like privileged, runAsUser, capabilities, seccompProfile — and trusts the platform to enforce them. But getting from that YAML to actual kernel enforcement takes four hops: the Kubernetes API, the kubelet through CRI, the container runtime building an OCI spec, and finally runc configuring the kernel. Every hop can add a default, override a value, or silently drop a restriction. The problem is that all existing tools sit at one of the two endpoints — they either read the spec like Gatekeeper and Kyverno, or they watch system calls like Falco. Nobody compares the two ends to check that the translation is faithful.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that observation formally: I call this the enforcement verification gap. It is the absence of tooling that systematically checks whether the security context declared in a pod spec is actually applied by the runtime. Three research questions guide this thesis. First, empirical: does divergence actually exist, and under what conditions? Second, engineering: can a lightweight node-resident agent detect it with acceptable overhead? Third, taxonomy: what categories of divergence exist, and how should they be classified? I will return to all three in the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surveyed the full Kubernetes security tool landscape — static analyzers, admission controllers, runtime monitors, drift detectors. Every one of them falls into one of two camps. OPA Gatekeeper, Kyverno, Kubescape, Trivy — they read only the Kubernetes API. Falco and KubeArmor sit at the kernel and watch syscalls, but they never check whether the container's seccomp profile or capabilities match what was declared. Kubediff and ArgoCD compare the spec against Git, never against the runtime. Three academic papers — Wong, Devi Priya, and CloudSecBurrito — explicitly call this out as an open research direction. The bottom row is the contribution of this thesis: a tool that occupies the empty middle, comparing the K8s API to the actual container runtime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I built is called k8s-psa — Kubernetes Pod Security Auditor. It deploys as a DaemonSet, so exactly one scanner runs on every node, with read-only access to the Kubernetes API and the container runtime socket. It scans every sixty seconds and runs a two-layer pipeline. Layer 1 reads only the pod specs and runs eight policy checks — privileged, root user, host namespaces, seccomp present, dangerous capabilities, read-only root. That layer is functionally equivalent to Gatekeeper or Kyverno; its job is to provide a baseline. Layer 2 is the novel contribution. For each running container, it builds two parallel data structures — one from the pod spec, one from the container runtime — and compares them field by field across seven security dimensions. Each comparison produces zero or more drift findings in three severity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highlight two design decisions that make Layer 2 work in practice. First, capability normalization. The Linux kernel grants fourteen default capabilities to every non-privileged container. So if you naively compare the pod spec, which lists zero capabilities, against the runtime, which lists fourteen, you get fourteen false positives per pod — your output is unusable. The normalization algorithm computes the expected set: defaults minus the drop list, union the add list. The interesting design choice: for privileged containers, where Docker grants all forty-one capabilities, I deliberately do not expand the expected set. The result is that privileged pods always produce twenty-seven warnings — correctly flagging the capability inflation that privileged mode hides. Second, the seccomp comparison logic. Three rules: if the spec declares RuntimeDefault or Localhost and the runtime has nothing, that is CRITICAL. If the spec declares Unconfined and the runtime adds a default anyway, that is INFO — the runtime is stricter than asked. Otherwise no finding. This logic is what catches the central finding of the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evaluation. I built seven test pods that cover the full spectrum of pod security configurations — from fully hardened to fully open. The headline is the pair I have highlighted: Pod 3 declares both privileged true and seccomp RuntimeDefault. Pod 4 declares privileged true and omits seccomp entirely. These two pods end up with byte-identical runtime state — every capability, no seccomp filter, no masked paths. The only variable that differs is the spec. If my drift detector is correct, Pod 3 must produce a CRITICAL seccomp finding — because it declared a restriction the runtime did not honor — and Pod 4 must produce no seccomp finding, because no restriction was declared. That is the experimental rigor that lets me make claims about the tool's specificity. I also evaluated against the four real-world Kubernetes control plane components — etcd, kube-apiserver, kube-controller-manager, and kube-scheduler — which gave me independent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finding of the thesis. Pod 3 declares privileged true AND seccomp RuntimeDefault. Pod 4 declares privileged true with no seccomp at all. Their runtime states are identical: all forty-one capabilities, no seccomp filter, no masked paths. The Docker runtime has silently stripped the seccomp profile from the privileged container — this behavior is buried in Moby issue 41321 but had never been detected by any runtime verification tool. My tool flags Pod 3 with a CRITICAL seccomp mismatch and Pod 4 with no seccomp finding. That asymmetry confirms specificity: I am not just flagging every privileged container; I am specifically flagging the gap between declared intent and actual enforcement. The security implication is real. An operator who writes seccomp RuntimeDefault on a privileged container reasonably expects syscall filtering. OPA Gatekeeper reads the K8s API, sees RuntimeDefault, and reports compliance. Kyverno does the same. Kubescape does the same. Trivy Operator does the same. Every tool in the ecosystem tells the operator that this pod is filtered. None of them detect that the kernel applies no filter. I also observed the same CRITICAL finding for all four Kubernetes control plane pods, which are real production code shipped by the Kubernetes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finding emerged from looking carefully at unexpected results. Pods 1, 5, and 6 are non-privileged and correctly declare RuntimeDefault. They should produce no seccomp finding. But they did — they all came up CRITICAL. Investigating why led to a documented but widely misunderstood Docker behavior. When cri-dockerd translates Kubernetes RuntimeDefault into a Docker API call, it does not add an explicit SecurityOpt entry. It just relies on Docker's built-in default profile to kick in. The kernel actually applies the seccomp filter — the container is protected. But docker inspect returns an empty SecurityOpt, which is indistinguishable from a container that is genuinely unfiltered. This is a second, distinct phenomenon: not an enforcement gap, but an observability gap. The lesson here is broader than my tool: runtime metadata is a lossy abstraction. Any tool that relies on docker inspect for security verification will produce false positives in this scenario. The robust fix is to read the kernel directly — /proc/PID/status exposes a Seccomp field, value 2 confirms BPF filter mode. That is the first item in my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real-time dashboard the tool exposes during operation. After seventy-five complete scan cycles I had detected thirty-five unique specification violations from Layer 1 and three hundred critical drift findings from Layer 2. Every expected true positive was caught, and the controlled Pod 3 vs Pod 4 comparison behaved exactly as the design predicted. The entire test suite — forty-four unit tests — runs in two tenths of a second without requiring a Kubernetes cluster, which made iteration fast during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Folding the findings back into the research questions: RQ1, does divergence exist? Yes — privileged containers with declared seccomp are the headline case. RQ2, can a lightweight tool detect it? Yes — three seconds per scan over sixteen containers, sixty-four megabytes of memory, well under one tenth of a CPU core, no modification of any existing cluster security mechanism. RQ3, what categories? Three: genuine enforcement gaps where the runtime silently drops a declared restriction; capability inflation, where privileged mode grants twenty-seven extra capabilities that were never asked for; and observability artefacts, where the metadata interface hides implicit defaults. All within the resource budget of a single Minikube node, which means it would deploy comfortably in any production-sized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honest about the limitations. I tested one runtime — Minikube with Docker. The containerd adapter was implemented and unit-tested but not cluster-tested. The seccomp check uses docker inspect rather than the kernel directly, which is precisely what produced the observability false positives. It is a single-node cluster, so multi-node and network-policy interactions are not in scope. And the tool shells out to CLIs instead of using Python client libraries, which works but introduces parsing fragility. Future work follows naturally. First and most immediate: read /proc/PID/status to get the kernel's seccomp status directly — that one change eliminates the observability gap. Second, deploy on containerd-based clusters — kind, GKE, EKS — to see whether the seccomp stripping behavior reproduces or whether it is Docker-specific. Third, investigate mutating admission webhooks, which can rewrite security contexts after the user submits the spec, potentially creating a different class of enforcement gap. My supervisor noted that the two findings together are mature enough to be shaped into a research paper, which is a direction I would like to pursue.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four contributions. First, k8s-psa itself — the first open-source tool that systematically compares Kubernetes declarations against actual container runtime state across seven security dimensions. Second, empirical evidence of the privileged-seccomp-stripping vulnerability — a real enforcement gap that is invisible to every existing specification-only tool. Third, discovery of the observability gap in Docker's metadata interface, with implications for any tool that relies on docker inspect for security posture assessment. Fourth, an open-source evaluation framework — forty-four unit tests, seven deployment-level test cases with documented expected outcomes, a one-command deployment, and a real-time dashboard. Thank you. I would be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8686800" y="457200"/>
            <a:ext cx="2743200" cy="731520"/>
          </a:xfrm>
          <a:prstGeom prst="roundRect">
            <a:avLst>
              <a:gd name="adj" fmla="val 6250"/>
            </a:avLst>
          </a:prstGeom>
          <a:solidFill>
            <a:srgbClr val="06B6D4">
              <a:alpha val="30000"/>
            </a:srgbClr>
          </a:solidFill>
          <a:ln w="12700">
            <a:solidFill>
              <a:srgbClr val="06B6D4"/>
            </a:solidFill>
            <a:prstDash val="solid"/>
          </a:ln>
        </p:spPr>
      </p:sp>
      <p:sp>
        <p:nvSpPr>
          <p:cNvPr id="3" name="Shape 1"/>
          <p:cNvSpPr/>
          <p:nvPr/>
        </p:nvSpPr>
        <p:spPr>
          <a:xfrm>
            <a:off x="8961120" y="731520"/>
            <a:ext cx="2743200" cy="731520"/>
          </a:xfrm>
          <a:prstGeom prst="roundRect">
            <a:avLst>
              <a:gd name="adj" fmla="val 6250"/>
            </a:avLst>
          </a:prstGeom>
          <a:solidFill>
            <a:srgbClr val="06B6D4">
              <a:alpha val="25000"/>
            </a:srgbClr>
          </a:solidFill>
          <a:ln w="12700">
            <a:solidFill>
              <a:srgbClr val="06B6D4"/>
            </a:solidFill>
            <a:prstDash val="solid"/>
          </a:ln>
        </p:spPr>
      </p:sp>
      <p:sp>
        <p:nvSpPr>
          <p:cNvPr id="4" name="Shape 2"/>
          <p:cNvSpPr/>
          <p:nvPr/>
        </p:nvSpPr>
        <p:spPr>
          <a:xfrm>
            <a:off x="9235440" y="1005840"/>
            <a:ext cx="2743200" cy="731520"/>
          </a:xfrm>
          <a:prstGeom prst="roundRect">
            <a:avLst>
              <a:gd name="adj" fmla="val 6250"/>
            </a:avLst>
          </a:prstGeom>
          <a:solidFill>
            <a:srgbClr val="06B6D4">
              <a:alpha val="20000"/>
            </a:srgbClr>
          </a:solidFill>
          <a:ln w="12700">
            <a:solidFill>
              <a:srgbClr val="06B6D4"/>
            </a:solidFill>
            <a:prstDash val="solid"/>
          </a:ln>
        </p:spPr>
      </p:sp>
      <p:sp>
        <p:nvSpPr>
          <p:cNvPr id="5" name="Shape 3"/>
          <p:cNvSpPr/>
          <p:nvPr/>
        </p:nvSpPr>
        <p:spPr>
          <a:xfrm>
            <a:off x="9509760" y="1280160"/>
            <a:ext cx="2743200" cy="731520"/>
          </a:xfrm>
          <a:prstGeom prst="roundRect">
            <a:avLst>
              <a:gd name="adj" fmla="val 6250"/>
            </a:avLst>
          </a:prstGeom>
          <a:solidFill>
            <a:srgbClr val="06B6D4">
              <a:alpha val="15000"/>
            </a:srgbClr>
          </a:solidFill>
          <a:ln w="12700">
            <a:solidFill>
              <a:srgbClr val="06B6D4"/>
            </a:solidFill>
            <a:prstDash val="solid"/>
          </a:ln>
        </p:spPr>
      </p:sp>
      <p:sp>
        <p:nvSpPr>
          <p:cNvPr id="6" name="Text 4"/>
          <p:cNvSpPr/>
          <p:nvPr/>
        </p:nvSpPr>
        <p:spPr>
          <a:xfrm>
            <a:off x="640080" y="640080"/>
            <a:ext cx="10972800" cy="365760"/>
          </a:xfrm>
          <a:prstGeom prst="rect">
            <a:avLst/>
          </a:prstGeom>
          <a:noFill/>
          <a:ln/>
        </p:spPr>
        <p:txBody>
          <a:bodyPr wrap="square" rtlCol="0" anchor="ctr"/>
          <a:lstStyle/>
          <a:p>
            <a:pPr indent="0" marL="0">
              <a:buNone/>
            </a:pPr>
            <a:r>
              <a:rPr lang="en-US" sz="1200" b="1" spc="400" kern="0" dirty="0">
                <a:solidFill>
                  <a:srgbClr val="06B6D4"/>
                </a:solidFill>
                <a:latin typeface="Calibri" pitchFamily="34" charset="0"/>
                <a:ea typeface="Calibri" pitchFamily="34" charset="-122"/>
                <a:cs typeface="Calibri" pitchFamily="34" charset="-120"/>
              </a:rPr>
              <a:t>BACHELOR'S THESIS DEFENSE  ·  09.03.01 Computer Science</a:t>
            </a:r>
            <a:endParaRPr lang="en-US" sz="1200" dirty="0"/>
          </a:p>
        </p:txBody>
      </p:sp>
      <p:sp>
        <p:nvSpPr>
          <p:cNvPr id="7" name="Text 5"/>
          <p:cNvSpPr/>
          <p:nvPr/>
        </p:nvSpPr>
        <p:spPr>
          <a:xfrm>
            <a:off x="640080" y="2011680"/>
            <a:ext cx="10972800"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Bridging the Enforcement</a:t>
            </a:r>
            <a:endParaRPr lang="en-US" sz="4800" dirty="0"/>
          </a:p>
        </p:txBody>
      </p:sp>
      <p:sp>
        <p:nvSpPr>
          <p:cNvPr id="8" name="Text 6"/>
          <p:cNvSpPr/>
          <p:nvPr/>
        </p:nvSpPr>
        <p:spPr>
          <a:xfrm>
            <a:off x="640080" y="2743200"/>
            <a:ext cx="10972800" cy="822960"/>
          </a:xfrm>
          <a:prstGeom prst="rect">
            <a:avLst/>
          </a:prstGeom>
          <a:noFill/>
          <a:ln/>
        </p:spPr>
        <p:txBody>
          <a:bodyPr wrap="square" lIns="0" tIns="0" rIns="0" bIns="0" rtlCol="0" anchor="ctr"/>
          <a:lstStyle/>
          <a:p>
            <a:pPr indent="0" marL="0">
              <a:buNone/>
            </a:pPr>
            <a:r>
              <a:rPr lang="en-US" sz="4800" b="1" dirty="0">
                <a:solidFill>
                  <a:srgbClr val="06B6D4"/>
                </a:solidFill>
                <a:latin typeface="Calibri" pitchFamily="34" charset="0"/>
                <a:ea typeface="Calibri" pitchFamily="34" charset="-122"/>
                <a:cs typeface="Calibri" pitchFamily="34" charset="-120"/>
              </a:rPr>
              <a:t>Verification Gap</a:t>
            </a:r>
            <a:endParaRPr lang="en-US" sz="4800" dirty="0"/>
          </a:p>
        </p:txBody>
      </p:sp>
      <p:sp>
        <p:nvSpPr>
          <p:cNvPr id="9" name="Text 7"/>
          <p:cNvSpPr/>
          <p:nvPr/>
        </p:nvSpPr>
        <p:spPr>
          <a:xfrm>
            <a:off x="640080" y="3749040"/>
            <a:ext cx="10058400" cy="822960"/>
          </a:xfrm>
          <a:prstGeom prst="rect">
            <a:avLst/>
          </a:prstGeom>
          <a:noFill/>
          <a:ln/>
        </p:spPr>
        <p:txBody>
          <a:bodyPr wrap="square" lIns="0" tIns="0" rIns="0" bIns="0" rtlCol="0" anchor="ctr"/>
          <a:lstStyle/>
          <a:p>
            <a:pPr indent="0" marL="0">
              <a:buNone/>
            </a:pPr>
            <a:r>
              <a:rPr lang="en-US" sz="1800" dirty="0">
                <a:solidFill>
                  <a:srgbClr val="CBD5E1"/>
                </a:solidFill>
                <a:latin typeface="Calibri" pitchFamily="34" charset="0"/>
                <a:ea typeface="Calibri" pitchFamily="34" charset="-122"/>
                <a:cs typeface="Calibri" pitchFamily="34" charset="-120"/>
              </a:rPr>
              <a:t>Detecting divergence between declared and actual security posture</a:t>
            </a:r>
            <a:endParaRPr lang="en-US" sz="1800" dirty="0"/>
          </a:p>
          <a:p>
            <a:pPr indent="0" marL="0">
              <a:buNone/>
            </a:pPr>
            <a:r>
              <a:rPr lang="en-US" sz="1800" dirty="0">
                <a:solidFill>
                  <a:srgbClr val="CBD5E1"/>
                </a:solidFill>
                <a:latin typeface="Calibri" pitchFamily="34" charset="0"/>
                <a:ea typeface="Calibri" pitchFamily="34" charset="-122"/>
                <a:cs typeface="Calibri" pitchFamily="34" charset="-120"/>
              </a:rPr>
              <a:t>in Kubernetes containerized environments</a:t>
            </a:r>
            <a:endParaRPr lang="en-US" sz="1800" dirty="0"/>
          </a:p>
        </p:txBody>
      </p:sp>
      <p:sp>
        <p:nvSpPr>
          <p:cNvPr id="10" name="Shape 8"/>
          <p:cNvSpPr/>
          <p:nvPr/>
        </p:nvSpPr>
        <p:spPr>
          <a:xfrm>
            <a:off x="640080" y="5303520"/>
            <a:ext cx="5486400" cy="45720"/>
          </a:xfrm>
          <a:prstGeom prst="rect">
            <a:avLst/>
          </a:prstGeom>
          <a:solidFill>
            <a:srgbClr val="06B6D4"/>
          </a:solidFill>
          <a:ln w="12700">
            <a:solidFill>
              <a:srgbClr val="06B6D4"/>
            </a:solidFill>
            <a:prstDash val="solid"/>
          </a:ln>
        </p:spPr>
      </p:sp>
      <p:sp>
        <p:nvSpPr>
          <p:cNvPr id="11" name="Text 9"/>
          <p:cNvSpPr/>
          <p:nvPr/>
        </p:nvSpPr>
        <p:spPr>
          <a:xfrm>
            <a:off x="640080" y="5440680"/>
            <a:ext cx="5486400" cy="10972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Yehia Sobeh</a:t>
            </a:r>
            <a:endParaRPr lang="en-US" sz="1800" dirty="0"/>
          </a:p>
          <a:p>
            <a:pPr indent="0" marL="0">
              <a:buNone/>
            </a:pPr>
            <a:r>
              <a:rPr lang="en-US" sz="1100" dirty="0">
                <a:solidFill>
                  <a:srgbClr val="64748B"/>
                </a:solidFill>
                <a:latin typeface="Calibri" pitchFamily="34" charset="0"/>
                <a:ea typeface="Calibri" pitchFamily="34" charset="-122"/>
                <a:cs typeface="Calibri" pitchFamily="34" charset="-120"/>
              </a:rPr>
              <a:t>Author</a:t>
            </a:r>
            <a:endParaRPr lang="en-US" sz="18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800" dirty="0"/>
          </a:p>
          <a:p>
            <a:pPr indent="0" marL="0">
              <a:buNone/>
            </a:pPr>
            <a:r>
              <a:rPr lang="en-US" sz="1400" b="1" dirty="0">
                <a:solidFill>
                  <a:srgbClr val="FFFFFF"/>
                </a:solidFill>
                <a:latin typeface="Calibri" pitchFamily="34" charset="0"/>
                <a:ea typeface="Calibri" pitchFamily="34" charset="-122"/>
                <a:cs typeface="Calibri" pitchFamily="34" charset="-120"/>
              </a:rPr>
              <a:t>Kirill Saltanov</a:t>
            </a:r>
            <a:endParaRPr lang="en-US" sz="1800" dirty="0"/>
          </a:p>
          <a:p>
            <a:pPr indent="0" marL="0">
              <a:buNone/>
            </a:pPr>
            <a:r>
              <a:rPr lang="en-US" sz="1100" dirty="0">
                <a:solidFill>
                  <a:srgbClr val="64748B"/>
                </a:solidFill>
                <a:latin typeface="Calibri" pitchFamily="34" charset="0"/>
                <a:ea typeface="Calibri" pitchFamily="34" charset="-122"/>
                <a:cs typeface="Calibri" pitchFamily="34" charset="-120"/>
              </a:rPr>
              <a:t>Supervisor</a:t>
            </a:r>
            <a:endParaRPr lang="en-US" sz="1800" dirty="0"/>
          </a:p>
        </p:txBody>
      </p:sp>
      <p:sp>
        <p:nvSpPr>
          <p:cNvPr id="12" name="Text 10"/>
          <p:cNvSpPr/>
          <p:nvPr/>
        </p:nvSpPr>
        <p:spPr>
          <a:xfrm>
            <a:off x="8503920" y="6126480"/>
            <a:ext cx="3200400" cy="365760"/>
          </a:xfrm>
          <a:prstGeom prst="rect">
            <a:avLst/>
          </a:prstGeom>
          <a:noFill/>
          <a:ln/>
        </p:spPr>
        <p:txBody>
          <a:bodyPr wrap="square" rtlCol="0" anchor="ctr"/>
          <a:lstStyle/>
          <a:p>
            <a:pPr algn="r" indent="0" marL="0">
              <a:buNone/>
            </a:pPr>
            <a:r>
              <a:rPr lang="en-US" sz="1200" i="1" dirty="0">
                <a:solidFill>
                  <a:srgbClr val="64748B"/>
                </a:solidFill>
                <a:latin typeface="Calibri" pitchFamily="34" charset="0"/>
                <a:ea typeface="Calibri" pitchFamily="34" charset="-122"/>
                <a:cs typeface="Calibri" pitchFamily="34" charset="-120"/>
              </a:rPr>
              <a:t>Innopolis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548640"/>
            <a:ext cx="10972800" cy="320040"/>
          </a:xfrm>
          <a:prstGeom prst="rect">
            <a:avLst/>
          </a:prstGeom>
          <a:noFill/>
          <a:ln/>
        </p:spPr>
        <p:txBody>
          <a:bodyPr wrap="square" rtlCol="0" anchor="ctr"/>
          <a:lstStyle/>
          <a:p>
            <a:pPr indent="0" marL="0">
              <a:buNone/>
            </a:pPr>
            <a:r>
              <a:rPr lang="en-US" sz="1200" b="1" spc="400" kern="0" dirty="0">
                <a:solidFill>
                  <a:srgbClr val="06B6D4"/>
                </a:solidFill>
                <a:latin typeface="Calibri" pitchFamily="34" charset="0"/>
                <a:ea typeface="Calibri" pitchFamily="34" charset="-122"/>
                <a:cs typeface="Calibri" pitchFamily="34" charset="-120"/>
              </a:rPr>
              <a:t>THE CENTRAL QUESTION</a:t>
            </a:r>
            <a:endParaRPr lang="en-US" sz="1200" dirty="0"/>
          </a:p>
        </p:txBody>
      </p:sp>
      <p:sp>
        <p:nvSpPr>
          <p:cNvPr id="3" name="Text 1"/>
          <p:cNvSpPr/>
          <p:nvPr/>
        </p:nvSpPr>
        <p:spPr>
          <a:xfrm>
            <a:off x="640080" y="1005840"/>
            <a:ext cx="10972800" cy="640080"/>
          </a:xfrm>
          <a:prstGeom prst="rect">
            <a:avLst/>
          </a:prstGeom>
          <a:noFill/>
          <a:ln/>
        </p:spPr>
        <p:txBody>
          <a:bodyPr wrap="square" lIns="0" tIns="0" rIns="0" bIns="0" rtlCol="0" anchor="ctr"/>
          <a:lstStyle/>
          <a:p>
            <a:pPr indent="0" marL="0">
              <a:buNone/>
            </a:pPr>
            <a:r>
              <a:rPr lang="en-US" sz="3200" b="1" dirty="0">
                <a:solidFill>
                  <a:srgbClr val="0F172A"/>
                </a:solidFill>
                <a:latin typeface="Calibri" pitchFamily="34" charset="0"/>
                <a:ea typeface="Calibri" pitchFamily="34" charset="-122"/>
                <a:cs typeface="Calibri" pitchFamily="34" charset="-120"/>
              </a:rPr>
              <a:t>Does your container actually enforce</a:t>
            </a:r>
            <a:endParaRPr lang="en-US" sz="3200" dirty="0"/>
          </a:p>
        </p:txBody>
      </p:sp>
      <p:sp>
        <p:nvSpPr>
          <p:cNvPr id="4" name="Text 2"/>
          <p:cNvSpPr/>
          <p:nvPr/>
        </p:nvSpPr>
        <p:spPr>
          <a:xfrm>
            <a:off x="640080" y="1645920"/>
            <a:ext cx="10972800" cy="640080"/>
          </a:xfrm>
          <a:prstGeom prst="rect">
            <a:avLst/>
          </a:prstGeom>
          <a:noFill/>
          <a:ln/>
        </p:spPr>
        <p:txBody>
          <a:bodyPr wrap="square" lIns="0" tIns="0" rIns="0" bIns="0" rtlCol="0" anchor="ctr"/>
          <a:lstStyle/>
          <a:p>
            <a:pPr indent="0" marL="0">
              <a:buNone/>
            </a:pPr>
            <a:r>
              <a:rPr lang="en-US" sz="3200" b="1" dirty="0">
                <a:solidFill>
                  <a:srgbClr val="DC2626"/>
                </a:solidFill>
                <a:latin typeface="Calibri" pitchFamily="34" charset="0"/>
                <a:ea typeface="Calibri" pitchFamily="34" charset="-122"/>
                <a:cs typeface="Calibri" pitchFamily="34" charset="-120"/>
              </a:rPr>
              <a:t>what your YAML says it does?</a:t>
            </a:r>
            <a:endParaRPr lang="en-US" sz="3200" dirty="0"/>
          </a:p>
        </p:txBody>
      </p:sp>
      <p:sp>
        <p:nvSpPr>
          <p:cNvPr id="5" name="Shape 3"/>
          <p:cNvSpPr/>
          <p:nvPr/>
        </p:nvSpPr>
        <p:spPr>
          <a:xfrm>
            <a:off x="640080" y="2651760"/>
            <a:ext cx="4937760" cy="3200400"/>
          </a:xfrm>
          <a:prstGeom prst="roundRect">
            <a:avLst>
              <a:gd name="adj" fmla="val 2286"/>
            </a:avLst>
          </a:prstGeom>
          <a:solidFill>
            <a:srgbClr val="FFFFFF"/>
          </a:solidFill>
          <a:ln w="6350">
            <a:solidFill>
              <a:srgbClr val="E2E8F0"/>
            </a:solidFill>
            <a:prstDash val="solid"/>
          </a:ln>
          <a:effectLst>
            <a:outerShdw sx="100000" sy="100000" kx="0" ky="0" algn="bl" rotWithShape="0" blurRad="101600" dist="25400" dir="5400000">
              <a:srgbClr val="000000">
                <a:alpha val="6000"/>
              </a:srgbClr>
            </a:outerShdw>
          </a:effectLst>
        </p:spPr>
      </p:sp>
      <p:sp>
        <p:nvSpPr>
          <p:cNvPr id="6" name="Text 4"/>
          <p:cNvSpPr/>
          <p:nvPr/>
        </p:nvSpPr>
        <p:spPr>
          <a:xfrm>
            <a:off x="868680" y="2788920"/>
            <a:ext cx="4572000" cy="274320"/>
          </a:xfrm>
          <a:prstGeom prst="rect">
            <a:avLst/>
          </a:prstGeom>
          <a:noFill/>
          <a:ln/>
        </p:spPr>
        <p:txBody>
          <a:bodyPr wrap="square" rtlCol="0" anchor="ctr"/>
          <a:lstStyle/>
          <a:p>
            <a:pPr indent="0" marL="0">
              <a:buNone/>
            </a:pPr>
            <a:r>
              <a:rPr lang="en-US" sz="1100" b="1" spc="200" kern="0" dirty="0">
                <a:solidFill>
                  <a:srgbClr val="06B6D4"/>
                </a:solidFill>
                <a:latin typeface="Calibri" pitchFamily="34" charset="0"/>
                <a:ea typeface="Calibri" pitchFamily="34" charset="-122"/>
                <a:cs typeface="Calibri" pitchFamily="34" charset="-120"/>
              </a:rPr>
              <a:t>WHAT YOU DECLARE</a:t>
            </a:r>
            <a:endParaRPr lang="en-US" sz="1100" dirty="0"/>
          </a:p>
        </p:txBody>
      </p:sp>
      <p:sp>
        <p:nvSpPr>
          <p:cNvPr id="7" name="Text 5"/>
          <p:cNvSpPr/>
          <p:nvPr/>
        </p:nvSpPr>
        <p:spPr>
          <a:xfrm>
            <a:off x="868680" y="3200400"/>
            <a:ext cx="4572000" cy="2468880"/>
          </a:xfrm>
          <a:prstGeom prst="rect">
            <a:avLst/>
          </a:prstGeom>
          <a:noFill/>
          <a:ln/>
        </p:spPr>
        <p:txBody>
          <a:bodyPr wrap="square" lIns="0" tIns="0" rIns="0" bIns="0" rtlCol="0" anchor="t"/>
          <a:lstStyle/>
          <a:p>
            <a:pPr indent="0" marL="0">
              <a:buNone/>
            </a:pPr>
            <a:r>
              <a:rPr lang="en-US" sz="1600" dirty="0">
                <a:solidFill>
                  <a:srgbClr val="334155"/>
                </a:solidFill>
                <a:latin typeface="Consolas" pitchFamily="34" charset="0"/>
                <a:ea typeface="Consolas" pitchFamily="34" charset="-122"/>
                <a:cs typeface="Consolas" pitchFamily="34" charset="-120"/>
              </a:rPr>
              <a:t>securityContext:
</a:t>
            </a:r>
            <a:pPr indent="0" marL="0">
              <a:buNone/>
            </a:pPr>
            <a:r>
              <a:rPr lang="en-US" sz="1600" b="1" dirty="0">
                <a:solidFill>
                  <a:srgbClr val="DC2626"/>
                </a:solidFill>
                <a:latin typeface="Consolas" pitchFamily="34" charset="0"/>
                <a:ea typeface="Consolas" pitchFamily="34" charset="-122"/>
                <a:cs typeface="Consolas" pitchFamily="34" charset="-120"/>
              </a:rPr>
              <a:t>  privileged: true
</a:t>
            </a:r>
            <a:pPr indent="0" marL="0">
              <a:buNone/>
            </a:pPr>
            <a:r>
              <a:rPr lang="en-US" sz="1600" dirty="0">
                <a:solidFill>
                  <a:srgbClr val="334155"/>
                </a:solidFill>
                <a:latin typeface="Consolas" pitchFamily="34" charset="0"/>
                <a:ea typeface="Consolas" pitchFamily="34" charset="-122"/>
                <a:cs typeface="Consolas" pitchFamily="34" charset="-120"/>
              </a:rPr>
              <a:t>  seccompProfile:
</a:t>
            </a:r>
            <a:pPr indent="0" marL="0">
              <a:buNone/>
            </a:pPr>
            <a:r>
              <a:rPr lang="en-US" sz="1600" dirty="0">
                <a:solidFill>
                  <a:srgbClr val="334155"/>
                </a:solidFill>
                <a:latin typeface="Consolas" pitchFamily="34" charset="0"/>
                <a:ea typeface="Consolas" pitchFamily="34" charset="-122"/>
                <a:cs typeface="Consolas" pitchFamily="34" charset="-120"/>
              </a:rPr>
              <a:t>    type: </a:t>
            </a:r>
            <a:pPr indent="0" marL="0">
              <a:buNone/>
            </a:pPr>
            <a:r>
              <a:rPr lang="en-US" sz="1600" b="1" dirty="0">
                <a:solidFill>
                  <a:srgbClr val="059669"/>
                </a:solidFill>
                <a:latin typeface="Consolas" pitchFamily="34" charset="0"/>
                <a:ea typeface="Consolas" pitchFamily="34" charset="-122"/>
                <a:cs typeface="Consolas" pitchFamily="34" charset="-120"/>
              </a:rPr>
              <a:t>RuntimeDefault</a:t>
            </a:r>
            <a:endParaRPr lang="en-US" sz="1600" dirty="0"/>
          </a:p>
        </p:txBody>
      </p:sp>
      <p:sp>
        <p:nvSpPr>
          <p:cNvPr id="8" name="Shape 6"/>
          <p:cNvSpPr/>
          <p:nvPr/>
        </p:nvSpPr>
        <p:spPr>
          <a:xfrm>
            <a:off x="5669280" y="3931920"/>
            <a:ext cx="822960" cy="548640"/>
          </a:xfrm>
          <a:prstGeom prst="rightArrow">
            <a:avLst/>
          </a:prstGeom>
          <a:solidFill>
            <a:srgbClr val="64748B"/>
          </a:solidFill>
          <a:ln w="12700">
            <a:solidFill>
              <a:srgbClr val="64748B"/>
            </a:solidFill>
            <a:prstDash val="solid"/>
          </a:ln>
        </p:spPr>
      </p:sp>
      <p:sp>
        <p:nvSpPr>
          <p:cNvPr id="9" name="Text 7"/>
          <p:cNvSpPr/>
          <p:nvPr/>
        </p:nvSpPr>
        <p:spPr>
          <a:xfrm>
            <a:off x="5760720" y="3291840"/>
            <a:ext cx="731520" cy="457200"/>
          </a:xfrm>
          <a:prstGeom prst="rect">
            <a:avLst/>
          </a:prstGeom>
          <a:noFill/>
          <a:ln/>
        </p:spPr>
        <p:txBody>
          <a:bodyPr wrap="square" rtlCol="0" anchor="ctr"/>
          <a:lstStyle/>
          <a:p>
            <a:pPr algn="ctr" indent="0" marL="0">
              <a:buNone/>
            </a:pPr>
            <a:r>
              <a:rPr lang="en-US" sz="3600" b="1" dirty="0">
                <a:solidFill>
                  <a:srgbClr val="DC2626"/>
                </a:solidFill>
                <a:latin typeface="Calibri" pitchFamily="34" charset="0"/>
                <a:ea typeface="Calibri" pitchFamily="34" charset="-122"/>
                <a:cs typeface="Calibri" pitchFamily="34" charset="-120"/>
              </a:rPr>
              <a:t>?</a:t>
            </a:r>
            <a:endParaRPr lang="en-US" sz="3600" dirty="0"/>
          </a:p>
        </p:txBody>
      </p:sp>
      <p:sp>
        <p:nvSpPr>
          <p:cNvPr id="10" name="Shape 8"/>
          <p:cNvSpPr/>
          <p:nvPr/>
        </p:nvSpPr>
        <p:spPr>
          <a:xfrm>
            <a:off x="6583680" y="2651760"/>
            <a:ext cx="4937760" cy="3200400"/>
          </a:xfrm>
          <a:prstGeom prst="roundRect">
            <a:avLst>
              <a:gd name="adj" fmla="val 2286"/>
            </a:avLst>
          </a:prstGeom>
          <a:solidFill>
            <a:srgbClr val="FFFFFF"/>
          </a:solidFill>
          <a:ln w="6350">
            <a:solidFill>
              <a:srgbClr val="E2E8F0"/>
            </a:solidFill>
            <a:prstDash val="solid"/>
          </a:ln>
          <a:effectLst>
            <a:outerShdw sx="100000" sy="100000" kx="0" ky="0" algn="bl" rotWithShape="0" blurRad="101600" dist="25400" dir="5400000">
              <a:srgbClr val="000000">
                <a:alpha val="6000"/>
              </a:srgbClr>
            </a:outerShdw>
          </a:effectLst>
        </p:spPr>
      </p:sp>
      <p:sp>
        <p:nvSpPr>
          <p:cNvPr id="11" name="Text 9"/>
          <p:cNvSpPr/>
          <p:nvPr/>
        </p:nvSpPr>
        <p:spPr>
          <a:xfrm>
            <a:off x="6812280" y="2788920"/>
            <a:ext cx="4572000" cy="274320"/>
          </a:xfrm>
          <a:prstGeom prst="rect">
            <a:avLst/>
          </a:prstGeom>
          <a:noFill/>
          <a:ln/>
        </p:spPr>
        <p:txBody>
          <a:bodyPr wrap="square" rtlCol="0" anchor="ctr"/>
          <a:lstStyle/>
          <a:p>
            <a:pPr indent="0" marL="0">
              <a:buNone/>
            </a:pPr>
            <a:r>
              <a:rPr lang="en-US" sz="1100" b="1" spc="200" kern="0" dirty="0">
                <a:solidFill>
                  <a:srgbClr val="06B6D4"/>
                </a:solidFill>
                <a:latin typeface="Calibri" pitchFamily="34" charset="0"/>
                <a:ea typeface="Calibri" pitchFamily="34" charset="-122"/>
                <a:cs typeface="Calibri" pitchFamily="34" charset="-120"/>
              </a:rPr>
              <a:t>WHAT THE KERNEL ENFORCES</a:t>
            </a:r>
            <a:endParaRPr lang="en-US" sz="1100" dirty="0"/>
          </a:p>
        </p:txBody>
      </p:sp>
      <p:sp>
        <p:nvSpPr>
          <p:cNvPr id="12" name="Text 10"/>
          <p:cNvSpPr/>
          <p:nvPr/>
        </p:nvSpPr>
        <p:spPr>
          <a:xfrm>
            <a:off x="6812280" y="3200400"/>
            <a:ext cx="4572000" cy="2468880"/>
          </a:xfrm>
          <a:prstGeom prst="rect">
            <a:avLst/>
          </a:prstGeom>
          <a:noFill/>
          <a:ln/>
        </p:spPr>
        <p:txBody>
          <a:bodyPr wrap="square" lIns="0" tIns="0" rIns="0" bIns="0" rtlCol="0" anchor="t"/>
          <a:lstStyle/>
          <a:p>
            <a:pPr indent="0" marL="0">
              <a:buNone/>
            </a:pPr>
            <a:r>
              <a:rPr lang="en-US" sz="1600" dirty="0">
                <a:solidFill>
                  <a:srgbClr val="334155"/>
                </a:solidFill>
                <a:latin typeface="Consolas" pitchFamily="34" charset="0"/>
                <a:ea typeface="Consolas" pitchFamily="34" charset="-122"/>
                <a:cs typeface="Consolas" pitchFamily="34" charset="-120"/>
              </a:rPr>
              <a:t>Capabilities: </a:t>
            </a:r>
            <a:pPr indent="0" marL="0">
              <a:buNone/>
            </a:pPr>
            <a:r>
              <a:rPr lang="en-US" sz="1600" b="1" dirty="0">
                <a:solidFill>
                  <a:srgbClr val="DC2626"/>
                </a:solidFill>
                <a:latin typeface="Consolas" pitchFamily="34" charset="0"/>
                <a:ea typeface="Consolas" pitchFamily="34" charset="-122"/>
                <a:cs typeface="Consolas" pitchFamily="34" charset="-120"/>
              </a:rPr>
              <a:t>all 41 granted
</a:t>
            </a:r>
            <a:pPr indent="0" marL="0">
              <a:buNone/>
            </a:pPr>
            <a:r>
              <a:rPr lang="en-US" sz="1600" dirty="0">
                <a:solidFill>
                  <a:srgbClr val="334155"/>
                </a:solidFill>
                <a:latin typeface="Consolas" pitchFamily="34" charset="0"/>
                <a:ea typeface="Consolas" pitchFamily="34" charset="-122"/>
                <a:cs typeface="Consolas" pitchFamily="34" charset="-120"/>
              </a:rPr>
              <a:t>Seccomp:      </a:t>
            </a:r>
            <a:pPr indent="0" marL="0">
              <a:buNone/>
            </a:pPr>
            <a:r>
              <a:rPr lang="en-US" sz="1600" b="1" dirty="0">
                <a:solidFill>
                  <a:srgbClr val="DC2626"/>
                </a:solidFill>
                <a:latin typeface="Consolas" pitchFamily="34" charset="0"/>
                <a:ea typeface="Consolas" pitchFamily="34" charset="-122"/>
                <a:cs typeface="Consolas" pitchFamily="34" charset="-120"/>
              </a:rPr>
              <a:t>stripped
</a:t>
            </a:r>
            <a:pPr indent="0" marL="0">
              <a:buNone/>
            </a:pPr>
            <a:r>
              <a:rPr lang="en-US" sz="1600" dirty="0">
                <a:solidFill>
                  <a:srgbClr val="334155"/>
                </a:solidFill>
                <a:latin typeface="Consolas" pitchFamily="34" charset="0"/>
                <a:ea typeface="Consolas" pitchFamily="34" charset="-122"/>
                <a:cs typeface="Consolas" pitchFamily="34" charset="-120"/>
              </a:rPr>
              <a:t>MaskedPaths:  </a:t>
            </a:r>
            <a:pPr indent="0" marL="0">
              <a:buNone/>
            </a:pPr>
            <a:r>
              <a:rPr lang="en-US" sz="1600" b="1" dirty="0">
                <a:solidFill>
                  <a:srgbClr val="DC2626"/>
                </a:solidFill>
                <a:latin typeface="Consolas" pitchFamily="34" charset="0"/>
                <a:ea typeface="Consolas" pitchFamily="34" charset="-122"/>
                <a:cs typeface="Consolas" pitchFamily="34" charset="-120"/>
              </a:rPr>
              <a:t>none
</a:t>
            </a:r>
            <a:pPr indent="0" marL="0">
              <a:buNone/>
            </a:pPr>
            <a:r>
              <a:rPr lang="en-US" sz="1600" dirty="0">
                <a:solidFill>
                  <a:srgbClr val="334155"/>
                </a:solidFill>
                <a:latin typeface="Consolas" pitchFamily="34" charset="0"/>
                <a:ea typeface="Consolas" pitchFamily="34" charset="-122"/>
                <a:cs typeface="Consolas" pitchFamily="34" charset="-120"/>
              </a:rPr>
              <a:t>noNewPrivs:   </a:t>
            </a:r>
            <a:pPr indent="0" marL="0">
              <a:buNone/>
            </a:pPr>
            <a:r>
              <a:rPr lang="en-US" sz="1600" b="1" dirty="0">
                <a:solidFill>
                  <a:srgbClr val="DC2626"/>
                </a:solidFill>
                <a:latin typeface="Consolas" pitchFamily="34" charset="0"/>
                <a:ea typeface="Consolas" pitchFamily="34" charset="-122"/>
                <a:cs typeface="Consolas" pitchFamily="34" charset="-120"/>
              </a:rPr>
              <a:t>false</a:t>
            </a:r>
            <a:endParaRPr lang="en-US" sz="1600" dirty="0"/>
          </a:p>
        </p:txBody>
      </p:sp>
      <p:sp>
        <p:nvSpPr>
          <p:cNvPr id="13" name="Text 11"/>
          <p:cNvSpPr/>
          <p:nvPr/>
        </p:nvSpPr>
        <p:spPr>
          <a:xfrm>
            <a:off x="640080" y="5989320"/>
            <a:ext cx="10972800" cy="365760"/>
          </a:xfrm>
          <a:prstGeom prst="rect">
            <a:avLst/>
          </a:prstGeom>
          <a:noFill/>
          <a:ln/>
        </p:spPr>
        <p:txBody>
          <a:bodyPr wrap="square" rtlCol="0" anchor="ctr"/>
          <a:lstStyle/>
          <a:p>
            <a:pPr algn="ctr" indent="0" marL="0">
              <a:buNone/>
            </a:pPr>
            <a:r>
              <a:rPr lang="en-US" sz="1500" i="1" dirty="0">
                <a:solidFill>
                  <a:srgbClr val="334155"/>
                </a:solidFill>
                <a:latin typeface="Calibri" pitchFamily="34" charset="0"/>
                <a:ea typeface="Calibri" pitchFamily="34" charset="-122"/>
                <a:cs typeface="Calibri" pitchFamily="34" charset="-120"/>
              </a:rPr>
              <a:t>Sometimes the answer is: no. This thesis is about how to detect that.</a:t>
            </a:r>
            <a:endParaRPr lang="en-US" sz="1500" dirty="0"/>
          </a:p>
        </p:txBody>
      </p:sp>
      <p:sp>
        <p:nvSpPr>
          <p:cNvPr id="14" name="Text 12"/>
          <p:cNvSpPr/>
          <p:nvPr/>
        </p:nvSpPr>
        <p:spPr>
          <a:xfrm>
            <a:off x="457200" y="6492240"/>
            <a:ext cx="5486400" cy="27432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Yehia Sobeh  ·  Innopolis University 2026</a:t>
            </a:r>
            <a:endParaRPr lang="en-US" sz="1000" dirty="0"/>
          </a:p>
        </p:txBody>
      </p:sp>
      <p:sp>
        <p:nvSpPr>
          <p:cNvPr id="15" name="Text 13"/>
          <p:cNvSpPr/>
          <p:nvPr/>
        </p:nvSpPr>
        <p:spPr>
          <a:xfrm>
            <a:off x="10789920" y="6492240"/>
            <a:ext cx="9144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 / 14</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57200"/>
            <a:ext cx="10972800" cy="274320"/>
          </a:xfrm>
          <a:prstGeom prst="rect">
            <a:avLst/>
          </a:prstGeom>
          <a:noFill/>
          <a:ln/>
        </p:spPr>
        <p:txBody>
          <a:bodyPr wrap="square" rtlCol="0" anchor="ctr"/>
          <a:lstStyle/>
          <a:p>
            <a:pPr indent="0" marL="0">
              <a:buNone/>
            </a:pPr>
            <a:r>
              <a:rPr lang="en-US" sz="1100" b="1" spc="400" kern="0" dirty="0">
                <a:solidFill>
                  <a:srgbClr val="06B6D4"/>
                </a:solidFill>
                <a:latin typeface="Calibri" pitchFamily="34" charset="0"/>
                <a:ea typeface="Calibri" pitchFamily="34" charset="-122"/>
                <a:cs typeface="Calibri" pitchFamily="34" charset="-120"/>
              </a:rPr>
              <a:t>BACKGROUND</a:t>
            </a:r>
            <a:endParaRPr lang="en-US" sz="1100" dirty="0"/>
          </a:p>
        </p:txBody>
      </p:sp>
      <p:sp>
        <p:nvSpPr>
          <p:cNvPr id="3" name="Text 1"/>
          <p:cNvSpPr/>
          <p:nvPr/>
        </p:nvSpPr>
        <p:spPr>
          <a:xfrm>
            <a:off x="640080" y="731520"/>
            <a:ext cx="10972800" cy="45720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Kubernetes security is declarative — and translated through four layers</a:t>
            </a:r>
            <a:endParaRPr lang="en-US" sz="2200" dirty="0"/>
          </a:p>
        </p:txBody>
      </p:sp>
      <p:sp>
        <p:nvSpPr>
          <p:cNvPr id="4" name="Shape 2"/>
          <p:cNvSpPr/>
          <p:nvPr/>
        </p:nvSpPr>
        <p:spPr>
          <a:xfrm>
            <a:off x="640080" y="1737360"/>
            <a:ext cx="2651760" cy="1371600"/>
          </a:xfrm>
          <a:prstGeom prst="roundRect">
            <a:avLst>
              <a:gd name="adj" fmla="val 5333"/>
            </a:avLst>
          </a:prstGeom>
          <a:solidFill>
            <a:srgbClr val="FFFFFF"/>
          </a:solidFill>
          <a:ln w="19050">
            <a:solidFill>
              <a:srgbClr val="0E7490"/>
            </a:solidFill>
            <a:prstDash val="solid"/>
          </a:ln>
          <a:effectLst>
            <a:outerShdw sx="100000" sy="100000" kx="0" ky="0" algn="bl" rotWithShape="0" blurRad="101600" dist="25400" dir="5400000">
              <a:srgbClr val="000000">
                <a:alpha val="8000"/>
              </a:srgbClr>
            </a:outerShdw>
          </a:effectLst>
        </p:spPr>
      </p:sp>
      <p:sp>
        <p:nvSpPr>
          <p:cNvPr id="5" name="Text 3"/>
          <p:cNvSpPr/>
          <p:nvPr/>
        </p:nvSpPr>
        <p:spPr>
          <a:xfrm>
            <a:off x="777240" y="1828800"/>
            <a:ext cx="457200" cy="365760"/>
          </a:xfrm>
          <a:prstGeom prst="rect">
            <a:avLst/>
          </a:prstGeom>
          <a:noFill/>
          <a:ln/>
        </p:spPr>
        <p:txBody>
          <a:bodyPr wrap="square" rtlCol="0" anchor="ctr"/>
          <a:lstStyle/>
          <a:p>
            <a:pPr indent="0" marL="0">
              <a:buNone/>
            </a:pPr>
            <a:r>
              <a:rPr lang="en-US" sz="1400" b="1" dirty="0">
                <a:solidFill>
                  <a:srgbClr val="0E7490"/>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77240" y="2148840"/>
            <a:ext cx="2377440" cy="41148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Kubernetes API</a:t>
            </a:r>
            <a:endParaRPr lang="en-US" sz="1500" dirty="0"/>
          </a:p>
        </p:txBody>
      </p:sp>
      <p:sp>
        <p:nvSpPr>
          <p:cNvPr id="7" name="Text 5"/>
          <p:cNvSpPr/>
          <p:nvPr/>
        </p:nvSpPr>
        <p:spPr>
          <a:xfrm>
            <a:off x="777240" y="2514600"/>
            <a:ext cx="2377440" cy="54864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Pod spec</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(securityContext)</a:t>
            </a:r>
            <a:endParaRPr lang="en-US" sz="1100" dirty="0"/>
          </a:p>
        </p:txBody>
      </p:sp>
      <p:sp>
        <p:nvSpPr>
          <p:cNvPr id="8" name="Shape 6"/>
          <p:cNvSpPr/>
          <p:nvPr/>
        </p:nvSpPr>
        <p:spPr>
          <a:xfrm>
            <a:off x="3291840" y="2331720"/>
            <a:ext cx="182880" cy="182880"/>
          </a:xfrm>
          <a:prstGeom prst="rightArrow">
            <a:avLst/>
          </a:prstGeom>
          <a:solidFill>
            <a:srgbClr val="64748B"/>
          </a:solidFill>
          <a:ln w="12700">
            <a:solidFill>
              <a:srgbClr val="64748B"/>
            </a:solidFill>
            <a:prstDash val="solid"/>
          </a:ln>
        </p:spPr>
      </p:sp>
      <p:sp>
        <p:nvSpPr>
          <p:cNvPr id="9" name="Shape 7"/>
          <p:cNvSpPr/>
          <p:nvPr/>
        </p:nvSpPr>
        <p:spPr>
          <a:xfrm>
            <a:off x="3474720" y="1737360"/>
            <a:ext cx="2651760" cy="1371600"/>
          </a:xfrm>
          <a:prstGeom prst="roundRect">
            <a:avLst>
              <a:gd name="adj" fmla="val 5333"/>
            </a:avLst>
          </a:prstGeom>
          <a:solidFill>
            <a:srgbClr val="FFFFFF"/>
          </a:solidFill>
          <a:ln w="19050">
            <a:solidFill>
              <a:srgbClr val="0E7490"/>
            </a:solidFill>
            <a:prstDash val="solid"/>
          </a:ln>
          <a:effectLst>
            <a:outerShdw sx="100000" sy="100000" kx="0" ky="0" algn="bl" rotWithShape="0" blurRad="101600" dist="25400" dir="5400000">
              <a:srgbClr val="000000">
                <a:alpha val="8000"/>
              </a:srgbClr>
            </a:outerShdw>
          </a:effectLst>
        </p:spPr>
      </p:sp>
      <p:sp>
        <p:nvSpPr>
          <p:cNvPr id="10" name="Text 8"/>
          <p:cNvSpPr/>
          <p:nvPr/>
        </p:nvSpPr>
        <p:spPr>
          <a:xfrm>
            <a:off x="3611880" y="1828800"/>
            <a:ext cx="457200" cy="365760"/>
          </a:xfrm>
          <a:prstGeom prst="rect">
            <a:avLst/>
          </a:prstGeom>
          <a:noFill/>
          <a:ln/>
        </p:spPr>
        <p:txBody>
          <a:bodyPr wrap="square" rtlCol="0" anchor="ctr"/>
          <a:lstStyle/>
          <a:p>
            <a:pPr indent="0" marL="0">
              <a:buNone/>
            </a:pPr>
            <a:r>
              <a:rPr lang="en-US" sz="1400" b="1" dirty="0">
                <a:solidFill>
                  <a:srgbClr val="0E7490"/>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3611880" y="2148840"/>
            <a:ext cx="2377440" cy="41148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Kubelet → CRI</a:t>
            </a:r>
            <a:endParaRPr lang="en-US" sz="1500" dirty="0"/>
          </a:p>
        </p:txBody>
      </p:sp>
      <p:sp>
        <p:nvSpPr>
          <p:cNvPr id="12" name="Text 10"/>
          <p:cNvSpPr/>
          <p:nvPr/>
        </p:nvSpPr>
        <p:spPr>
          <a:xfrm>
            <a:off x="3611880" y="2514600"/>
            <a:ext cx="2377440" cy="54864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Container Runtime</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Interface request</a:t>
            </a:r>
            <a:endParaRPr lang="en-US" sz="1100" dirty="0"/>
          </a:p>
        </p:txBody>
      </p:sp>
      <p:sp>
        <p:nvSpPr>
          <p:cNvPr id="13" name="Shape 11"/>
          <p:cNvSpPr/>
          <p:nvPr/>
        </p:nvSpPr>
        <p:spPr>
          <a:xfrm>
            <a:off x="6126480" y="2331720"/>
            <a:ext cx="182880" cy="182880"/>
          </a:xfrm>
          <a:prstGeom prst="rightArrow">
            <a:avLst/>
          </a:prstGeom>
          <a:solidFill>
            <a:srgbClr val="64748B"/>
          </a:solidFill>
          <a:ln w="12700">
            <a:solidFill>
              <a:srgbClr val="64748B"/>
            </a:solidFill>
            <a:prstDash val="solid"/>
          </a:ln>
        </p:spPr>
      </p:sp>
      <p:sp>
        <p:nvSpPr>
          <p:cNvPr id="14" name="Shape 12"/>
          <p:cNvSpPr/>
          <p:nvPr/>
        </p:nvSpPr>
        <p:spPr>
          <a:xfrm>
            <a:off x="6309360" y="1737360"/>
            <a:ext cx="2651760" cy="1371600"/>
          </a:xfrm>
          <a:prstGeom prst="roundRect">
            <a:avLst>
              <a:gd name="adj" fmla="val 5333"/>
            </a:avLst>
          </a:prstGeom>
          <a:solidFill>
            <a:srgbClr val="FFFFFF"/>
          </a:solidFill>
          <a:ln w="19050">
            <a:solidFill>
              <a:srgbClr val="D97706"/>
            </a:solidFill>
            <a:prstDash val="solid"/>
          </a:ln>
          <a:effectLst>
            <a:outerShdw sx="100000" sy="100000" kx="0" ky="0" algn="bl" rotWithShape="0" blurRad="101600" dist="25400" dir="5400000">
              <a:srgbClr val="000000">
                <a:alpha val="8000"/>
              </a:srgbClr>
            </a:outerShdw>
          </a:effectLst>
        </p:spPr>
      </p:sp>
      <p:sp>
        <p:nvSpPr>
          <p:cNvPr id="15" name="Text 13"/>
          <p:cNvSpPr/>
          <p:nvPr/>
        </p:nvSpPr>
        <p:spPr>
          <a:xfrm>
            <a:off x="6446520" y="1828800"/>
            <a:ext cx="457200" cy="365760"/>
          </a:xfrm>
          <a:prstGeom prst="rect">
            <a:avLst/>
          </a:prstGeom>
          <a:noFill/>
          <a:ln/>
        </p:spPr>
        <p:txBody>
          <a:bodyPr wrap="square" rtlCol="0" anchor="ctr"/>
          <a:lstStyle/>
          <a:p>
            <a:pPr indent="0" marL="0">
              <a:buNone/>
            </a:pPr>
            <a:r>
              <a:rPr lang="en-US" sz="1400" b="1" dirty="0">
                <a:solidFill>
                  <a:srgbClr val="D97706"/>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6446520" y="2148840"/>
            <a:ext cx="2377440" cy="41148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Container Runtime</a:t>
            </a:r>
            <a:endParaRPr lang="en-US" sz="1500" dirty="0"/>
          </a:p>
        </p:txBody>
      </p:sp>
      <p:sp>
        <p:nvSpPr>
          <p:cNvPr id="17" name="Text 15"/>
          <p:cNvSpPr/>
          <p:nvPr/>
        </p:nvSpPr>
        <p:spPr>
          <a:xfrm>
            <a:off x="6446520" y="2514600"/>
            <a:ext cx="2377440" cy="54864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Docker / containerd</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builds OCI spec</a:t>
            </a:r>
            <a:endParaRPr lang="en-US" sz="1100" dirty="0"/>
          </a:p>
        </p:txBody>
      </p:sp>
      <p:sp>
        <p:nvSpPr>
          <p:cNvPr id="18" name="Shape 16"/>
          <p:cNvSpPr/>
          <p:nvPr/>
        </p:nvSpPr>
        <p:spPr>
          <a:xfrm>
            <a:off x="8961120" y="2331720"/>
            <a:ext cx="182880" cy="182880"/>
          </a:xfrm>
          <a:prstGeom prst="rightArrow">
            <a:avLst/>
          </a:prstGeom>
          <a:solidFill>
            <a:srgbClr val="64748B"/>
          </a:solidFill>
          <a:ln w="12700">
            <a:solidFill>
              <a:srgbClr val="64748B"/>
            </a:solidFill>
            <a:prstDash val="solid"/>
          </a:ln>
        </p:spPr>
      </p:sp>
      <p:sp>
        <p:nvSpPr>
          <p:cNvPr id="19" name="Shape 17"/>
          <p:cNvSpPr/>
          <p:nvPr/>
        </p:nvSpPr>
        <p:spPr>
          <a:xfrm>
            <a:off x="9144000" y="1737360"/>
            <a:ext cx="2651760" cy="1371600"/>
          </a:xfrm>
          <a:prstGeom prst="roundRect">
            <a:avLst>
              <a:gd name="adj" fmla="val 5333"/>
            </a:avLst>
          </a:prstGeom>
          <a:solidFill>
            <a:srgbClr val="FFFFFF"/>
          </a:solidFill>
          <a:ln w="19050">
            <a:solidFill>
              <a:srgbClr val="059669"/>
            </a:solidFill>
            <a:prstDash val="solid"/>
          </a:ln>
          <a:effectLst>
            <a:outerShdw sx="100000" sy="100000" kx="0" ky="0" algn="bl" rotWithShape="0" blurRad="101600" dist="25400" dir="5400000">
              <a:srgbClr val="000000">
                <a:alpha val="8000"/>
              </a:srgbClr>
            </a:outerShdw>
          </a:effectLst>
        </p:spPr>
      </p:sp>
      <p:sp>
        <p:nvSpPr>
          <p:cNvPr id="20" name="Text 18"/>
          <p:cNvSpPr/>
          <p:nvPr/>
        </p:nvSpPr>
        <p:spPr>
          <a:xfrm>
            <a:off x="9281160" y="1828800"/>
            <a:ext cx="457200" cy="365760"/>
          </a:xfrm>
          <a:prstGeom prst="rect">
            <a:avLst/>
          </a:prstGeom>
          <a:noFill/>
          <a:ln/>
        </p:spPr>
        <p:txBody>
          <a:bodyPr wrap="square" rtlCol="0" anchor="ctr"/>
          <a:lstStyle/>
          <a:p>
            <a:pPr indent="0" marL="0">
              <a:buNone/>
            </a:pPr>
            <a:r>
              <a:rPr lang="en-US" sz="1400" b="1" dirty="0">
                <a:solidFill>
                  <a:srgbClr val="059669"/>
                </a:solidFill>
                <a:latin typeface="Calibri" pitchFamily="34" charset="0"/>
                <a:ea typeface="Calibri" pitchFamily="34" charset="-122"/>
                <a:cs typeface="Calibri" pitchFamily="34" charset="-120"/>
              </a:rPr>
              <a:t>4</a:t>
            </a:r>
            <a:endParaRPr lang="en-US" sz="1400" dirty="0"/>
          </a:p>
        </p:txBody>
      </p:sp>
      <p:sp>
        <p:nvSpPr>
          <p:cNvPr id="21" name="Text 19"/>
          <p:cNvSpPr/>
          <p:nvPr/>
        </p:nvSpPr>
        <p:spPr>
          <a:xfrm>
            <a:off x="9281160" y="2148840"/>
            <a:ext cx="2377440" cy="41148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runc + Linux Kernel</a:t>
            </a:r>
            <a:endParaRPr lang="en-US" sz="1500" dirty="0"/>
          </a:p>
        </p:txBody>
      </p:sp>
      <p:sp>
        <p:nvSpPr>
          <p:cNvPr id="22" name="Text 20"/>
          <p:cNvSpPr/>
          <p:nvPr/>
        </p:nvSpPr>
        <p:spPr>
          <a:xfrm>
            <a:off x="9281160" y="2514600"/>
            <a:ext cx="2377440" cy="54864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Namespaces, cgroups,</a:t>
            </a:r>
            <a:endParaRPr lang="en-US" sz="1100" dirty="0"/>
          </a:p>
          <a:p>
            <a:pPr indent="0" marL="0">
              <a:buNone/>
            </a:pPr>
            <a:r>
              <a:rPr lang="en-US" sz="1100" dirty="0">
                <a:solidFill>
                  <a:srgbClr val="334155"/>
                </a:solidFill>
                <a:latin typeface="Calibri" pitchFamily="34" charset="0"/>
                <a:ea typeface="Calibri" pitchFamily="34" charset="-122"/>
                <a:cs typeface="Calibri" pitchFamily="34" charset="-120"/>
              </a:rPr>
              <a:t>caps, seccomp</a:t>
            </a:r>
            <a:endParaRPr lang="en-US" sz="1100" dirty="0"/>
          </a:p>
        </p:txBody>
      </p:sp>
      <p:sp>
        <p:nvSpPr>
          <p:cNvPr id="23" name="Shape 21"/>
          <p:cNvSpPr/>
          <p:nvPr/>
        </p:nvSpPr>
        <p:spPr>
          <a:xfrm>
            <a:off x="640080" y="3474720"/>
            <a:ext cx="10972800" cy="914400"/>
          </a:xfrm>
          <a:prstGeom prst="roundRect">
            <a:avLst>
              <a:gd name="adj" fmla="val 8000"/>
            </a:avLst>
          </a:prstGeom>
          <a:solidFill>
            <a:srgbClr val="FEE2E2"/>
          </a:solidFill>
          <a:ln w="12700">
            <a:solidFill>
              <a:srgbClr val="DC2626"/>
            </a:solidFill>
            <a:prstDash val="solid"/>
          </a:ln>
        </p:spPr>
      </p:sp>
      <p:sp>
        <p:nvSpPr>
          <p:cNvPr id="24" name="Text 22"/>
          <p:cNvSpPr/>
          <p:nvPr/>
        </p:nvSpPr>
        <p:spPr>
          <a:xfrm>
            <a:off x="868680" y="3611880"/>
            <a:ext cx="457200" cy="640080"/>
          </a:xfrm>
          <a:prstGeom prst="rect">
            <a:avLst/>
          </a:prstGeom>
          <a:noFill/>
          <a:ln/>
        </p:spPr>
        <p:txBody>
          <a:bodyPr wrap="square" rtlCol="0" anchor="ctr"/>
          <a:lstStyle/>
          <a:p>
            <a:pPr indent="0" marL="0">
              <a:buNone/>
            </a:pPr>
            <a:r>
              <a:rPr lang="en-US" sz="2800" b="1" dirty="0">
                <a:solidFill>
                  <a:srgbClr val="DC2626"/>
                </a:solidFill>
                <a:latin typeface="Calibri" pitchFamily="34" charset="0"/>
                <a:ea typeface="Calibri" pitchFamily="34" charset="-122"/>
                <a:cs typeface="Calibri" pitchFamily="34" charset="-120"/>
              </a:rPr>
              <a:t>⚠</a:t>
            </a:r>
            <a:endParaRPr lang="en-US" sz="2800" dirty="0"/>
          </a:p>
        </p:txBody>
      </p:sp>
      <p:sp>
        <p:nvSpPr>
          <p:cNvPr id="25" name="Text 23"/>
          <p:cNvSpPr/>
          <p:nvPr/>
        </p:nvSpPr>
        <p:spPr>
          <a:xfrm>
            <a:off x="1371600" y="3611880"/>
            <a:ext cx="10058400" cy="64008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Each translation step can add defaults, override values, or silently fail to apply restrictions. </a:t>
            </a:r>
            <a:pPr indent="0" marL="0">
              <a:buNone/>
            </a:pPr>
            <a:r>
              <a:rPr lang="en-US" sz="1400" dirty="0">
                <a:solidFill>
                  <a:srgbClr val="334155"/>
                </a:solidFill>
                <a:latin typeface="Calibri" pitchFamily="34" charset="0"/>
                <a:ea typeface="Calibri" pitchFamily="34" charset="-122"/>
                <a:cs typeface="Calibri" pitchFamily="34" charset="-120"/>
              </a:rPr>
              <a:t>The K8s API still reports the original declaration — but that's no longer what the kernel enforces.</a:t>
            </a:r>
            <a:endParaRPr lang="en-US" sz="1400" dirty="0"/>
          </a:p>
        </p:txBody>
      </p:sp>
      <p:sp>
        <p:nvSpPr>
          <p:cNvPr id="26" name="Text 24"/>
          <p:cNvSpPr/>
          <p:nvPr/>
        </p:nvSpPr>
        <p:spPr>
          <a:xfrm>
            <a:off x="640080" y="4617720"/>
            <a:ext cx="10972800" cy="274320"/>
          </a:xfrm>
          <a:prstGeom prst="rect">
            <a:avLst/>
          </a:prstGeom>
          <a:noFill/>
          <a:ln/>
        </p:spPr>
        <p:txBody>
          <a:bodyPr wrap="square" rtlCol="0" anchor="ctr"/>
          <a:lstStyle/>
          <a:p>
            <a:pPr indent="0" marL="0">
              <a:buNone/>
            </a:pPr>
            <a:r>
              <a:rPr lang="en-US" sz="1100" b="1" spc="300" kern="0" dirty="0">
                <a:solidFill>
                  <a:srgbClr val="64748B"/>
                </a:solidFill>
                <a:latin typeface="Calibri" pitchFamily="34" charset="0"/>
                <a:ea typeface="Calibri" pitchFamily="34" charset="-122"/>
                <a:cs typeface="Calibri" pitchFamily="34" charset="-120"/>
              </a:rPr>
              <a:t>EXISTING TOOLS LOOK AT THE ENDS — NOT AT THE TRANSLATION</a:t>
            </a:r>
            <a:endParaRPr lang="en-US" sz="1100" dirty="0"/>
          </a:p>
        </p:txBody>
      </p:sp>
      <p:sp>
        <p:nvSpPr>
          <p:cNvPr id="27" name="Shape 25"/>
          <p:cNvSpPr/>
          <p:nvPr/>
        </p:nvSpPr>
        <p:spPr>
          <a:xfrm>
            <a:off x="640080" y="4983480"/>
            <a:ext cx="5303520" cy="1371600"/>
          </a:xfrm>
          <a:prstGeom prst="roundRect">
            <a:avLst>
              <a:gd name="adj" fmla="val 5333"/>
            </a:avLst>
          </a:prstGeom>
          <a:solidFill>
            <a:srgbClr val="FFFFFF"/>
          </a:solidFill>
          <a:ln w="6350">
            <a:solidFill>
              <a:srgbClr val="E2E8F0"/>
            </a:solidFill>
            <a:prstDash val="solid"/>
          </a:ln>
          <a:effectLst>
            <a:outerShdw sx="100000" sy="100000" kx="0" ky="0" algn="bl" rotWithShape="0" blurRad="101600" dist="25400" dir="5400000">
              <a:srgbClr val="000000">
                <a:alpha val="6000"/>
              </a:srgbClr>
            </a:outerShdw>
          </a:effectLst>
        </p:spPr>
      </p:sp>
      <p:sp>
        <p:nvSpPr>
          <p:cNvPr id="28" name="Text 26"/>
          <p:cNvSpPr/>
          <p:nvPr/>
        </p:nvSpPr>
        <p:spPr>
          <a:xfrm>
            <a:off x="822960" y="5074920"/>
            <a:ext cx="5120640" cy="320040"/>
          </a:xfrm>
          <a:prstGeom prst="rect">
            <a:avLst/>
          </a:prstGeom>
          <a:noFill/>
          <a:ln/>
        </p:spPr>
        <p:txBody>
          <a:bodyPr wrap="square" rtlCol="0" anchor="ctr"/>
          <a:lstStyle/>
          <a:p>
            <a:pPr indent="0" marL="0">
              <a:buNone/>
            </a:pPr>
            <a:r>
              <a:rPr lang="en-US" sz="1200" b="1" dirty="0">
                <a:solidFill>
                  <a:srgbClr val="0E7490"/>
                </a:solidFill>
                <a:latin typeface="Calibri" pitchFamily="34" charset="0"/>
                <a:ea typeface="Calibri" pitchFamily="34" charset="-122"/>
                <a:cs typeface="Calibri" pitchFamily="34" charset="-120"/>
              </a:rPr>
              <a:t>API-level tools  (read only stage 1)</a:t>
            </a:r>
            <a:endParaRPr lang="en-US" sz="1200" dirty="0"/>
          </a:p>
        </p:txBody>
      </p:sp>
      <p:sp>
        <p:nvSpPr>
          <p:cNvPr id="29" name="Text 27"/>
          <p:cNvSpPr/>
          <p:nvPr/>
        </p:nvSpPr>
        <p:spPr>
          <a:xfrm>
            <a:off x="822960" y="5394960"/>
            <a:ext cx="5120640" cy="365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OPA Gatekeeper · Kyverno · Kubescape · Trivy Operator · Kubediff</a:t>
            </a:r>
            <a:endParaRPr lang="en-US" sz="1100" dirty="0"/>
          </a:p>
        </p:txBody>
      </p:sp>
      <p:sp>
        <p:nvSpPr>
          <p:cNvPr id="30" name="Text 28"/>
          <p:cNvSpPr/>
          <p:nvPr/>
        </p:nvSpPr>
        <p:spPr>
          <a:xfrm>
            <a:off x="822960" y="5852160"/>
            <a:ext cx="5120640" cy="320040"/>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  They trust the spec.</a:t>
            </a:r>
            <a:endParaRPr lang="en-US" sz="1100" dirty="0"/>
          </a:p>
        </p:txBody>
      </p:sp>
      <p:sp>
        <p:nvSpPr>
          <p:cNvPr id="31" name="Shape 29"/>
          <p:cNvSpPr/>
          <p:nvPr/>
        </p:nvSpPr>
        <p:spPr>
          <a:xfrm>
            <a:off x="6309360" y="4983480"/>
            <a:ext cx="5303520" cy="1371600"/>
          </a:xfrm>
          <a:prstGeom prst="roundRect">
            <a:avLst>
              <a:gd name="adj" fmla="val 5333"/>
            </a:avLst>
          </a:prstGeom>
          <a:solidFill>
            <a:srgbClr val="FFFFFF"/>
          </a:solidFill>
          <a:ln w="6350">
            <a:solidFill>
              <a:srgbClr val="E2E8F0"/>
            </a:solidFill>
            <a:prstDash val="solid"/>
          </a:ln>
          <a:effectLst>
            <a:outerShdw sx="100000" sy="100000" kx="0" ky="0" algn="bl" rotWithShape="0" blurRad="101600" dist="25400" dir="5400000">
              <a:srgbClr val="000000">
                <a:alpha val="6000"/>
              </a:srgbClr>
            </a:outerShdw>
          </a:effectLst>
        </p:spPr>
      </p:sp>
      <p:sp>
        <p:nvSpPr>
          <p:cNvPr id="32" name="Text 30"/>
          <p:cNvSpPr/>
          <p:nvPr/>
        </p:nvSpPr>
        <p:spPr>
          <a:xfrm>
            <a:off x="6492240" y="5074920"/>
            <a:ext cx="5120640" cy="320040"/>
          </a:xfrm>
          <a:prstGeom prst="rect">
            <a:avLst/>
          </a:prstGeom>
          <a:noFill/>
          <a:ln/>
        </p:spPr>
        <p:txBody>
          <a:bodyPr wrap="square" rtlCol="0" anchor="ctr"/>
          <a:lstStyle/>
          <a:p>
            <a:pPr indent="0" marL="0">
              <a:buNone/>
            </a:pPr>
            <a:r>
              <a:rPr lang="en-US" sz="1200" b="1" dirty="0">
                <a:solidFill>
                  <a:srgbClr val="059669"/>
                </a:solidFill>
                <a:latin typeface="Calibri" pitchFamily="34" charset="0"/>
                <a:ea typeface="Calibri" pitchFamily="34" charset="-122"/>
                <a:cs typeface="Calibri" pitchFamily="34" charset="-120"/>
              </a:rPr>
              <a:t>Kernel-level monitors  (watch stage 4)</a:t>
            </a:r>
            <a:endParaRPr lang="en-US" sz="1200" dirty="0"/>
          </a:p>
        </p:txBody>
      </p:sp>
      <p:sp>
        <p:nvSpPr>
          <p:cNvPr id="33" name="Text 31"/>
          <p:cNvSpPr/>
          <p:nvPr/>
        </p:nvSpPr>
        <p:spPr>
          <a:xfrm>
            <a:off x="6492240" y="5394960"/>
            <a:ext cx="5120640" cy="365760"/>
          </a:xfrm>
          <a:prstGeom prst="rect">
            <a:avLst/>
          </a:prstGeom>
          <a:noFill/>
          <a:ln/>
        </p:spPr>
        <p:txBody>
          <a:bodyPr wrap="square" rtlCol="0" anchor="ctr"/>
          <a:lstStyle/>
          <a:p>
            <a:pPr indent="0" marL="0">
              <a:buNone/>
            </a:pPr>
            <a:r>
              <a:rPr lang="en-US" sz="1100" dirty="0">
                <a:solidFill>
                  <a:srgbClr val="334155"/>
                </a:solidFill>
                <a:latin typeface="Calibri" pitchFamily="34" charset="0"/>
                <a:ea typeface="Calibri" pitchFamily="34" charset="-122"/>
                <a:cs typeface="Calibri" pitchFamily="34" charset="-120"/>
              </a:rPr>
              <a:t>Falco · KubeArmor · kube-bench</a:t>
            </a:r>
            <a:endParaRPr lang="en-US" sz="1100" dirty="0"/>
          </a:p>
        </p:txBody>
      </p:sp>
      <p:sp>
        <p:nvSpPr>
          <p:cNvPr id="34" name="Text 32"/>
          <p:cNvSpPr/>
          <p:nvPr/>
        </p:nvSpPr>
        <p:spPr>
          <a:xfrm>
            <a:off x="6492240" y="5852160"/>
            <a:ext cx="5120640" cy="320040"/>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  They watch behavior, not configuration.</a:t>
            </a:r>
            <a:endParaRPr lang="en-US" sz="1100" dirty="0"/>
          </a:p>
        </p:txBody>
      </p:sp>
      <p:sp>
        <p:nvSpPr>
          <p:cNvPr id="35" name="Text 33"/>
          <p:cNvSpPr/>
          <p:nvPr/>
        </p:nvSpPr>
        <p:spPr>
          <a:xfrm>
            <a:off x="457200" y="6492240"/>
            <a:ext cx="5486400" cy="27432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Yehia Sobeh  ·  Innopolis University 2026</a:t>
            </a:r>
            <a:endParaRPr lang="en-US" sz="1000" dirty="0"/>
          </a:p>
        </p:txBody>
      </p:sp>
      <p:sp>
        <p:nvSpPr>
          <p:cNvPr id="36" name="Text 34"/>
          <p:cNvSpPr/>
          <p:nvPr/>
        </p:nvSpPr>
        <p:spPr>
          <a:xfrm>
            <a:off x="10789920" y="6492240"/>
            <a:ext cx="9144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 / 14</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640080"/>
            <a:ext cx="10972800" cy="320040"/>
          </a:xfrm>
          <a:prstGeom prst="rect">
            <a:avLst/>
          </a:prstGeom>
          <a:noFill/>
          <a:ln/>
        </p:spPr>
        <p:txBody>
          <a:bodyPr wrap="square" rtlCol="0" anchor="ctr"/>
          <a:lstStyle/>
          <a:p>
            <a:pPr indent="0" marL="0">
              <a:buNone/>
            </a:pPr>
            <a:r>
              <a:rPr lang="en-US" sz="1200" b="1" spc="400" kern="0" dirty="0">
                <a:solidFill>
                  <a:srgbClr val="06B6D4"/>
                </a:solidFill>
                <a:latin typeface="Calibri" pitchFamily="34" charset="0"/>
                <a:ea typeface="Calibri" pitchFamily="34" charset="-122"/>
                <a:cs typeface="Calibri" pitchFamily="34" charset="-120"/>
              </a:rPr>
              <a:t>THE ENFORCEMENT VERIFICATION GAP</a:t>
            </a:r>
            <a:endParaRPr lang="en-US" sz="1200" dirty="0"/>
          </a:p>
        </p:txBody>
      </p:sp>
      <p:sp>
        <p:nvSpPr>
          <p:cNvPr id="3" name="Text 1"/>
          <p:cNvSpPr/>
          <p:nvPr/>
        </p:nvSpPr>
        <p:spPr>
          <a:xfrm>
            <a:off x="640080" y="960120"/>
            <a:ext cx="10972800" cy="50292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 blind spot in the Kubernetes security ecosystem</a:t>
            </a:r>
            <a:endParaRPr lang="en-US" sz="2600" dirty="0"/>
          </a:p>
        </p:txBody>
      </p:sp>
      <p:sp>
        <p:nvSpPr>
          <p:cNvPr id="4" name="Shape 2"/>
          <p:cNvSpPr/>
          <p:nvPr/>
        </p:nvSpPr>
        <p:spPr>
          <a:xfrm>
            <a:off x="1097280" y="2103120"/>
            <a:ext cx="9966960" cy="1554480"/>
          </a:xfrm>
          <a:prstGeom prst="roundRect">
            <a:avLst>
              <a:gd name="adj" fmla="val 5882"/>
            </a:avLst>
          </a:prstGeom>
          <a:solidFill>
            <a:srgbClr val="1E293B"/>
          </a:solidFill>
          <a:ln w="19050">
            <a:solidFill>
              <a:srgbClr val="06B6D4"/>
            </a:solidFill>
            <a:prstDash val="solid"/>
          </a:ln>
        </p:spPr>
      </p:sp>
      <p:sp>
        <p:nvSpPr>
          <p:cNvPr id="5" name="Text 3"/>
          <p:cNvSpPr/>
          <p:nvPr/>
        </p:nvSpPr>
        <p:spPr>
          <a:xfrm>
            <a:off x="1371600" y="2240280"/>
            <a:ext cx="9144000" cy="274320"/>
          </a:xfrm>
          <a:prstGeom prst="rect">
            <a:avLst/>
          </a:prstGeom>
          <a:noFill/>
          <a:ln/>
        </p:spPr>
        <p:txBody>
          <a:bodyPr wrap="square" rtlCol="0" anchor="ctr"/>
          <a:lstStyle/>
          <a:p>
            <a:pPr indent="0" marL="0">
              <a:buNone/>
            </a:pPr>
            <a:r>
              <a:rPr lang="en-US" sz="1100" b="1" spc="400" kern="0" dirty="0">
                <a:solidFill>
                  <a:srgbClr val="06B6D4"/>
                </a:solidFill>
                <a:latin typeface="Calibri" pitchFamily="34" charset="0"/>
                <a:ea typeface="Calibri" pitchFamily="34" charset="-122"/>
                <a:cs typeface="Calibri" pitchFamily="34" charset="-120"/>
              </a:rPr>
              <a:t>DEFINITION</a:t>
            </a:r>
            <a:endParaRPr lang="en-US" sz="1100" dirty="0"/>
          </a:p>
        </p:txBody>
      </p:sp>
      <p:sp>
        <p:nvSpPr>
          <p:cNvPr id="6" name="Text 4"/>
          <p:cNvSpPr/>
          <p:nvPr/>
        </p:nvSpPr>
        <p:spPr>
          <a:xfrm>
            <a:off x="1371600" y="2606040"/>
            <a:ext cx="9418320" cy="1005840"/>
          </a:xfrm>
          <a:prstGeom prst="rect">
            <a:avLst/>
          </a:prstGeom>
          <a:noFill/>
          <a:ln/>
        </p:spPr>
        <p:txBody>
          <a:bodyPr wrap="square" lIns="0" tIns="0" rIns="0" bIns="0" rtlCol="0" anchor="t"/>
          <a:lstStyle/>
          <a:p>
            <a:pPr indent="0" marL="0">
              <a:buNone/>
            </a:pPr>
            <a:r>
              <a:rPr lang="en-US" sz="1700" dirty="0">
                <a:solidFill>
                  <a:srgbClr val="CBD5E1"/>
                </a:solidFill>
                <a:latin typeface="Calibri" pitchFamily="34" charset="0"/>
                <a:ea typeface="Calibri" pitchFamily="34" charset="-122"/>
                <a:cs typeface="Calibri" pitchFamily="34" charset="-120"/>
              </a:rPr>
              <a:t>The </a:t>
            </a:r>
            <a:pPr indent="0" marL="0">
              <a:buNone/>
            </a:pPr>
            <a:r>
              <a:rPr lang="en-US" sz="1700" b="1" dirty="0">
                <a:solidFill>
                  <a:srgbClr val="FFFFFF"/>
                </a:solidFill>
                <a:latin typeface="Calibri" pitchFamily="34" charset="0"/>
                <a:ea typeface="Calibri" pitchFamily="34" charset="-122"/>
                <a:cs typeface="Calibri" pitchFamily="34" charset="-120"/>
              </a:rPr>
              <a:t>enforcement verification gap</a:t>
            </a:r>
            <a:pPr indent="0" marL="0">
              <a:buNone/>
            </a:pPr>
            <a:r>
              <a:rPr lang="en-US" sz="1700" dirty="0">
                <a:solidFill>
                  <a:srgbClr val="CBD5E1"/>
                </a:solidFill>
                <a:latin typeface="Calibri" pitchFamily="34" charset="0"/>
                <a:ea typeface="Calibri" pitchFamily="34" charset="-122"/>
                <a:cs typeface="Calibri" pitchFamily="34" charset="-120"/>
              </a:rPr>
              <a:t> is the absence of tooling that systematically verifies whether the security context declared in a Kubernetes pod specification is faithfully enforced by the container runtime.</a:t>
            </a:r>
            <a:endParaRPr lang="en-US" sz="1700" dirty="0"/>
          </a:p>
        </p:txBody>
      </p:sp>
      <p:sp>
        <p:nvSpPr>
          <p:cNvPr id="7" name="Shape 5"/>
          <p:cNvSpPr/>
          <p:nvPr/>
        </p:nvSpPr>
        <p:spPr>
          <a:xfrm>
            <a:off x="1097280" y="3977640"/>
            <a:ext cx="3108960" cy="2103120"/>
          </a:xfrm>
          <a:prstGeom prst="roundRect">
            <a:avLst>
              <a:gd name="adj" fmla="val 3478"/>
            </a:avLst>
          </a:prstGeom>
          <a:solidFill>
            <a:srgbClr val="1E293B"/>
          </a:solidFill>
          <a:ln w="12700">
            <a:solidFill>
              <a:srgbClr val="334155"/>
            </a:solidFill>
            <a:prstDash val="solid"/>
          </a:ln>
        </p:spPr>
      </p:sp>
      <p:sp>
        <p:nvSpPr>
          <p:cNvPr id="8" name="Text 6"/>
          <p:cNvSpPr/>
          <p:nvPr/>
        </p:nvSpPr>
        <p:spPr>
          <a:xfrm>
            <a:off x="1325880" y="4114800"/>
            <a:ext cx="914400" cy="320040"/>
          </a:xfrm>
          <a:prstGeom prst="rect">
            <a:avLst/>
          </a:prstGeom>
          <a:noFill/>
          <a:ln/>
        </p:spPr>
        <p:txBody>
          <a:bodyPr wrap="square" rtlCol="0" anchor="ctr"/>
          <a:lstStyle/>
          <a:p>
            <a:pPr indent="0" marL="0">
              <a:buNone/>
            </a:pPr>
            <a:r>
              <a:rPr lang="en-US" sz="1400" b="1" dirty="0">
                <a:solidFill>
                  <a:srgbClr val="06B6D4"/>
                </a:solidFill>
                <a:latin typeface="Calibri" pitchFamily="34" charset="0"/>
                <a:ea typeface="Calibri" pitchFamily="34" charset="-122"/>
                <a:cs typeface="Calibri" pitchFamily="34" charset="-120"/>
              </a:rPr>
              <a:t>RQ1</a:t>
            </a:r>
            <a:endParaRPr lang="en-US" sz="1400" dirty="0"/>
          </a:p>
        </p:txBody>
      </p:sp>
      <p:sp>
        <p:nvSpPr>
          <p:cNvPr id="9" name="Text 7"/>
          <p:cNvSpPr/>
          <p:nvPr/>
        </p:nvSpPr>
        <p:spPr>
          <a:xfrm>
            <a:off x="1325880" y="4434840"/>
            <a:ext cx="2743200" cy="2743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Empirical</a:t>
            </a:r>
            <a:endParaRPr lang="en-US" sz="1100" dirty="0"/>
          </a:p>
        </p:txBody>
      </p:sp>
      <p:sp>
        <p:nvSpPr>
          <p:cNvPr id="10" name="Text 8"/>
          <p:cNvSpPr/>
          <p:nvPr/>
        </p:nvSpPr>
        <p:spPr>
          <a:xfrm>
            <a:off x="1325880" y="4800600"/>
            <a:ext cx="2697480" cy="11887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Under what configurations does kernel-level state diverge from declared spec?</a:t>
            </a:r>
            <a:endParaRPr lang="en-US" sz="1300" dirty="0"/>
          </a:p>
        </p:txBody>
      </p:sp>
      <p:sp>
        <p:nvSpPr>
          <p:cNvPr id="11" name="Shape 9"/>
          <p:cNvSpPr/>
          <p:nvPr/>
        </p:nvSpPr>
        <p:spPr>
          <a:xfrm>
            <a:off x="4434840" y="3977640"/>
            <a:ext cx="3108960" cy="2103120"/>
          </a:xfrm>
          <a:prstGeom prst="roundRect">
            <a:avLst>
              <a:gd name="adj" fmla="val 3478"/>
            </a:avLst>
          </a:prstGeom>
          <a:solidFill>
            <a:srgbClr val="1E293B"/>
          </a:solidFill>
          <a:ln w="12700">
            <a:solidFill>
              <a:srgbClr val="334155"/>
            </a:solidFill>
            <a:prstDash val="solid"/>
          </a:ln>
        </p:spPr>
      </p:sp>
      <p:sp>
        <p:nvSpPr>
          <p:cNvPr id="12" name="Text 10"/>
          <p:cNvSpPr/>
          <p:nvPr/>
        </p:nvSpPr>
        <p:spPr>
          <a:xfrm>
            <a:off x="4663440" y="4114800"/>
            <a:ext cx="914400" cy="320040"/>
          </a:xfrm>
          <a:prstGeom prst="rect">
            <a:avLst/>
          </a:prstGeom>
          <a:noFill/>
          <a:ln/>
        </p:spPr>
        <p:txBody>
          <a:bodyPr wrap="square" rtlCol="0" anchor="ctr"/>
          <a:lstStyle/>
          <a:p>
            <a:pPr indent="0" marL="0">
              <a:buNone/>
            </a:pPr>
            <a:r>
              <a:rPr lang="en-US" sz="1400" b="1" dirty="0">
                <a:solidFill>
                  <a:srgbClr val="06B6D4"/>
                </a:solidFill>
                <a:latin typeface="Calibri" pitchFamily="34" charset="0"/>
                <a:ea typeface="Calibri" pitchFamily="34" charset="-122"/>
                <a:cs typeface="Calibri" pitchFamily="34" charset="-120"/>
              </a:rPr>
              <a:t>RQ2</a:t>
            </a:r>
            <a:endParaRPr lang="en-US" sz="1400" dirty="0"/>
          </a:p>
        </p:txBody>
      </p:sp>
      <p:sp>
        <p:nvSpPr>
          <p:cNvPr id="13" name="Text 11"/>
          <p:cNvSpPr/>
          <p:nvPr/>
        </p:nvSpPr>
        <p:spPr>
          <a:xfrm>
            <a:off x="4663440" y="4434840"/>
            <a:ext cx="2743200" cy="2743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Engineering</a:t>
            </a:r>
            <a:endParaRPr lang="en-US" sz="1100" dirty="0"/>
          </a:p>
        </p:txBody>
      </p:sp>
      <p:sp>
        <p:nvSpPr>
          <p:cNvPr id="14" name="Text 12"/>
          <p:cNvSpPr/>
          <p:nvPr/>
        </p:nvSpPr>
        <p:spPr>
          <a:xfrm>
            <a:off x="4663440" y="4800600"/>
            <a:ext cx="2697480" cy="11887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Can a node-resident DaemonSet detect divergence with bounded overhead?</a:t>
            </a:r>
            <a:endParaRPr lang="en-US" sz="1300" dirty="0"/>
          </a:p>
        </p:txBody>
      </p:sp>
      <p:sp>
        <p:nvSpPr>
          <p:cNvPr id="15" name="Shape 13"/>
          <p:cNvSpPr/>
          <p:nvPr/>
        </p:nvSpPr>
        <p:spPr>
          <a:xfrm>
            <a:off x="7772400" y="3977640"/>
            <a:ext cx="3108960" cy="2103120"/>
          </a:xfrm>
          <a:prstGeom prst="roundRect">
            <a:avLst>
              <a:gd name="adj" fmla="val 3478"/>
            </a:avLst>
          </a:prstGeom>
          <a:solidFill>
            <a:srgbClr val="1E293B"/>
          </a:solidFill>
          <a:ln w="12700">
            <a:solidFill>
              <a:srgbClr val="334155"/>
            </a:solidFill>
            <a:prstDash val="solid"/>
          </a:ln>
        </p:spPr>
      </p:sp>
      <p:sp>
        <p:nvSpPr>
          <p:cNvPr id="16" name="Text 14"/>
          <p:cNvSpPr/>
          <p:nvPr/>
        </p:nvSpPr>
        <p:spPr>
          <a:xfrm>
            <a:off x="8001000" y="4114800"/>
            <a:ext cx="914400" cy="320040"/>
          </a:xfrm>
          <a:prstGeom prst="rect">
            <a:avLst/>
          </a:prstGeom>
          <a:noFill/>
          <a:ln/>
        </p:spPr>
        <p:txBody>
          <a:bodyPr wrap="square" rtlCol="0" anchor="ctr"/>
          <a:lstStyle/>
          <a:p>
            <a:pPr indent="0" marL="0">
              <a:buNone/>
            </a:pPr>
            <a:r>
              <a:rPr lang="en-US" sz="1400" b="1" dirty="0">
                <a:solidFill>
                  <a:srgbClr val="06B6D4"/>
                </a:solidFill>
                <a:latin typeface="Calibri" pitchFamily="34" charset="0"/>
                <a:ea typeface="Calibri" pitchFamily="34" charset="-122"/>
                <a:cs typeface="Calibri" pitchFamily="34" charset="-120"/>
              </a:rPr>
              <a:t>RQ3</a:t>
            </a:r>
            <a:endParaRPr lang="en-US" sz="1400" dirty="0"/>
          </a:p>
        </p:txBody>
      </p:sp>
      <p:sp>
        <p:nvSpPr>
          <p:cNvPr id="17" name="Text 15"/>
          <p:cNvSpPr/>
          <p:nvPr/>
        </p:nvSpPr>
        <p:spPr>
          <a:xfrm>
            <a:off x="8001000" y="4434840"/>
            <a:ext cx="2743200" cy="2743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Taxonomy</a:t>
            </a:r>
            <a:endParaRPr lang="en-US" sz="1100" dirty="0"/>
          </a:p>
        </p:txBody>
      </p:sp>
      <p:sp>
        <p:nvSpPr>
          <p:cNvPr id="18" name="Text 16"/>
          <p:cNvSpPr/>
          <p:nvPr/>
        </p:nvSpPr>
        <p:spPr>
          <a:xfrm>
            <a:off x="8001000" y="4800600"/>
            <a:ext cx="2697480" cy="11887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What categories of divergence occur, and how should each be classified?</a:t>
            </a:r>
            <a:endParaRPr lang="en-US" sz="1300" dirty="0"/>
          </a:p>
        </p:txBody>
      </p:sp>
      <p:sp>
        <p:nvSpPr>
          <p:cNvPr id="19" name="Text 17"/>
          <p:cNvSpPr/>
          <p:nvPr/>
        </p:nvSpPr>
        <p:spPr>
          <a:xfrm>
            <a:off x="457200" y="6492240"/>
            <a:ext cx="5486400" cy="27432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Yehia Sobeh  ·  Innopolis University 2026</a:t>
            </a:r>
            <a:endParaRPr lang="en-US" sz="1000" dirty="0"/>
          </a:p>
        </p:txBody>
      </p:sp>
      <p:sp>
        <p:nvSpPr>
          <p:cNvPr id="20" name="Text 18"/>
          <p:cNvSpPr/>
          <p:nvPr/>
        </p:nvSpPr>
        <p:spPr>
          <a:xfrm>
            <a:off x="10789920" y="6492240"/>
            <a:ext cx="9144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 / 14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57200"/>
            <a:ext cx="10972800" cy="274320"/>
          </a:xfrm>
          <a:prstGeom prst="rect">
            <a:avLst/>
          </a:prstGeom>
          <a:noFill/>
          <a:ln/>
        </p:spPr>
        <p:txBody>
          <a:bodyPr wrap="square" rtlCol="0" anchor="ctr"/>
          <a:lstStyle/>
          <a:p>
            <a:pPr indent="0" marL="0">
              <a:buNone/>
            </a:pPr>
            <a:r>
              <a:rPr lang="en-US" sz="1100" b="1" spc="400" kern="0" dirty="0">
                <a:solidFill>
                  <a:srgbClr val="06B6D4"/>
                </a:solidFill>
                <a:latin typeface="Calibri" pitchFamily="34" charset="0"/>
                <a:ea typeface="Calibri" pitchFamily="34" charset="-122"/>
                <a:cs typeface="Calibri" pitchFamily="34" charset="-120"/>
              </a:rPr>
              <a:t>RELATED WORK</a:t>
            </a:r>
            <a:endParaRPr lang="en-US" sz="1100" dirty="0"/>
          </a:p>
        </p:txBody>
      </p:sp>
      <p:sp>
        <p:nvSpPr>
          <p:cNvPr id="3" name="Text 1"/>
          <p:cNvSpPr/>
          <p:nvPr/>
        </p:nvSpPr>
        <p:spPr>
          <a:xfrm>
            <a:off x="640080" y="777240"/>
            <a:ext cx="10972800" cy="45720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No existing tool compares declared spec against runtime enforcement</a:t>
            </a:r>
            <a:endParaRPr lang="en-US" sz="2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972800" cy="914400"/>
        </p:xfrm>
        <a:graphic>
          <a:graphicData uri="http://schemas.openxmlformats.org/drawingml/2006/table">
            <a:tbl>
              <a:tblPr/>
              <a:tblGrid>
                <a:gridCol w="2743200"/>
                <a:gridCol w="3200400"/>
                <a:gridCol w="2743200"/>
                <a:gridCol w="2286000"/>
              </a:tblGrid>
              <a:tr h="42062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Tool</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checks</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Data source</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Detects runtime drift?</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420624">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OPA Gatekeeper</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Spec vs. policy</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K8s API</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0624">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Kyverno</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Spec vs. rules</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K8s API</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0624">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Kubescape / Trivy</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Spec vs. frameworks</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K8s API</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0624">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Falco / KubeArmor</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Syscall behavior</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Kernel (eBPF)</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0624">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Kubediff / ArgoCD</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Spec vs. Git</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K8s API + Git</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0624">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kube-bench</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Node config vs. CIS</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Node filesystem</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b="1" dirty="0">
                          <a:solidFill>
                            <a:srgbClr val="DC2626"/>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2062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k8s-psa  (this thesis)</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B6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Spec vs. actual runtime state</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B6D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K8s API + container runtime</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B6D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6B6D4"/>
                    </a:solidFill>
                  </a:tcPr>
                </a:tc>
              </a:tr>
            </a:tbl>
          </a:graphicData>
        </a:graphic>
      </p:graphicFrame>
      <p:sp>
        <p:nvSpPr>
          <p:cNvPr id="5" name="Text 2"/>
          <p:cNvSpPr/>
          <p:nvPr/>
        </p:nvSpPr>
        <p:spPr>
          <a:xfrm>
            <a:off x="640080" y="5120640"/>
            <a:ext cx="10972800" cy="27432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*Falco detects syscall anomalies but does not compare runtime state against the declared spec.</a:t>
            </a:r>
            <a:endParaRPr lang="en-US" sz="1000" dirty="0"/>
          </a:p>
        </p:txBody>
      </p:sp>
      <p:sp>
        <p:nvSpPr>
          <p:cNvPr id="6" name="Shape 3"/>
          <p:cNvSpPr/>
          <p:nvPr/>
        </p:nvSpPr>
        <p:spPr>
          <a:xfrm>
            <a:off x="640080" y="5486400"/>
            <a:ext cx="10972800" cy="868680"/>
          </a:xfrm>
          <a:prstGeom prst="roundRect">
            <a:avLst>
              <a:gd name="adj" fmla="val 8421"/>
            </a:avLst>
          </a:prstGeom>
          <a:solidFill>
            <a:srgbClr val="0F172A"/>
          </a:solidFill>
          <a:ln w="12700">
            <a:solidFill>
              <a:srgbClr val="0F172A"/>
            </a:solidFill>
            <a:prstDash val="solid"/>
          </a:ln>
        </p:spPr>
      </p:sp>
      <p:sp>
        <p:nvSpPr>
          <p:cNvPr id="7" name="Text 4"/>
          <p:cNvSpPr/>
          <p:nvPr/>
        </p:nvSpPr>
        <p:spPr>
          <a:xfrm>
            <a:off x="914400" y="5486400"/>
            <a:ext cx="10515600" cy="868680"/>
          </a:xfrm>
          <a:prstGeom prst="rect">
            <a:avLst/>
          </a:prstGeom>
          <a:noFill/>
          <a:ln/>
        </p:spPr>
        <p:txBody>
          <a:bodyPr wrap="square" lIns="0" tIns="0" rIns="0" bIns="0" rtlCol="0" anchor="ctr"/>
          <a:lstStyle/>
          <a:p>
            <a:pPr indent="0" marL="0">
              <a:buNone/>
            </a:pPr>
            <a:r>
              <a:rPr lang="en-US" sz="1500" b="1" dirty="0">
                <a:solidFill>
                  <a:srgbClr val="06B6D4"/>
                </a:solidFill>
                <a:latin typeface="Calibri" pitchFamily="34" charset="0"/>
                <a:ea typeface="Calibri" pitchFamily="34" charset="-122"/>
                <a:cs typeface="Calibri" pitchFamily="34" charset="-120"/>
              </a:rPr>
              <a:t>TAKEAWAY:  </a:t>
            </a:r>
            <a:pPr indent="0" marL="0">
              <a:buNone/>
            </a:pPr>
            <a:r>
              <a:rPr lang="en-US" sz="1500" dirty="0">
                <a:solidFill>
                  <a:srgbClr val="FFFFFF"/>
                </a:solidFill>
                <a:latin typeface="Calibri" pitchFamily="34" charset="0"/>
                <a:ea typeface="Calibri" pitchFamily="34" charset="-122"/>
                <a:cs typeface="Calibri" pitchFamily="34" charset="-120"/>
              </a:rPr>
              <a:t>Every existing tool sits at the API layer or the kernel layer.  </a:t>
            </a:r>
            <a:pPr indent="0" marL="0">
              <a:buNone/>
            </a:pPr>
            <a:r>
              <a:rPr lang="en-US" sz="1500" b="1" dirty="0">
                <a:solidFill>
                  <a:srgbClr val="06B6D4"/>
                </a:solidFill>
                <a:latin typeface="Calibri" pitchFamily="34" charset="0"/>
                <a:ea typeface="Calibri" pitchFamily="34" charset="-122"/>
                <a:cs typeface="Calibri" pitchFamily="34" charset="-120"/>
              </a:rPr>
              <a:t>Nobody bridges them.</a:t>
            </a:r>
            <a:endParaRPr lang="en-US" sz="1500" dirty="0"/>
          </a:p>
        </p:txBody>
      </p:sp>
      <p:sp>
        <p:nvSpPr>
          <p:cNvPr id="8" name="Text 5"/>
          <p:cNvSpPr/>
          <p:nvPr/>
        </p:nvSpPr>
        <p:spPr>
          <a:xfrm>
            <a:off x="457200" y="6492240"/>
            <a:ext cx="5486400" cy="27432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Yehia Sobeh  ·  Innopolis University 2026</a:t>
            </a:r>
            <a:endParaRPr lang="en-US" sz="1000" dirty="0"/>
          </a:p>
        </p:txBody>
      </p:sp>
      <p:sp>
        <p:nvSpPr>
          <p:cNvPr id="9" name="Text 6"/>
          <p:cNvSpPr/>
          <p:nvPr/>
        </p:nvSpPr>
        <p:spPr>
          <a:xfrm>
            <a:off x="10789920" y="6492240"/>
            <a:ext cx="9144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 / 14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57200"/>
            <a:ext cx="10972800" cy="274320"/>
          </a:xfrm>
          <a:prstGeom prst="rect">
            <a:avLst/>
          </a:prstGeom>
          <a:noFill/>
          <a:ln/>
        </p:spPr>
        <p:txBody>
          <a:bodyPr wrap="square" rtlCol="0" anchor="ctr"/>
          <a:lstStyle/>
          <a:p>
            <a:pPr indent="0" marL="0">
              <a:buNone/>
            </a:pPr>
            <a:r>
              <a:rPr lang="en-US" sz="1100" b="1" spc="400" kern="0" dirty="0">
                <a:solidFill>
                  <a:srgbClr val="06B6D4"/>
                </a:solidFill>
                <a:latin typeface="Calibri" pitchFamily="34" charset="0"/>
                <a:ea typeface="Calibri" pitchFamily="34" charset="-122"/>
                <a:cs typeface="Calibri" pitchFamily="34" charset="-120"/>
              </a:rPr>
              <a:t>SOLUTION</a:t>
            </a:r>
            <a:endParaRPr lang="en-US" sz="1100" dirty="0"/>
          </a:p>
        </p:txBody>
      </p:sp>
      <p:sp>
        <p:nvSpPr>
          <p:cNvPr id="3" name="Text 1"/>
          <p:cNvSpPr/>
          <p:nvPr/>
        </p:nvSpPr>
        <p:spPr>
          <a:xfrm>
            <a:off x="640080" y="777240"/>
            <a:ext cx="10972800" cy="45720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k8s-psa  —  a DaemonSet that compares spec against runtime, on every node</a:t>
            </a:r>
            <a:endParaRPr lang="en-US" sz="2200" dirty="0"/>
          </a:p>
        </p:txBody>
      </p:sp>
      <p:sp>
        <p:nvSpPr>
          <p:cNvPr id="4" name="Text 2"/>
          <p:cNvSpPr/>
          <p:nvPr/>
        </p:nvSpPr>
        <p:spPr>
          <a:xfrm>
            <a:off x="640080" y="1554480"/>
            <a:ext cx="5303520" cy="320040"/>
          </a:xfrm>
          <a:prstGeom prst="rect">
            <a:avLst/>
          </a:prstGeom>
          <a:noFill/>
          <a:ln/>
        </p:spPr>
        <p:txBody>
          <a:bodyPr wrap="square" rtlCol="0" anchor="ctr"/>
          <a:lstStyle/>
          <a:p>
            <a:pPr indent="0" marL="0">
              <a:buNone/>
            </a:pPr>
            <a:r>
              <a:rPr lang="en-US" sz="1300" b="1" dirty="0">
                <a:solidFill>
                  <a:srgbClr val="64748B"/>
                </a:solidFill>
                <a:latin typeface="Calibri" pitchFamily="34" charset="0"/>
                <a:ea typeface="Calibri" pitchFamily="34" charset="-122"/>
                <a:cs typeface="Calibri" pitchFamily="34" charset="-120"/>
              </a:rPr>
              <a:t>Layer 1  —  Spec-level checks</a:t>
            </a:r>
            <a:endParaRPr lang="en-US" sz="1300" dirty="0"/>
          </a:p>
        </p:txBody>
      </p:sp>
      <p:sp>
        <p:nvSpPr>
          <p:cNvPr id="5" name="Text 3"/>
          <p:cNvSpPr/>
          <p:nvPr/>
        </p:nvSpPr>
        <p:spPr>
          <a:xfrm>
            <a:off x="6309360" y="1554480"/>
            <a:ext cx="5303520" cy="320040"/>
          </a:xfrm>
          <a:prstGeom prst="rect">
            <a:avLst/>
          </a:prstGeom>
          <a:noFill/>
          <a:ln/>
        </p:spPr>
        <p:txBody>
          <a:bodyPr wrap="square" rtlCol="0" anchor="ctr"/>
          <a:lstStyle/>
          <a:p>
            <a:pPr indent="0" marL="0">
              <a:buNone/>
            </a:pPr>
            <a:r>
              <a:rPr lang="en-US" sz="1300" b="1" dirty="0">
                <a:solidFill>
                  <a:srgbClr val="06B6D4"/>
                </a:solidFill>
                <a:latin typeface="Calibri" pitchFamily="34" charset="0"/>
                <a:ea typeface="Calibri" pitchFamily="34" charset="-122"/>
                <a:cs typeface="Calibri" pitchFamily="34" charset="-120"/>
              </a:rPr>
              <a:t>Layer 2  —  Runtime drift detection  (novel contribution)</a:t>
            </a:r>
            <a:endParaRPr lang="en-US" sz="1300" dirty="0"/>
          </a:p>
        </p:txBody>
      </p:sp>
      <p:sp>
        <p:nvSpPr>
          <p:cNvPr id="6" name="Shape 4"/>
          <p:cNvSpPr/>
          <p:nvPr/>
        </p:nvSpPr>
        <p:spPr>
          <a:xfrm>
            <a:off x="640080" y="1920240"/>
            <a:ext cx="5303520" cy="3657600"/>
          </a:xfrm>
          <a:prstGeom prst="roundRect">
            <a:avLst>
              <a:gd name="adj" fmla="val 2000"/>
            </a:avLst>
          </a:prstGeom>
          <a:solidFill>
            <a:srgbClr val="FFFFFF"/>
          </a:solidFill>
          <a:ln w="6350">
            <a:solidFill>
              <a:srgbClr val="E2E8F0"/>
            </a:solidFill>
            <a:prstDash val="solid"/>
          </a:ln>
          <a:effectLst>
            <a:outerShdw sx="100000" sy="100000" kx="0" ky="0" algn="bl" rotWithShape="0" blurRad="101600" dist="25400" dir="5400000">
              <a:srgbClr val="000000">
                <a:alpha val="6000"/>
              </a:srgbClr>
            </a:outerShdw>
          </a:effectLst>
        </p:spPr>
      </p:sp>
      <p:sp>
        <p:nvSpPr>
          <p:cNvPr id="7" name="Text 5"/>
          <p:cNvSpPr/>
          <p:nvPr/>
        </p:nvSpPr>
        <p:spPr>
          <a:xfrm>
            <a:off x="868680" y="2057400"/>
            <a:ext cx="4937760" cy="274320"/>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Reads K8s API only</a:t>
            </a:r>
            <a:endParaRPr lang="en-US" sz="1100" dirty="0"/>
          </a:p>
        </p:txBody>
      </p:sp>
      <p:sp>
        <p:nvSpPr>
          <p:cNvPr id="8" name="Text 6"/>
          <p:cNvSpPr/>
          <p:nvPr/>
        </p:nvSpPr>
        <p:spPr>
          <a:xfrm>
            <a:off x="868680" y="2331720"/>
            <a:ext cx="4937760" cy="36576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8 configurable policy checks</a:t>
            </a:r>
            <a:endParaRPr lang="en-US" sz="1400" dirty="0"/>
          </a:p>
        </p:txBody>
      </p:sp>
      <p:sp>
        <p:nvSpPr>
          <p:cNvPr id="9" name="Text 7"/>
          <p:cNvSpPr/>
          <p:nvPr/>
        </p:nvSpPr>
        <p:spPr>
          <a:xfrm>
            <a:off x="1051560" y="2788920"/>
            <a:ext cx="4754880" cy="2194560"/>
          </a:xfrm>
          <a:prstGeom prst="rect">
            <a:avLst/>
          </a:prstGeom>
          <a:noFill/>
          <a:ln/>
        </p:spPr>
        <p:txBody>
          <a:bodyPr wrap="square" rtlCol="0" anchor="ctr"/>
          <a:lstStyle/>
          <a:p>
            <a:pPr marL="342900" indent="-342900">
              <a:spcAft>
                <a:spcPts val="400"/>
              </a:spcAft>
              <a:buSzPct val="100000"/>
              <a:buChar char="■"/>
            </a:pPr>
            <a:r>
              <a:rPr lang="en-US" sz="1300" dirty="0">
                <a:solidFill>
                  <a:srgbClr val="334155"/>
                </a:solidFill>
                <a:latin typeface="Calibri" pitchFamily="34" charset="0"/>
                <a:ea typeface="Calibri" pitchFamily="34" charset="-122"/>
                <a:cs typeface="Calibri" pitchFamily="34" charset="-120"/>
              </a:rPr>
              <a:t>privileged mode</a:t>
            </a:r>
            <a:endParaRPr lang="en-US" sz="1300" dirty="0"/>
          </a:p>
          <a:p>
            <a:pPr marL="342900" indent="-342900">
              <a:spcAft>
                <a:spcPts val="400"/>
              </a:spcAft>
              <a:buSzPct val="100000"/>
              <a:buChar char="■"/>
            </a:pPr>
            <a:r>
              <a:rPr lang="en-US" sz="1300" dirty="0">
                <a:solidFill>
                  <a:srgbClr val="334155"/>
                </a:solidFill>
                <a:latin typeface="Calibri" pitchFamily="34" charset="0"/>
                <a:ea typeface="Calibri" pitchFamily="34" charset="-122"/>
                <a:cs typeface="Calibri" pitchFamily="34" charset="-120"/>
              </a:rPr>
              <a:t>root user</a:t>
            </a:r>
            <a:endParaRPr lang="en-US" sz="1300" dirty="0"/>
          </a:p>
          <a:p>
            <a:pPr marL="342900" indent="-342900">
              <a:spcAft>
                <a:spcPts val="400"/>
              </a:spcAft>
              <a:buSzPct val="100000"/>
              <a:buChar char="■"/>
            </a:pPr>
            <a:r>
              <a:rPr lang="en-US" sz="1300" dirty="0">
                <a:solidFill>
                  <a:srgbClr val="334155"/>
                </a:solidFill>
                <a:latin typeface="Calibri" pitchFamily="34" charset="0"/>
                <a:ea typeface="Calibri" pitchFamily="34" charset="-122"/>
                <a:cs typeface="Calibri" pitchFamily="34" charset="-120"/>
              </a:rPr>
              <a:t>host PID / network / IPC</a:t>
            </a:r>
            <a:endParaRPr lang="en-US" sz="1300" dirty="0"/>
          </a:p>
          <a:p>
            <a:pPr marL="342900" indent="-342900">
              <a:spcAft>
                <a:spcPts val="400"/>
              </a:spcAft>
              <a:buSzPct val="100000"/>
              <a:buChar char="■"/>
            </a:pPr>
            <a:r>
              <a:rPr lang="en-US" sz="1300" dirty="0">
                <a:solidFill>
                  <a:srgbClr val="334155"/>
                </a:solidFill>
                <a:latin typeface="Calibri" pitchFamily="34" charset="0"/>
                <a:ea typeface="Calibri" pitchFamily="34" charset="-122"/>
                <a:cs typeface="Calibri" pitchFamily="34" charset="-120"/>
              </a:rPr>
              <a:t>seccomp profile present</a:t>
            </a:r>
            <a:endParaRPr lang="en-US" sz="1300" dirty="0"/>
          </a:p>
          <a:p>
            <a:pPr marL="342900" indent="-342900">
              <a:spcAft>
                <a:spcPts val="400"/>
              </a:spcAft>
              <a:buSzPct val="100000"/>
              <a:buChar char="■"/>
            </a:pPr>
            <a:r>
              <a:rPr lang="en-US" sz="1300" dirty="0">
                <a:solidFill>
                  <a:srgbClr val="334155"/>
                </a:solidFill>
                <a:latin typeface="Calibri" pitchFamily="34" charset="0"/>
                <a:ea typeface="Calibri" pitchFamily="34" charset="-122"/>
                <a:cs typeface="Calibri" pitchFamily="34" charset="-120"/>
              </a:rPr>
              <a:t>dangerous capabilities</a:t>
            </a:r>
            <a:endParaRPr lang="en-US" sz="1300" dirty="0"/>
          </a:p>
          <a:p>
            <a:pPr marL="342900" indent="-342900">
              <a:spcAft>
                <a:spcPts val="400"/>
              </a:spcAft>
              <a:buSzPct val="100000"/>
              <a:buChar char="■"/>
            </a:pPr>
            <a:r>
              <a:rPr lang="en-US" sz="1300" dirty="0">
                <a:solidFill>
                  <a:srgbClr val="334155"/>
                </a:solidFill>
                <a:latin typeface="Calibri" pitchFamily="34" charset="0"/>
                <a:ea typeface="Calibri" pitchFamily="34" charset="-122"/>
                <a:cs typeface="Calibri" pitchFamily="34" charset="-120"/>
              </a:rPr>
              <a:t>read-only root filesystem</a:t>
            </a:r>
            <a:endParaRPr lang="en-US" sz="1300" dirty="0"/>
          </a:p>
        </p:txBody>
      </p:sp>
      <p:sp>
        <p:nvSpPr>
          <p:cNvPr id="10" name="Text 8"/>
          <p:cNvSpPr/>
          <p:nvPr/>
        </p:nvSpPr>
        <p:spPr>
          <a:xfrm>
            <a:off x="868680" y="5074920"/>
            <a:ext cx="4937760" cy="411480"/>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  Equivalent to existing admission controllers; provides the baseline.</a:t>
            </a:r>
            <a:endParaRPr lang="en-US" sz="1100" dirty="0"/>
          </a:p>
        </p:txBody>
      </p:sp>
      <p:sp>
        <p:nvSpPr>
          <p:cNvPr id="11" name="Shape 9"/>
          <p:cNvSpPr/>
          <p:nvPr/>
        </p:nvSpPr>
        <p:spPr>
          <a:xfrm>
            <a:off x="6309360" y="1920240"/>
            <a:ext cx="5303520" cy="3657600"/>
          </a:xfrm>
          <a:prstGeom prst="roundRect">
            <a:avLst>
              <a:gd name="adj" fmla="val 2000"/>
            </a:avLst>
          </a:prstGeom>
          <a:solidFill>
            <a:srgbClr val="ECFEFF"/>
          </a:solidFill>
          <a:ln w="6350">
            <a:solidFill>
              <a:srgbClr val="E2E8F0"/>
            </a:solidFill>
            <a:prstDash val="solid"/>
          </a:ln>
          <a:effectLst>
            <a:outerShdw sx="100000" sy="100000" kx="0" ky="0" algn="bl" rotWithShape="0" blurRad="101600" dist="25400" dir="5400000">
              <a:srgbClr val="000000">
                <a:alpha val="6000"/>
              </a:srgbClr>
            </a:outerShdw>
          </a:effectLst>
        </p:spPr>
      </p:sp>
      <p:sp>
        <p:nvSpPr>
          <p:cNvPr id="12" name="Text 10"/>
          <p:cNvSpPr/>
          <p:nvPr/>
        </p:nvSpPr>
        <p:spPr>
          <a:xfrm>
            <a:off x="6537960" y="2057400"/>
            <a:ext cx="4937760" cy="274320"/>
          </a:xfrm>
          <a:prstGeom prst="rect">
            <a:avLst/>
          </a:prstGeom>
          <a:noFill/>
          <a:ln/>
        </p:spPr>
        <p:txBody>
          <a:bodyPr wrap="square" rtlCol="0" anchor="ctr"/>
          <a:lstStyle/>
          <a:p>
            <a:pPr indent="0" marL="0">
              <a:buNone/>
            </a:pPr>
            <a:r>
              <a:rPr lang="en-US" sz="1100" b="1" i="1" dirty="0">
                <a:solidFill>
                  <a:srgbClr val="0E7490"/>
                </a:solidFill>
                <a:latin typeface="Calibri" pitchFamily="34" charset="0"/>
                <a:ea typeface="Calibri" pitchFamily="34" charset="-122"/>
                <a:cs typeface="Calibri" pitchFamily="34" charset="-120"/>
              </a:rPr>
              <a:t>Reads K8s API  +  container runtime</a:t>
            </a:r>
            <a:endParaRPr lang="en-US" sz="1100" dirty="0"/>
          </a:p>
        </p:txBody>
      </p:sp>
      <p:sp>
        <p:nvSpPr>
          <p:cNvPr id="13" name="Text 11"/>
          <p:cNvSpPr/>
          <p:nvPr/>
        </p:nvSpPr>
        <p:spPr>
          <a:xfrm>
            <a:off x="6537960" y="2331720"/>
            <a:ext cx="4937760" cy="36576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7 field-by-field comparisons</a:t>
            </a:r>
            <a:endParaRPr lang="en-US" sz="1400" dirty="0"/>
          </a:p>
        </p:txBody>
      </p:sp>
      <p:sp>
        <p:nvSpPr>
          <p:cNvPr id="14" name="Text 12"/>
          <p:cNvSpPr/>
          <p:nvPr/>
        </p:nvSpPr>
        <p:spPr>
          <a:xfrm>
            <a:off x="6720840" y="2788920"/>
            <a:ext cx="4754880" cy="2194560"/>
          </a:xfrm>
          <a:prstGeom prst="rect">
            <a:avLst/>
          </a:prstGeom>
          <a:noFill/>
          <a:ln/>
        </p:spPr>
        <p:txBody>
          <a:bodyPr wrap="square" rtlCol="0" anchor="ctr"/>
          <a:lstStyle/>
          <a:p>
            <a:pPr marL="342900" indent="-342900">
              <a:spcAft>
                <a:spcPts val="400"/>
              </a:spcAft>
              <a:buSzPct val="100000"/>
              <a:buChar char="●"/>
            </a:pPr>
            <a:r>
              <a:rPr lang="en-US" sz="1300" dirty="0">
                <a:solidFill>
                  <a:srgbClr val="334155"/>
                </a:solidFill>
                <a:latin typeface="Calibri" pitchFamily="34" charset="0"/>
                <a:ea typeface="Calibri" pitchFamily="34" charset="-122"/>
                <a:cs typeface="Calibri" pitchFamily="34" charset="-120"/>
              </a:rPr>
              <a:t>privileged mode</a:t>
            </a:r>
            <a:endParaRPr lang="en-US" sz="1300" dirty="0"/>
          </a:p>
          <a:p>
            <a:pPr marL="342900" indent="-342900">
              <a:spcAft>
                <a:spcPts val="400"/>
              </a:spcAft>
              <a:buSzPct val="100000"/>
              <a:buChar char="●"/>
            </a:pPr>
            <a:r>
              <a:rPr lang="en-US" sz="1300" dirty="0">
                <a:solidFill>
                  <a:srgbClr val="334155"/>
                </a:solidFill>
                <a:latin typeface="Calibri" pitchFamily="34" charset="0"/>
                <a:ea typeface="Calibri" pitchFamily="34" charset="-122"/>
                <a:cs typeface="Calibri" pitchFamily="34" charset="-120"/>
              </a:rPr>
              <a:t>user identity (UID/GID)</a:t>
            </a:r>
            <a:endParaRPr lang="en-US" sz="1300" dirty="0"/>
          </a:p>
          <a:p>
            <a:pPr marL="342900" indent="-342900">
              <a:spcAft>
                <a:spcPts val="400"/>
              </a:spcAft>
              <a:buSzPct val="100000"/>
              <a:buChar char="●"/>
            </a:pPr>
            <a:r>
              <a:rPr lang="en-US" sz="1300" dirty="0">
                <a:solidFill>
                  <a:srgbClr val="334155"/>
                </a:solidFill>
                <a:latin typeface="Calibri" pitchFamily="34" charset="0"/>
                <a:ea typeface="Calibri" pitchFamily="34" charset="-122"/>
                <a:cs typeface="Calibri" pitchFamily="34" charset="-120"/>
              </a:rPr>
              <a:t>Linux capabilities  (effective vs declared)</a:t>
            </a:r>
            <a:endParaRPr lang="en-US" sz="1300" dirty="0"/>
          </a:p>
          <a:p>
            <a:pPr marL="342900" indent="-342900">
              <a:spcAft>
                <a:spcPts val="400"/>
              </a:spcAft>
              <a:buSzPct val="100000"/>
              <a:buChar char="●"/>
            </a:pPr>
            <a:r>
              <a:rPr lang="en-US" sz="1300" dirty="0">
                <a:solidFill>
                  <a:srgbClr val="334155"/>
                </a:solidFill>
                <a:latin typeface="Calibri" pitchFamily="34" charset="0"/>
                <a:ea typeface="Calibri" pitchFamily="34" charset="-122"/>
                <a:cs typeface="Calibri" pitchFamily="34" charset="-120"/>
              </a:rPr>
              <a:t>seccomp profile</a:t>
            </a:r>
            <a:endParaRPr lang="en-US" sz="1300" dirty="0"/>
          </a:p>
          <a:p>
            <a:pPr marL="342900" indent="-342900">
              <a:spcAft>
                <a:spcPts val="400"/>
              </a:spcAft>
              <a:buSzPct val="100000"/>
              <a:buChar char="●"/>
            </a:pPr>
            <a:r>
              <a:rPr lang="en-US" sz="1300" dirty="0">
                <a:solidFill>
                  <a:srgbClr val="334155"/>
                </a:solidFill>
                <a:latin typeface="Calibri" pitchFamily="34" charset="0"/>
                <a:ea typeface="Calibri" pitchFamily="34" charset="-122"/>
                <a:cs typeface="Calibri" pitchFamily="34" charset="-120"/>
              </a:rPr>
              <a:t>read-only rootfs  +  no-new-privileges</a:t>
            </a:r>
            <a:endParaRPr lang="en-US" sz="1300" dirty="0"/>
          </a:p>
          <a:p>
            <a:pPr marL="342900" indent="-342900">
              <a:spcAft>
                <a:spcPts val="400"/>
              </a:spcAft>
              <a:buSzPct val="100000"/>
              <a:buChar char="●"/>
            </a:pPr>
            <a:r>
              <a:rPr lang="en-US" sz="1300" dirty="0">
                <a:solidFill>
                  <a:srgbClr val="334155"/>
                </a:solidFill>
                <a:latin typeface="Calibri" pitchFamily="34" charset="0"/>
                <a:ea typeface="Calibri" pitchFamily="34" charset="-122"/>
                <a:cs typeface="Calibri" pitchFamily="34" charset="-120"/>
              </a:rPr>
              <a:t>host namespaces (PID / network / IPC)</a:t>
            </a:r>
            <a:endParaRPr lang="en-US" sz="1300" dirty="0"/>
          </a:p>
        </p:txBody>
      </p:sp>
      <p:sp>
        <p:nvSpPr>
          <p:cNvPr id="15" name="Text 13"/>
          <p:cNvSpPr/>
          <p:nvPr/>
        </p:nvSpPr>
        <p:spPr>
          <a:xfrm>
            <a:off x="6537960" y="5074920"/>
            <a:ext cx="4937760" cy="411480"/>
          </a:xfrm>
          <a:prstGeom prst="rect">
            <a:avLst/>
          </a:prstGeom>
          <a:noFill/>
          <a:ln/>
        </p:spPr>
        <p:txBody>
          <a:bodyPr wrap="square" rtlCol="0" anchor="ctr"/>
          <a:lstStyle/>
          <a:p>
            <a:pPr indent="0" marL="0">
              <a:buNone/>
            </a:pPr>
            <a:r>
              <a:rPr lang="en-US" sz="1100" i="1" dirty="0">
                <a:solidFill>
                  <a:srgbClr val="0E7490"/>
                </a:solidFill>
                <a:latin typeface="Calibri" pitchFamily="34" charset="0"/>
                <a:ea typeface="Calibri" pitchFamily="34" charset="-122"/>
                <a:cs typeface="Calibri" pitchFamily="34" charset="-120"/>
              </a:rPr>
              <a:t>→  Three severity classes: CRITICAL · WARNING · INFO</a:t>
            </a:r>
            <a:endParaRPr lang="en-US" sz="1100" dirty="0"/>
          </a:p>
        </p:txBody>
      </p:sp>
      <p:sp>
        <p:nvSpPr>
          <p:cNvPr id="16" name="Shape 14"/>
          <p:cNvSpPr/>
          <p:nvPr/>
        </p:nvSpPr>
        <p:spPr>
          <a:xfrm>
            <a:off x="640080" y="5760720"/>
            <a:ext cx="10972800" cy="640080"/>
          </a:xfrm>
          <a:prstGeom prst="roundRect">
            <a:avLst>
              <a:gd name="adj" fmla="val 11429"/>
            </a:avLst>
          </a:prstGeom>
          <a:solidFill>
            <a:srgbClr val="0F172A"/>
          </a:solidFill>
          <a:ln w="12700">
            <a:solidFill>
              <a:srgbClr val="0F172A"/>
            </a:solidFill>
            <a:prstDash val="solid"/>
          </a:ln>
        </p:spPr>
      </p:sp>
      <p:sp>
        <p:nvSpPr>
          <p:cNvPr id="17" name="Text 15"/>
          <p:cNvSpPr/>
          <p:nvPr/>
        </p:nvSpPr>
        <p:spPr>
          <a:xfrm>
            <a:off x="914400" y="5760720"/>
            <a:ext cx="10515600" cy="640080"/>
          </a:xfrm>
          <a:prstGeom prst="rect">
            <a:avLst/>
          </a:prstGeom>
          <a:noFill/>
          <a:ln/>
        </p:spPr>
        <p:txBody>
          <a:bodyPr wrap="square" lIns="0" tIns="0" rIns="0" bIns="0" rtlCol="0" anchor="ctr"/>
          <a:lstStyle/>
          <a:p>
            <a:pPr indent="0" marL="0">
              <a:buNone/>
            </a:pPr>
            <a:r>
              <a:rPr lang="en-US" sz="1300" b="1" dirty="0">
                <a:solidFill>
                  <a:srgbClr val="06B6D4"/>
                </a:solidFill>
                <a:latin typeface="Calibri" pitchFamily="34" charset="0"/>
                <a:ea typeface="Calibri" pitchFamily="34" charset="-122"/>
                <a:cs typeface="Calibri" pitchFamily="34" charset="-120"/>
              </a:rPr>
              <a:t>DaemonSet · </a:t>
            </a:r>
            <a:pPr indent="0" marL="0">
              <a:buNone/>
            </a:pPr>
            <a:r>
              <a:rPr lang="en-US" sz="1300" dirty="0">
                <a:solidFill>
                  <a:srgbClr val="FFFFFF"/>
                </a:solidFill>
                <a:latin typeface="Calibri" pitchFamily="34" charset="0"/>
                <a:ea typeface="Calibri" pitchFamily="34" charset="-122"/>
                <a:cs typeface="Calibri" pitchFamily="34" charset="-120"/>
              </a:rPr>
              <a:t>one scanner pod per node · </a:t>
            </a:r>
            <a:pPr indent="0" marL="0">
              <a:buNone/>
            </a:pPr>
            <a:r>
              <a:rPr lang="en-US" sz="1300" b="1" dirty="0">
                <a:solidFill>
                  <a:srgbClr val="06B6D4"/>
                </a:solidFill>
                <a:latin typeface="Calibri" pitchFamily="34" charset="0"/>
                <a:ea typeface="Calibri" pitchFamily="34" charset="-122"/>
                <a:cs typeface="Calibri" pitchFamily="34" charset="-120"/>
              </a:rPr>
              <a:t>read-only access </a:t>
            </a:r>
            <a:pPr indent="0" marL="0">
              <a:buNone/>
            </a:pPr>
            <a:r>
              <a:rPr lang="en-US" sz="1300" dirty="0">
                <a:solidFill>
                  <a:srgbClr val="FFFFFF"/>
                </a:solidFill>
                <a:latin typeface="Calibri" pitchFamily="34" charset="0"/>
                <a:ea typeface="Calibri" pitchFamily="34" charset="-122"/>
                <a:cs typeface="Calibri" pitchFamily="34" charset="-120"/>
              </a:rPr>
              <a:t>to K8s API + Docker/containerd socket · </a:t>
            </a:r>
            <a:pPr indent="0" marL="0">
              <a:buNone/>
            </a:pPr>
            <a:r>
              <a:rPr lang="en-US" sz="1300" dirty="0">
                <a:solidFill>
                  <a:srgbClr val="FFFFFF"/>
                </a:solidFill>
                <a:latin typeface="Calibri" pitchFamily="34" charset="0"/>
                <a:ea typeface="Calibri" pitchFamily="34" charset="-122"/>
                <a:cs typeface="Calibri" pitchFamily="34" charset="-120"/>
              </a:rPr>
              <a:t>configurable 60 s scan interval</a:t>
            </a:r>
            <a:endParaRPr lang="en-US" sz="1300" dirty="0"/>
          </a:p>
        </p:txBody>
      </p:sp>
      <p:sp>
        <p:nvSpPr>
          <p:cNvPr id="18" name="Text 16"/>
          <p:cNvSpPr/>
          <p:nvPr/>
        </p:nvSpPr>
        <p:spPr>
          <a:xfrm>
            <a:off x="457200" y="6492240"/>
            <a:ext cx="5486400" cy="27432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Yehia Sobeh  ·  Innopolis University 2026</a:t>
            </a:r>
            <a:endParaRPr lang="en-US" sz="1000" dirty="0"/>
          </a:p>
        </p:txBody>
      </p:sp>
      <p:sp>
        <p:nvSpPr>
          <p:cNvPr id="19" name="Text 17"/>
          <p:cNvSpPr/>
          <p:nvPr/>
        </p:nvSpPr>
        <p:spPr>
          <a:xfrm>
            <a:off x="10789920" y="6492240"/>
            <a:ext cx="9144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 / 14</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57200"/>
            <a:ext cx="10972800" cy="274320"/>
          </a:xfrm>
          <a:prstGeom prst="rect">
            <a:avLst/>
          </a:prstGeom>
          <a:noFill/>
          <a:ln/>
        </p:spPr>
        <p:txBody>
          <a:bodyPr wrap="square" rtlCol="0" anchor="ctr"/>
          <a:lstStyle/>
          <a:p>
            <a:pPr indent="0" marL="0">
              <a:buNone/>
            </a:pPr>
            <a:r>
              <a:rPr lang="en-US" sz="1100" b="1" spc="400" kern="0" dirty="0">
                <a:solidFill>
                  <a:srgbClr val="06B6D4"/>
                </a:solidFill>
                <a:latin typeface="Calibri" pitchFamily="34" charset="0"/>
                <a:ea typeface="Calibri" pitchFamily="34" charset="-122"/>
                <a:cs typeface="Calibri" pitchFamily="34" charset="-120"/>
              </a:rPr>
              <a:t>DESIGN DETAILS</a:t>
            </a:r>
            <a:endParaRPr lang="en-US" sz="1100" dirty="0"/>
          </a:p>
        </p:txBody>
      </p:sp>
      <p:sp>
        <p:nvSpPr>
          <p:cNvPr id="3" name="Text 1"/>
          <p:cNvSpPr/>
          <p:nvPr/>
        </p:nvSpPr>
        <p:spPr>
          <a:xfrm>
            <a:off x="640080" y="777240"/>
            <a:ext cx="10972800" cy="45720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Two design problems that make Layer 2 actually work</a:t>
            </a:r>
            <a:endParaRPr lang="en-US" sz="2200" dirty="0"/>
          </a:p>
        </p:txBody>
      </p:sp>
      <p:sp>
        <p:nvSpPr>
          <p:cNvPr id="4" name="Shape 2"/>
          <p:cNvSpPr/>
          <p:nvPr/>
        </p:nvSpPr>
        <p:spPr>
          <a:xfrm>
            <a:off x="640080" y="1554480"/>
            <a:ext cx="5394960" cy="4754880"/>
          </a:xfrm>
          <a:prstGeom prst="roundRect">
            <a:avLst>
              <a:gd name="adj" fmla="val 1538"/>
            </a:avLst>
          </a:prstGeom>
          <a:solidFill>
            <a:srgbClr val="FFFFFF"/>
          </a:solidFill>
          <a:ln w="6350">
            <a:solidFill>
              <a:srgbClr val="E2E8F0"/>
            </a:solidFill>
            <a:prstDash val="solid"/>
          </a:ln>
          <a:effectLst>
            <a:outerShdw sx="100000" sy="100000" kx="0" ky="0" algn="bl" rotWithShape="0" blurRad="101600" dist="25400" dir="5400000">
              <a:srgbClr val="000000">
                <a:alpha val="6000"/>
              </a:srgbClr>
            </a:outerShdw>
          </a:effectLst>
        </p:spPr>
      </p:sp>
      <p:sp>
        <p:nvSpPr>
          <p:cNvPr id="5" name="Text 3"/>
          <p:cNvSpPr/>
          <p:nvPr/>
        </p:nvSpPr>
        <p:spPr>
          <a:xfrm>
            <a:off x="868680" y="1691640"/>
            <a:ext cx="5029200" cy="36576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1.  Capability normalization</a:t>
            </a:r>
            <a:endParaRPr lang="en-US" sz="1600" dirty="0"/>
          </a:p>
        </p:txBody>
      </p:sp>
      <p:sp>
        <p:nvSpPr>
          <p:cNvPr id="6" name="Text 4"/>
          <p:cNvSpPr/>
          <p:nvPr/>
        </p:nvSpPr>
        <p:spPr>
          <a:xfrm>
            <a:off x="868680" y="2103120"/>
            <a:ext cx="4937760" cy="86868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Problem: the runtime grants 14 default capabilities to every non-privileged container. A naive comparison emits 14 false positives per pod.</a:t>
            </a:r>
            <a:endParaRPr lang="en-US" sz="1200" dirty="0"/>
          </a:p>
        </p:txBody>
      </p:sp>
      <p:sp>
        <p:nvSpPr>
          <p:cNvPr id="7" name="Shape 5"/>
          <p:cNvSpPr/>
          <p:nvPr/>
        </p:nvSpPr>
        <p:spPr>
          <a:xfrm>
            <a:off x="868680" y="3108960"/>
            <a:ext cx="4937760" cy="2011680"/>
          </a:xfrm>
          <a:prstGeom prst="roundRect">
            <a:avLst>
              <a:gd name="adj" fmla="val 2273"/>
            </a:avLst>
          </a:prstGeom>
          <a:solidFill>
            <a:srgbClr val="0F172A"/>
          </a:solidFill>
          <a:ln w="12700">
            <a:solidFill>
              <a:srgbClr val="0F172A"/>
            </a:solidFill>
            <a:prstDash val="solid"/>
          </a:ln>
        </p:spPr>
      </p:sp>
      <p:sp>
        <p:nvSpPr>
          <p:cNvPr id="8" name="Text 6"/>
          <p:cNvSpPr/>
          <p:nvPr/>
        </p:nvSpPr>
        <p:spPr>
          <a:xfrm>
            <a:off x="1005840" y="3200400"/>
            <a:ext cx="4572000" cy="256032"/>
          </a:xfrm>
          <a:prstGeom prst="rect">
            <a:avLst/>
          </a:prstGeom>
          <a:noFill/>
          <a:ln/>
        </p:spPr>
        <p:txBody>
          <a:bodyPr wrap="square" rtlCol="0" anchor="ctr"/>
          <a:lstStyle/>
          <a:p>
            <a:pPr indent="0" marL="0">
              <a:buNone/>
            </a:pPr>
            <a:r>
              <a:rPr lang="en-US" sz="1000" b="1" spc="300" kern="0" dirty="0">
                <a:solidFill>
                  <a:srgbClr val="06B6D4"/>
                </a:solidFill>
                <a:latin typeface="Calibri" pitchFamily="34" charset="0"/>
                <a:ea typeface="Calibri" pitchFamily="34" charset="-122"/>
                <a:cs typeface="Calibri" pitchFamily="34" charset="-120"/>
              </a:rPr>
              <a:t>ALGORITHM</a:t>
            </a:r>
            <a:endParaRPr lang="en-US" sz="1000" dirty="0"/>
          </a:p>
        </p:txBody>
      </p:sp>
      <p:sp>
        <p:nvSpPr>
          <p:cNvPr id="9" name="Text 7"/>
          <p:cNvSpPr/>
          <p:nvPr/>
        </p:nvSpPr>
        <p:spPr>
          <a:xfrm>
            <a:off x="1005840" y="3474720"/>
            <a:ext cx="4663440" cy="1600200"/>
          </a:xfrm>
          <a:prstGeom prst="rect">
            <a:avLst/>
          </a:prstGeom>
          <a:noFill/>
          <a:ln/>
        </p:spPr>
        <p:txBody>
          <a:bodyPr wrap="square" lIns="0" tIns="0" rIns="0" bIns="0" rtlCol="0" anchor="t"/>
          <a:lstStyle/>
          <a:p>
            <a:pPr indent="0" marL="0">
              <a:buNone/>
            </a:pPr>
            <a:r>
              <a:rPr lang="en-US" sz="1100" dirty="0">
                <a:solidFill>
                  <a:srgbClr val="06B6D4"/>
                </a:solidFill>
                <a:latin typeface="Consolas" pitchFamily="34" charset="0"/>
                <a:ea typeface="Consolas" pitchFamily="34" charset="-122"/>
                <a:cs typeface="Consolas" pitchFamily="34" charset="-120"/>
              </a:rPr>
              <a:t>compute_expected(add, drop):</a:t>
            </a:r>
            <a:endParaRPr lang="en-US" sz="1100" dirty="0"/>
          </a:p>
          <a:p>
            <a:pPr indent="0" marL="0">
              <a:buNone/>
            </a:pPr>
            <a:r>
              <a:rPr lang="en-US" sz="1100" dirty="0">
                <a:solidFill>
                  <a:srgbClr val="CBD5E1"/>
                </a:solidFill>
                <a:latin typeface="Consolas" pitchFamily="34" charset="0"/>
                <a:ea typeface="Consolas" pitchFamily="34" charset="-122"/>
                <a:cs typeface="Consolas" pitchFamily="34" charset="-120"/>
              </a:rPr>
              <a:t>  if "ALL" in drop:</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expected = ∅</a:t>
            </a:r>
            <a:endParaRPr lang="en-US" sz="1100" dirty="0"/>
          </a:p>
          <a:p>
            <a:pPr indent="0" marL="0">
              <a:buNone/>
            </a:pPr>
            <a:r>
              <a:rPr lang="en-US" sz="1100" dirty="0">
                <a:solidFill>
                  <a:srgbClr val="CBD5E1"/>
                </a:solidFill>
                <a:latin typeface="Consolas" pitchFamily="34" charset="0"/>
                <a:ea typeface="Consolas" pitchFamily="34" charset="-122"/>
                <a:cs typeface="Consolas" pitchFamily="34" charset="-120"/>
              </a:rPr>
              <a:t>  else:</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expected = DEFAULTS − drop</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expected = expected ∪ add</a:t>
            </a:r>
            <a:endParaRPr lang="en-US" sz="1100" dirty="0"/>
          </a:p>
          <a:p>
            <a:pPr indent="0" marL="0">
              <a:buNone/>
            </a:pPr>
            <a:r>
              <a:rPr lang="en-US" sz="1100" dirty="0">
                <a:solidFill>
                  <a:srgbClr val="FFFFFF"/>
                </a:solidFill>
                <a:latin typeface="Consolas" pitchFamily="34" charset="0"/>
                <a:ea typeface="Consolas" pitchFamily="34" charset="-122"/>
                <a:cs typeface="Consolas" pitchFamily="34" charset="-120"/>
              </a:rPr>
              <a:t>  return expected</a:t>
            </a:r>
            <a:endParaRPr lang="en-US" sz="1100" dirty="0"/>
          </a:p>
        </p:txBody>
      </p:sp>
      <p:sp>
        <p:nvSpPr>
          <p:cNvPr id="10" name="Text 8"/>
          <p:cNvSpPr/>
          <p:nvPr/>
        </p:nvSpPr>
        <p:spPr>
          <a:xfrm>
            <a:off x="868680" y="5257800"/>
            <a:ext cx="4937760" cy="96012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Privileged mode grants all 41 capabilities — and the algorithm deliberately flags the 27 extras as WARNING.</a:t>
            </a:r>
            <a:endParaRPr lang="en-US" sz="1100" dirty="0"/>
          </a:p>
        </p:txBody>
      </p:sp>
      <p:sp>
        <p:nvSpPr>
          <p:cNvPr id="11" name="Shape 9"/>
          <p:cNvSpPr/>
          <p:nvPr/>
        </p:nvSpPr>
        <p:spPr>
          <a:xfrm>
            <a:off x="6217920" y="1554480"/>
            <a:ext cx="5394960" cy="4754880"/>
          </a:xfrm>
          <a:prstGeom prst="roundRect">
            <a:avLst>
              <a:gd name="adj" fmla="val 1538"/>
            </a:avLst>
          </a:prstGeom>
          <a:solidFill>
            <a:srgbClr val="FFFFFF"/>
          </a:solidFill>
          <a:ln w="6350">
            <a:solidFill>
              <a:srgbClr val="E2E8F0"/>
            </a:solidFill>
            <a:prstDash val="solid"/>
          </a:ln>
          <a:effectLst>
            <a:outerShdw sx="100000" sy="100000" kx="0" ky="0" algn="bl" rotWithShape="0" blurRad="101600" dist="25400" dir="5400000">
              <a:srgbClr val="000000">
                <a:alpha val="6000"/>
              </a:srgbClr>
            </a:outerShdw>
          </a:effectLst>
        </p:spPr>
      </p:sp>
      <p:sp>
        <p:nvSpPr>
          <p:cNvPr id="12" name="Text 10"/>
          <p:cNvSpPr/>
          <p:nvPr/>
        </p:nvSpPr>
        <p:spPr>
          <a:xfrm>
            <a:off x="6446520" y="1691640"/>
            <a:ext cx="5029200" cy="365760"/>
          </a:xfrm>
          <a:prstGeom prst="rect">
            <a:avLst/>
          </a:prstGeom>
          <a:noFill/>
          <a:ln/>
        </p:spPr>
        <p:txBody>
          <a:bodyPr wrap="square"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2.  Seccomp decision logic</a:t>
            </a:r>
            <a:endParaRPr lang="en-US" sz="1600" dirty="0"/>
          </a:p>
        </p:txBody>
      </p:sp>
      <p:sp>
        <p:nvSpPr>
          <p:cNvPr id="13" name="Text 11"/>
          <p:cNvSpPr/>
          <p:nvPr/>
        </p:nvSpPr>
        <p:spPr>
          <a:xfrm>
            <a:off x="6446520" y="2103120"/>
            <a:ext cx="4937760" cy="457200"/>
          </a:xfrm>
          <a:prstGeom prst="rect">
            <a:avLst/>
          </a:prstGeom>
          <a:noFill/>
          <a:ln/>
        </p:spPr>
        <p:txBody>
          <a:bodyPr wrap="square" lIns="0" tIns="0" rIns="0" bIns="0" rtlCol="0" anchor="ctr"/>
          <a:lstStyle/>
          <a:p>
            <a:pPr indent="0" marL="0">
              <a:buNone/>
            </a:pPr>
            <a:r>
              <a:rPr lang="en-US" sz="1200" dirty="0">
                <a:solidFill>
                  <a:srgbClr val="334155"/>
                </a:solidFill>
                <a:latin typeface="Calibri" pitchFamily="34" charset="0"/>
                <a:ea typeface="Calibri" pitchFamily="34" charset="-122"/>
                <a:cs typeface="Calibri" pitchFamily="34" charset="-120"/>
              </a:rPr>
              <a:t>Three rules govern when a seccomp mismatch is CRITICAL vs benign INFO:</a:t>
            </a:r>
            <a:endParaRPr lang="en-US" sz="1200" dirty="0"/>
          </a:p>
        </p:txBody>
      </p:sp>
      <p:sp>
        <p:nvSpPr>
          <p:cNvPr id="14" name="Shape 12"/>
          <p:cNvSpPr/>
          <p:nvPr/>
        </p:nvSpPr>
        <p:spPr>
          <a:xfrm>
            <a:off x="6446520" y="2697480"/>
            <a:ext cx="1188720" cy="457200"/>
          </a:xfrm>
          <a:prstGeom prst="roundRect">
            <a:avLst>
              <a:gd name="adj" fmla="val 10000"/>
            </a:avLst>
          </a:prstGeom>
          <a:solidFill>
            <a:srgbClr val="DC2626"/>
          </a:solidFill>
          <a:ln w="12700">
            <a:solidFill>
              <a:srgbClr val="DC2626"/>
            </a:solidFill>
            <a:prstDash val="solid"/>
          </a:ln>
        </p:spPr>
      </p:sp>
      <p:sp>
        <p:nvSpPr>
          <p:cNvPr id="15" name="Text 13"/>
          <p:cNvSpPr/>
          <p:nvPr/>
        </p:nvSpPr>
        <p:spPr>
          <a:xfrm>
            <a:off x="6446520" y="2697480"/>
            <a:ext cx="118872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CRITICAL</a:t>
            </a:r>
            <a:endParaRPr lang="en-US" sz="1100" dirty="0"/>
          </a:p>
        </p:txBody>
      </p:sp>
      <p:sp>
        <p:nvSpPr>
          <p:cNvPr id="16" name="Text 14"/>
          <p:cNvSpPr/>
          <p:nvPr/>
        </p:nvSpPr>
        <p:spPr>
          <a:xfrm>
            <a:off x="7772400" y="2651760"/>
            <a:ext cx="3749040" cy="6400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Spec declares RuntimeDefault or Localhost  →  runtime has no filter</a:t>
            </a:r>
            <a:endParaRPr lang="en-US" sz="1200" dirty="0"/>
          </a:p>
        </p:txBody>
      </p:sp>
      <p:sp>
        <p:nvSpPr>
          <p:cNvPr id="17" name="Shape 15"/>
          <p:cNvSpPr/>
          <p:nvPr/>
        </p:nvSpPr>
        <p:spPr>
          <a:xfrm>
            <a:off x="6446520" y="3794760"/>
            <a:ext cx="1188720" cy="457200"/>
          </a:xfrm>
          <a:prstGeom prst="roundRect">
            <a:avLst>
              <a:gd name="adj" fmla="val 10000"/>
            </a:avLst>
          </a:prstGeom>
          <a:solidFill>
            <a:srgbClr val="06B6D4"/>
          </a:solidFill>
          <a:ln w="12700">
            <a:solidFill>
              <a:srgbClr val="06B6D4"/>
            </a:solidFill>
            <a:prstDash val="solid"/>
          </a:ln>
        </p:spPr>
      </p:sp>
      <p:sp>
        <p:nvSpPr>
          <p:cNvPr id="18" name="Text 16"/>
          <p:cNvSpPr/>
          <p:nvPr/>
        </p:nvSpPr>
        <p:spPr>
          <a:xfrm>
            <a:off x="6446520" y="3794760"/>
            <a:ext cx="118872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INFO</a:t>
            </a:r>
            <a:endParaRPr lang="en-US" sz="1100" dirty="0"/>
          </a:p>
        </p:txBody>
      </p:sp>
      <p:sp>
        <p:nvSpPr>
          <p:cNvPr id="19" name="Text 17"/>
          <p:cNvSpPr/>
          <p:nvPr/>
        </p:nvSpPr>
        <p:spPr>
          <a:xfrm>
            <a:off x="7772400" y="3749040"/>
            <a:ext cx="3749040" cy="6400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Spec declares Unconfined  →  runtime applies a default profile</a:t>
            </a:r>
            <a:endParaRPr lang="en-US" sz="1200" dirty="0"/>
          </a:p>
        </p:txBody>
      </p:sp>
      <p:sp>
        <p:nvSpPr>
          <p:cNvPr id="20" name="Shape 18"/>
          <p:cNvSpPr/>
          <p:nvPr/>
        </p:nvSpPr>
        <p:spPr>
          <a:xfrm>
            <a:off x="6446520" y="4892040"/>
            <a:ext cx="1188720" cy="457200"/>
          </a:xfrm>
          <a:prstGeom prst="roundRect">
            <a:avLst>
              <a:gd name="adj" fmla="val 10000"/>
            </a:avLst>
          </a:prstGeom>
          <a:solidFill>
            <a:srgbClr val="059669"/>
          </a:solidFill>
          <a:ln w="12700">
            <a:solidFill>
              <a:srgbClr val="059669"/>
            </a:solidFill>
            <a:prstDash val="solid"/>
          </a:ln>
        </p:spPr>
      </p:sp>
      <p:sp>
        <p:nvSpPr>
          <p:cNvPr id="21" name="Text 19"/>
          <p:cNvSpPr/>
          <p:nvPr/>
        </p:nvSpPr>
        <p:spPr>
          <a:xfrm>
            <a:off x="6446520" y="4892040"/>
            <a:ext cx="1188720"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2" name="Text 20"/>
          <p:cNvSpPr/>
          <p:nvPr/>
        </p:nvSpPr>
        <p:spPr>
          <a:xfrm>
            <a:off x="7772400" y="4846320"/>
            <a:ext cx="3749040" cy="64008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Spec and runtime agree  →  no finding</a:t>
            </a:r>
            <a:endParaRPr lang="en-US" sz="1200" dirty="0"/>
          </a:p>
        </p:txBody>
      </p:sp>
      <p:sp>
        <p:nvSpPr>
          <p:cNvPr id="23" name="Text 21"/>
          <p:cNvSpPr/>
          <p:nvPr/>
        </p:nvSpPr>
        <p:spPr>
          <a:xfrm>
            <a:off x="6446520" y="5943600"/>
            <a:ext cx="4937760" cy="32004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This logic is what later catches the privileged-seccomp-stripping case — the central finding.</a:t>
            </a:r>
            <a:endParaRPr lang="en-US" sz="1100" dirty="0"/>
          </a:p>
        </p:txBody>
      </p:sp>
      <p:sp>
        <p:nvSpPr>
          <p:cNvPr id="24" name="Text 22"/>
          <p:cNvSpPr/>
          <p:nvPr/>
        </p:nvSpPr>
        <p:spPr>
          <a:xfrm>
            <a:off x="457200" y="6492240"/>
            <a:ext cx="5486400" cy="27432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Yehia Sobeh  ·  Innopolis University 2026</a:t>
            </a:r>
            <a:endParaRPr lang="en-US" sz="1000" dirty="0"/>
          </a:p>
        </p:txBody>
      </p:sp>
      <p:sp>
        <p:nvSpPr>
          <p:cNvPr id="25" name="Text 23"/>
          <p:cNvSpPr/>
          <p:nvPr/>
        </p:nvSpPr>
        <p:spPr>
          <a:xfrm>
            <a:off x="10789920" y="6492240"/>
            <a:ext cx="9144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7 / 14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57200"/>
            <a:ext cx="10972800" cy="274320"/>
          </a:xfrm>
          <a:prstGeom prst="rect">
            <a:avLst/>
          </a:prstGeom>
          <a:noFill/>
          <a:ln/>
        </p:spPr>
        <p:txBody>
          <a:bodyPr wrap="square" rtlCol="0" anchor="ctr"/>
          <a:lstStyle/>
          <a:p>
            <a:pPr indent="0" marL="0">
              <a:buNone/>
            </a:pPr>
            <a:r>
              <a:rPr lang="en-US" sz="1100" b="1" spc="400" kern="0" dirty="0">
                <a:solidFill>
                  <a:srgbClr val="06B6D4"/>
                </a:solidFill>
                <a:latin typeface="Calibri" pitchFamily="34" charset="0"/>
                <a:ea typeface="Calibri" pitchFamily="34" charset="-122"/>
                <a:cs typeface="Calibri" pitchFamily="34" charset="-120"/>
              </a:rPr>
              <a:t>EVALUATION</a:t>
            </a:r>
            <a:endParaRPr lang="en-US" sz="1100" dirty="0"/>
          </a:p>
        </p:txBody>
      </p:sp>
      <p:sp>
        <p:nvSpPr>
          <p:cNvPr id="3" name="Text 1"/>
          <p:cNvSpPr/>
          <p:nvPr/>
        </p:nvSpPr>
        <p:spPr>
          <a:xfrm>
            <a:off x="640080" y="777240"/>
            <a:ext cx="10972800" cy="45720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Seven purpose-built test pods + four Kubernetes control plane components</a:t>
            </a:r>
            <a:endParaRPr lang="en-US" sz="2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417320"/>
          <a:ext cx="10972800" cy="914400"/>
        </p:xfrm>
        <a:graphic>
          <a:graphicData uri="http://schemas.openxmlformats.org/drawingml/2006/table">
            <a:tbl>
              <a:tblPr/>
              <a:tblGrid>
                <a:gridCol w="457200"/>
                <a:gridCol w="2743200"/>
                <a:gridCol w="5029200"/>
                <a:gridCol w="2743200"/>
              </a:tblGrid>
              <a:tr h="41148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Test pod</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Configuration</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Role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41148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Fully hardened</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Drop ALL · runAsUser:1000 · RuntimeDefault · readonly rootfs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Negative control</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1148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No security context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No securityContext at all</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Empty baseline</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1148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b="1" dirty="0">
                          <a:solidFill>
                            <a:srgbClr val="DC2626"/>
                          </a:solidFill>
                          <a:latin typeface="Calibri" pitchFamily="34" charset="0"/>
                          <a:ea typeface="Calibri" pitchFamily="34" charset="-122"/>
                          <a:cs typeface="Calibri" pitchFamily="34" charset="-120"/>
                        </a:rPr>
                        <a:t>Privileged + seccomp</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b="1" dirty="0">
                          <a:solidFill>
                            <a:srgbClr val="DC2626"/>
                          </a:solidFill>
                          <a:latin typeface="Calibri" pitchFamily="34" charset="0"/>
                          <a:ea typeface="Calibri" pitchFamily="34" charset="-122"/>
                          <a:cs typeface="Calibri" pitchFamily="34" charset="-120"/>
                        </a:rPr>
                        <a:t>privileged:true  +  seccomp:RuntimeDefault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b="1" dirty="0">
                          <a:solidFill>
                            <a:srgbClr val="DC2626"/>
                          </a:solidFill>
                          <a:latin typeface="Calibri" pitchFamily="34" charset="0"/>
                          <a:ea typeface="Calibri" pitchFamily="34" charset="-122"/>
                          <a:cs typeface="Calibri" pitchFamily="34" charset="-120"/>
                        </a:rPr>
                        <a:t>Key scenario</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1148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Privileged, no seccomp</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privileged:true  (no seccomp declared)</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Scientific control</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1148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Partial security</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Drops NET_RAW, SYS_ADMIN  +  RuntimeDefault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Capability mix</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1148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No privilege escalation</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allowPrivilegeEscalation:false  +  full hardening</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noNewPrivs mapping</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11480">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Host namespaces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hostPID  +  hostNetwork  +  hostIPC</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0F172A"/>
                          </a:solidFill>
                          <a:latin typeface="Calibri" pitchFamily="34" charset="0"/>
                          <a:ea typeface="Calibri" pitchFamily="34" charset="-122"/>
                          <a:cs typeface="Calibri" pitchFamily="34" charset="-120"/>
                        </a:rPr>
                        <a:t>Namespace translation</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5" name="Shape 2"/>
          <p:cNvSpPr/>
          <p:nvPr/>
        </p:nvSpPr>
        <p:spPr>
          <a:xfrm>
            <a:off x="640080" y="5303520"/>
            <a:ext cx="10972800" cy="1051560"/>
          </a:xfrm>
          <a:prstGeom prst="roundRect">
            <a:avLst>
              <a:gd name="adj" fmla="val 6957"/>
            </a:avLst>
          </a:prstGeom>
          <a:solidFill>
            <a:srgbClr val="FEF3C7"/>
          </a:solidFill>
          <a:ln w="19050">
            <a:solidFill>
              <a:srgbClr val="D97706"/>
            </a:solidFill>
            <a:prstDash val="solid"/>
          </a:ln>
        </p:spPr>
      </p:sp>
      <p:sp>
        <p:nvSpPr>
          <p:cNvPr id="6" name="Text 3"/>
          <p:cNvSpPr/>
          <p:nvPr/>
        </p:nvSpPr>
        <p:spPr>
          <a:xfrm>
            <a:off x="868680" y="5394960"/>
            <a:ext cx="10515600" cy="274320"/>
          </a:xfrm>
          <a:prstGeom prst="rect">
            <a:avLst/>
          </a:prstGeom>
          <a:noFill/>
          <a:ln/>
        </p:spPr>
        <p:txBody>
          <a:bodyPr wrap="square" rtlCol="0" anchor="ctr"/>
          <a:lstStyle/>
          <a:p>
            <a:pPr indent="0" marL="0">
              <a:buNone/>
            </a:pPr>
            <a:r>
              <a:rPr lang="en-US" sz="1100" b="1" spc="300" kern="0" dirty="0">
                <a:solidFill>
                  <a:srgbClr val="D97706"/>
                </a:solidFill>
                <a:latin typeface="Calibri" pitchFamily="34" charset="0"/>
                <a:ea typeface="Calibri" pitchFamily="34" charset="-122"/>
                <a:cs typeface="Calibri" pitchFamily="34" charset="-120"/>
              </a:rPr>
              <a:t>CONTROLLED EXPERIMENT</a:t>
            </a:r>
            <a:endParaRPr lang="en-US" sz="1100" dirty="0"/>
          </a:p>
        </p:txBody>
      </p:sp>
      <p:sp>
        <p:nvSpPr>
          <p:cNvPr id="7" name="Text 4"/>
          <p:cNvSpPr/>
          <p:nvPr/>
        </p:nvSpPr>
        <p:spPr>
          <a:xfrm>
            <a:off x="868680" y="5669280"/>
            <a:ext cx="10607040" cy="640080"/>
          </a:xfrm>
          <a:prstGeom prst="rect">
            <a:avLst/>
          </a:prstGeom>
          <a:noFill/>
          <a:ln/>
        </p:spPr>
        <p:txBody>
          <a:bodyPr wrap="square" lIns="0" tIns="0" rIns="0" bIns="0" rtlCol="0" anchor="t"/>
          <a:lstStyle/>
          <a:p>
            <a:pPr indent="0" marL="0">
              <a:buNone/>
            </a:pPr>
            <a:r>
              <a:rPr lang="en-US" sz="1600" b="1" dirty="0">
                <a:solidFill>
                  <a:srgbClr val="0F172A"/>
                </a:solidFill>
                <a:latin typeface="Calibri" pitchFamily="34" charset="0"/>
                <a:ea typeface="Calibri" pitchFamily="34" charset="-122"/>
                <a:cs typeface="Calibri" pitchFamily="34" charset="-120"/>
              </a:rPr>
              <a:t>Pod 3 vs Pod 4  </a:t>
            </a:r>
            <a:pPr indent="0" marL="0">
              <a:buNone/>
            </a:pPr>
            <a:r>
              <a:rPr lang="en-US" sz="1300" dirty="0">
                <a:solidFill>
                  <a:srgbClr val="334155"/>
                </a:solidFill>
                <a:latin typeface="Calibri" pitchFamily="34" charset="0"/>
                <a:ea typeface="Calibri" pitchFamily="34" charset="-122"/>
                <a:cs typeface="Calibri" pitchFamily="34" charset="-120"/>
              </a:rPr>
              <a:t>isolates a single variable: the seccomp declaration. Both pods are privileged; both end up with identical runtime state — all 41 capabilities, no seccomp, no masked paths. The only difference is the spec. Pod 3 must produce a CRITICAL finding; Pod 4 must not.</a:t>
            </a:r>
            <a:endParaRPr lang="en-US" sz="1600" dirty="0"/>
          </a:p>
        </p:txBody>
      </p:sp>
      <p:sp>
        <p:nvSpPr>
          <p:cNvPr id="8" name="Text 5"/>
          <p:cNvSpPr/>
          <p:nvPr/>
        </p:nvSpPr>
        <p:spPr>
          <a:xfrm>
            <a:off x="457200" y="6492240"/>
            <a:ext cx="5486400" cy="27432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Yehia Sobeh  ·  Innopolis University 2026</a:t>
            </a:r>
            <a:endParaRPr lang="en-US" sz="1000" dirty="0"/>
          </a:p>
        </p:txBody>
      </p:sp>
      <p:sp>
        <p:nvSpPr>
          <p:cNvPr id="9" name="Text 6"/>
          <p:cNvSpPr/>
          <p:nvPr/>
        </p:nvSpPr>
        <p:spPr>
          <a:xfrm>
            <a:off x="10789920" y="6492240"/>
            <a:ext cx="9144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8 / 14</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457200"/>
            <a:ext cx="10972800" cy="274320"/>
          </a:xfrm>
          <a:prstGeom prst="rect">
            <a:avLst/>
          </a:prstGeom>
          <a:noFill/>
          <a:ln/>
        </p:spPr>
        <p:txBody>
          <a:bodyPr wrap="square" rtlCol="0" anchor="ctr"/>
          <a:lstStyle/>
          <a:p>
            <a:pPr indent="0" marL="0">
              <a:buNone/>
            </a:pPr>
            <a:r>
              <a:rPr lang="en-US" sz="1100" b="1" spc="400" kern="0" dirty="0">
                <a:solidFill>
                  <a:srgbClr val="DC2626"/>
                </a:solidFill>
                <a:latin typeface="Calibri" pitchFamily="34" charset="0"/>
                <a:ea typeface="Calibri" pitchFamily="34" charset="-122"/>
                <a:cs typeface="Calibri" pitchFamily="34" charset="-120"/>
              </a:rPr>
              <a:t>FINDING 1  ·  TRUE POSITIVE</a:t>
            </a:r>
            <a:endParaRPr lang="en-US" sz="1100" dirty="0"/>
          </a:p>
        </p:txBody>
      </p:sp>
      <p:sp>
        <p:nvSpPr>
          <p:cNvPr id="3" name="Text 1"/>
          <p:cNvSpPr/>
          <p:nvPr/>
        </p:nvSpPr>
        <p:spPr>
          <a:xfrm>
            <a:off x="640080" y="777240"/>
            <a:ext cx="1115568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Docker silently strips declared seccomp from privileged containers</a:t>
            </a:r>
            <a:endParaRPr lang="en-US" sz="2200" dirty="0"/>
          </a:p>
        </p:txBody>
      </p:sp>
      <p:sp>
        <p:nvSpPr>
          <p:cNvPr id="4" name="Shape 2"/>
          <p:cNvSpPr/>
          <p:nvPr/>
        </p:nvSpPr>
        <p:spPr>
          <a:xfrm>
            <a:off x="640080" y="1554480"/>
            <a:ext cx="5394960" cy="3931920"/>
          </a:xfrm>
          <a:prstGeom prst="roundRect">
            <a:avLst>
              <a:gd name="adj" fmla="val 2326"/>
            </a:avLst>
          </a:prstGeom>
          <a:solidFill>
            <a:srgbClr val="1E293B"/>
          </a:solidFill>
          <a:ln w="19050">
            <a:solidFill>
              <a:srgbClr val="DC2626"/>
            </a:solidFill>
            <a:prstDash val="solid"/>
          </a:ln>
        </p:spPr>
      </p:sp>
      <p:sp>
        <p:nvSpPr>
          <p:cNvPr id="5" name="Text 3"/>
          <p:cNvSpPr/>
          <p:nvPr/>
        </p:nvSpPr>
        <p:spPr>
          <a:xfrm>
            <a:off x="868680" y="1691640"/>
            <a:ext cx="5029200" cy="365760"/>
          </a:xfrm>
          <a:prstGeom prst="rect">
            <a:avLst/>
          </a:prstGeom>
          <a:noFill/>
          <a:ln/>
        </p:spPr>
        <p:txBody>
          <a:bodyPr wrap="square" rtlCol="0" anchor="ctr"/>
          <a:lstStyle/>
          <a:p>
            <a:pPr indent="0" marL="0">
              <a:buNone/>
            </a:pPr>
            <a:r>
              <a:rPr lang="en-US" sz="1400" b="1" dirty="0">
                <a:solidFill>
                  <a:srgbClr val="DC2626"/>
                </a:solidFill>
                <a:latin typeface="Calibri" pitchFamily="34" charset="0"/>
                <a:ea typeface="Calibri" pitchFamily="34" charset="-122"/>
                <a:cs typeface="Calibri" pitchFamily="34" charset="-120"/>
              </a:rPr>
              <a:t>Pod 3  ·  privileged + seccomp declared</a:t>
            </a:r>
            <a:endParaRPr lang="en-US" sz="1400" dirty="0"/>
          </a:p>
        </p:txBody>
      </p:sp>
      <p:sp>
        <p:nvSpPr>
          <p:cNvPr id="6" name="Text 4"/>
          <p:cNvSpPr/>
          <p:nvPr/>
        </p:nvSpPr>
        <p:spPr>
          <a:xfrm>
            <a:off x="868680" y="2103120"/>
            <a:ext cx="5029200" cy="3291840"/>
          </a:xfrm>
          <a:prstGeom prst="rect">
            <a:avLst/>
          </a:prstGeom>
          <a:noFill/>
          <a:ln/>
        </p:spPr>
        <p:txBody>
          <a:bodyPr wrap="square" lIns="0" tIns="0" rIns="0" bIns="0" rtlCol="0" anchor="t"/>
          <a:lstStyle/>
          <a:p>
            <a:pPr indent="0" marL="0">
              <a:buNone/>
            </a:pPr>
            <a:r>
              <a:rPr lang="en-US" sz="1100" dirty="0">
                <a:solidFill>
                  <a:srgbClr val="64748B"/>
                </a:solidFill>
              </a:rPr>
              <a:t>Spec
</a:t>
            </a:r>
            <a:endParaRPr lang="en-US" sz="1100" dirty="0"/>
          </a:p>
          <a:p>
            <a:pPr indent="0" marL="0">
              <a:buNone/>
            </a:pPr>
            <a:r>
              <a:rPr lang="en-US" sz="1300" dirty="0">
                <a:solidFill>
                  <a:srgbClr val="FFFFFF"/>
                </a:solidFill>
                <a:latin typeface="Consolas" pitchFamily="34" charset="0"/>
                <a:ea typeface="Consolas" pitchFamily="34" charset="-122"/>
                <a:cs typeface="Consolas" pitchFamily="34" charset="-120"/>
              </a:rPr>
              <a:t>  privileged: true
</a:t>
            </a:r>
            <a:endParaRPr lang="en-US" sz="1100" dirty="0"/>
          </a:p>
          <a:p>
            <a:pPr indent="0" marL="0">
              <a:buNone/>
            </a:pPr>
            <a:r>
              <a:rPr lang="en-US" sz="1300" dirty="0">
                <a:solidFill>
                  <a:srgbClr val="FFFFFF"/>
                </a:solidFill>
                <a:latin typeface="Consolas" pitchFamily="34" charset="0"/>
                <a:ea typeface="Consolas" pitchFamily="34" charset="-122"/>
                <a:cs typeface="Consolas" pitchFamily="34" charset="-120"/>
              </a:rPr>
              <a:t>  seccompProfile.type: RuntimeDefault
</a:t>
            </a:r>
            <a:endParaRPr lang="en-US" sz="1100" dirty="0"/>
          </a:p>
          <a:p>
            <a:pPr indent="0" marL="0">
              <a:buNone/>
            </a:pPr>
            <a:r>
              <a:rPr lang="en-US" sz="600" dirty="0">
                <a:solidFill>
                  <a:srgbClr val="000000"/>
                </a:solidFill>
              </a:rPr>
              <a:t>
</a:t>
            </a:r>
            <a:endParaRPr lang="en-US" sz="1100" dirty="0"/>
          </a:p>
          <a:p>
            <a:pPr indent="0" marL="0">
              <a:buNone/>
            </a:pPr>
            <a:r>
              <a:rPr lang="en-US" sz="1100" dirty="0">
                <a:solidFill>
                  <a:srgbClr val="64748B"/>
                </a:solidFill>
              </a:rPr>
              <a:t>Runtime
</a:t>
            </a:r>
            <a:endParaRPr lang="en-US" sz="1100" dirty="0"/>
          </a:p>
          <a:p>
            <a:pPr indent="0" marL="0">
              <a:buNone/>
            </a:pPr>
            <a:r>
              <a:rPr lang="en-US" sz="1300" b="1" dirty="0">
                <a:solidFill>
                  <a:srgbClr val="DC2626"/>
                </a:solidFill>
                <a:latin typeface="Consolas" pitchFamily="34" charset="0"/>
                <a:ea typeface="Consolas" pitchFamily="34" charset="-122"/>
                <a:cs typeface="Consolas" pitchFamily="34" charset="-120"/>
              </a:rPr>
              <a:t>  capabilities: all 41
</a:t>
            </a:r>
            <a:endParaRPr lang="en-US" sz="1100" dirty="0"/>
          </a:p>
          <a:p>
            <a:pPr indent="0" marL="0">
              <a:buNone/>
            </a:pPr>
            <a:r>
              <a:rPr lang="en-US" sz="1300" dirty="0">
                <a:solidFill>
                  <a:srgbClr val="FFFFFF"/>
                </a:solidFill>
                <a:latin typeface="Consolas" pitchFamily="34" charset="0"/>
                <a:ea typeface="Consolas" pitchFamily="34" charset="-122"/>
                <a:cs typeface="Consolas" pitchFamily="34" charset="-120"/>
              </a:rPr>
              <a:t>  seccomp: </a:t>
            </a:r>
            <a:pPr indent="0" marL="0">
              <a:buNone/>
            </a:pPr>
            <a:r>
              <a:rPr lang="en-US" sz="1300" b="1" dirty="0">
                <a:solidFill>
                  <a:srgbClr val="DC2626"/>
                </a:solidFill>
                <a:latin typeface="Consolas" pitchFamily="34" charset="0"/>
                <a:ea typeface="Consolas" pitchFamily="34" charset="-122"/>
                <a:cs typeface="Consolas" pitchFamily="34" charset="-120"/>
              </a:rPr>
              <a:t>stripped
</a:t>
            </a:r>
            <a:endParaRPr lang="en-US" sz="1100" dirty="0"/>
          </a:p>
          <a:p>
            <a:pPr indent="0" marL="0">
              <a:buNone/>
            </a:pPr>
            <a:r>
              <a:rPr lang="en-US" sz="600" dirty="0">
                <a:solidFill>
                  <a:srgbClr val="000000"/>
                </a:solidFill>
              </a:rPr>
              <a:t>
</a:t>
            </a:r>
            <a:endParaRPr lang="en-US" sz="1100" dirty="0"/>
          </a:p>
          <a:p>
            <a:pPr indent="0" marL="0">
              <a:buNone/>
            </a:pPr>
            <a:r>
              <a:rPr lang="en-US" sz="1300" b="1" dirty="0">
                <a:solidFill>
                  <a:srgbClr val="DC2626"/>
                </a:solidFill>
              </a:rPr>
              <a:t>→  CRITICAL  +  27 × WARNING</a:t>
            </a:r>
            <a:endParaRPr lang="en-US" sz="1100" dirty="0"/>
          </a:p>
        </p:txBody>
      </p:sp>
      <p:sp>
        <p:nvSpPr>
          <p:cNvPr id="7" name="Shape 5"/>
          <p:cNvSpPr/>
          <p:nvPr/>
        </p:nvSpPr>
        <p:spPr>
          <a:xfrm>
            <a:off x="6217920" y="1554480"/>
            <a:ext cx="5394960" cy="3931920"/>
          </a:xfrm>
          <a:prstGeom prst="roundRect">
            <a:avLst>
              <a:gd name="adj" fmla="val 2326"/>
            </a:avLst>
          </a:prstGeom>
          <a:solidFill>
            <a:srgbClr val="1E293B"/>
          </a:solidFill>
          <a:ln w="19050">
            <a:solidFill>
              <a:srgbClr val="059669"/>
            </a:solidFill>
            <a:prstDash val="solid"/>
          </a:ln>
        </p:spPr>
      </p:sp>
      <p:sp>
        <p:nvSpPr>
          <p:cNvPr id="8" name="Text 6"/>
          <p:cNvSpPr/>
          <p:nvPr/>
        </p:nvSpPr>
        <p:spPr>
          <a:xfrm>
            <a:off x="6446520" y="1691640"/>
            <a:ext cx="5029200" cy="365760"/>
          </a:xfrm>
          <a:prstGeom prst="rect">
            <a:avLst/>
          </a:prstGeom>
          <a:noFill/>
          <a:ln/>
        </p:spPr>
        <p:txBody>
          <a:bodyPr wrap="square" rtlCol="0" anchor="ctr"/>
          <a:lstStyle/>
          <a:p>
            <a:pPr indent="0" marL="0">
              <a:buNone/>
            </a:pPr>
            <a:r>
              <a:rPr lang="en-US" sz="1400" b="1" dirty="0">
                <a:solidFill>
                  <a:srgbClr val="059669"/>
                </a:solidFill>
                <a:latin typeface="Calibri" pitchFamily="34" charset="0"/>
                <a:ea typeface="Calibri" pitchFamily="34" charset="-122"/>
                <a:cs typeface="Calibri" pitchFamily="34" charset="-120"/>
              </a:rPr>
              <a:t>Pod 4  ·  privileged, no seccomp declared</a:t>
            </a:r>
            <a:endParaRPr lang="en-US" sz="1400" dirty="0"/>
          </a:p>
        </p:txBody>
      </p:sp>
      <p:sp>
        <p:nvSpPr>
          <p:cNvPr id="9" name="Text 7"/>
          <p:cNvSpPr/>
          <p:nvPr/>
        </p:nvSpPr>
        <p:spPr>
          <a:xfrm>
            <a:off x="6446520" y="2103120"/>
            <a:ext cx="5029200" cy="3291840"/>
          </a:xfrm>
          <a:prstGeom prst="rect">
            <a:avLst/>
          </a:prstGeom>
          <a:noFill/>
          <a:ln/>
        </p:spPr>
        <p:txBody>
          <a:bodyPr wrap="square" lIns="0" tIns="0" rIns="0" bIns="0" rtlCol="0" anchor="t"/>
          <a:lstStyle/>
          <a:p>
            <a:pPr indent="0" marL="0">
              <a:buNone/>
            </a:pPr>
            <a:r>
              <a:rPr lang="en-US" sz="1100" dirty="0">
                <a:solidFill>
                  <a:srgbClr val="64748B"/>
                </a:solidFill>
              </a:rPr>
              <a:t>Spec
</a:t>
            </a:r>
            <a:endParaRPr lang="en-US" sz="1100" dirty="0"/>
          </a:p>
          <a:p>
            <a:pPr indent="0" marL="0">
              <a:buNone/>
            </a:pPr>
            <a:r>
              <a:rPr lang="en-US" sz="1300" dirty="0">
                <a:solidFill>
                  <a:srgbClr val="FFFFFF"/>
                </a:solidFill>
                <a:latin typeface="Consolas" pitchFamily="34" charset="0"/>
                <a:ea typeface="Consolas" pitchFamily="34" charset="-122"/>
                <a:cs typeface="Consolas" pitchFamily="34" charset="-120"/>
              </a:rPr>
              <a:t>  privileged: true
</a:t>
            </a:r>
            <a:endParaRPr lang="en-US" sz="1100" dirty="0"/>
          </a:p>
          <a:p>
            <a:pPr indent="0" marL="0">
              <a:buNone/>
            </a:pPr>
            <a:r>
              <a:rPr lang="en-US" sz="1300" dirty="0">
                <a:solidFill>
                  <a:srgbClr val="64748B"/>
                </a:solidFill>
                <a:latin typeface="Consolas" pitchFamily="34" charset="0"/>
                <a:ea typeface="Consolas" pitchFamily="34" charset="-122"/>
                <a:cs typeface="Consolas" pitchFamily="34" charset="-120"/>
              </a:rPr>
              <a:t>  (no seccompProfile)
</a:t>
            </a:r>
            <a:endParaRPr lang="en-US" sz="1100" dirty="0"/>
          </a:p>
          <a:p>
            <a:pPr indent="0" marL="0">
              <a:buNone/>
            </a:pPr>
            <a:r>
              <a:rPr lang="en-US" sz="600" dirty="0">
                <a:solidFill>
                  <a:srgbClr val="000000"/>
                </a:solidFill>
              </a:rPr>
              <a:t>
</a:t>
            </a:r>
            <a:endParaRPr lang="en-US" sz="1100" dirty="0"/>
          </a:p>
          <a:p>
            <a:pPr indent="0" marL="0">
              <a:buNone/>
            </a:pPr>
            <a:r>
              <a:rPr lang="en-US" sz="1100" dirty="0">
                <a:solidFill>
                  <a:srgbClr val="64748B"/>
                </a:solidFill>
              </a:rPr>
              <a:t>Runtime
</a:t>
            </a:r>
            <a:endParaRPr lang="en-US" sz="1100" dirty="0"/>
          </a:p>
          <a:p>
            <a:pPr indent="0" marL="0">
              <a:buNone/>
            </a:pPr>
            <a:r>
              <a:rPr lang="en-US" sz="1300" dirty="0">
                <a:solidFill>
                  <a:srgbClr val="FFFFFF"/>
                </a:solidFill>
                <a:latin typeface="Consolas" pitchFamily="34" charset="0"/>
                <a:ea typeface="Consolas" pitchFamily="34" charset="-122"/>
                <a:cs typeface="Consolas" pitchFamily="34" charset="-120"/>
              </a:rPr>
              <a:t>  capabilities: all 41
</a:t>
            </a:r>
            <a:endParaRPr lang="en-US" sz="1100" dirty="0"/>
          </a:p>
          <a:p>
            <a:pPr indent="0" marL="0">
              <a:buNone/>
            </a:pPr>
            <a:r>
              <a:rPr lang="en-US" sz="1300" dirty="0">
                <a:solidFill>
                  <a:srgbClr val="FFFFFF"/>
                </a:solidFill>
                <a:latin typeface="Consolas" pitchFamily="34" charset="0"/>
                <a:ea typeface="Consolas" pitchFamily="34" charset="-122"/>
                <a:cs typeface="Consolas" pitchFamily="34" charset="-120"/>
              </a:rPr>
              <a:t>  seccomp: stripped
</a:t>
            </a:r>
            <a:endParaRPr lang="en-US" sz="1100" dirty="0"/>
          </a:p>
          <a:p>
            <a:pPr indent="0" marL="0">
              <a:buNone/>
            </a:pPr>
            <a:r>
              <a:rPr lang="en-US" sz="600" dirty="0">
                <a:solidFill>
                  <a:srgbClr val="000000"/>
                </a:solidFill>
              </a:rPr>
              <a:t>
</a:t>
            </a:r>
            <a:endParaRPr lang="en-US" sz="1100" dirty="0"/>
          </a:p>
          <a:p>
            <a:pPr indent="0" marL="0">
              <a:buNone/>
            </a:pPr>
            <a:r>
              <a:rPr lang="en-US" sz="1300" b="1" dirty="0">
                <a:solidFill>
                  <a:srgbClr val="059669"/>
                </a:solidFill>
              </a:rPr>
              <a:t>→  no seccomp finding  +  27 × WARNING</a:t>
            </a:r>
            <a:endParaRPr lang="en-US" sz="1100" dirty="0"/>
          </a:p>
        </p:txBody>
      </p:sp>
      <p:sp>
        <p:nvSpPr>
          <p:cNvPr id="10" name="Shape 8"/>
          <p:cNvSpPr/>
          <p:nvPr/>
        </p:nvSpPr>
        <p:spPr>
          <a:xfrm>
            <a:off x="640080" y="5715000"/>
            <a:ext cx="10972800" cy="777240"/>
          </a:xfrm>
          <a:prstGeom prst="roundRect">
            <a:avLst>
              <a:gd name="adj" fmla="val 9412"/>
            </a:avLst>
          </a:prstGeom>
          <a:solidFill>
            <a:srgbClr val="DC2626"/>
          </a:solidFill>
          <a:ln w="12700">
            <a:solidFill>
              <a:srgbClr val="DC2626"/>
            </a:solidFill>
            <a:prstDash val="solid"/>
          </a:ln>
        </p:spPr>
      </p:sp>
      <p:sp>
        <p:nvSpPr>
          <p:cNvPr id="11" name="Text 9"/>
          <p:cNvSpPr/>
          <p:nvPr/>
        </p:nvSpPr>
        <p:spPr>
          <a:xfrm>
            <a:off x="914400" y="5715000"/>
            <a:ext cx="1051560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Invisible to OPA Gatekeeper · Kyverno · Kubescape · Trivy.  </a:t>
            </a:r>
            <a:pPr indent="0" marL="0">
              <a:buNone/>
            </a:pPr>
            <a:r>
              <a:rPr lang="en-US" sz="1400" dirty="0">
                <a:solidFill>
                  <a:srgbClr val="FEE2E2"/>
                </a:solidFill>
                <a:latin typeface="Calibri" pitchFamily="34" charset="0"/>
                <a:ea typeface="Calibri" pitchFamily="34" charset="-122"/>
                <a:cs typeface="Calibri" pitchFamily="34" charset="-120"/>
              </a:rPr>
              <a:t>The K8s API still reports RuntimeDefault; the kernel applies no filter.</a:t>
            </a:r>
            <a:endParaRPr lang="en-US" sz="1400" dirty="0"/>
          </a:p>
        </p:txBody>
      </p:sp>
      <p:sp>
        <p:nvSpPr>
          <p:cNvPr id="12" name="Text 10"/>
          <p:cNvSpPr/>
          <p:nvPr/>
        </p:nvSpPr>
        <p:spPr>
          <a:xfrm>
            <a:off x="457200" y="6492240"/>
            <a:ext cx="5486400" cy="27432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Yehia Sobeh  ·  Innopolis University 2026</a:t>
            </a:r>
            <a:endParaRPr lang="en-US" sz="1000" dirty="0"/>
          </a:p>
        </p:txBody>
      </p:sp>
      <p:sp>
        <p:nvSpPr>
          <p:cNvPr id="13" name="Text 11"/>
          <p:cNvSpPr/>
          <p:nvPr/>
        </p:nvSpPr>
        <p:spPr>
          <a:xfrm>
            <a:off x="10789920" y="6492240"/>
            <a:ext cx="9144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9 / 14</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57200"/>
            <a:ext cx="10972800" cy="274320"/>
          </a:xfrm>
          <a:prstGeom prst="rect">
            <a:avLst/>
          </a:prstGeom>
          <a:noFill/>
          <a:ln/>
        </p:spPr>
        <p:txBody>
          <a:bodyPr wrap="square" rtlCol="0" anchor="ctr"/>
          <a:lstStyle/>
          <a:p>
            <a:pPr indent="0" marL="0">
              <a:buNone/>
            </a:pPr>
            <a:r>
              <a:rPr lang="en-US" sz="1100" b="1" spc="400" kern="0" dirty="0">
                <a:solidFill>
                  <a:srgbClr val="D97706"/>
                </a:solidFill>
                <a:latin typeface="Calibri" pitchFamily="34" charset="0"/>
                <a:ea typeface="Calibri" pitchFamily="34" charset="-122"/>
                <a:cs typeface="Calibri" pitchFamily="34" charset="-120"/>
              </a:rPr>
              <a:t>FINDING 2  ·  OBSERVABILITY ARTEFACT</a:t>
            </a:r>
            <a:endParaRPr lang="en-US" sz="1100" dirty="0"/>
          </a:p>
        </p:txBody>
      </p:sp>
      <p:sp>
        <p:nvSpPr>
          <p:cNvPr id="3" name="Text 1"/>
          <p:cNvSpPr/>
          <p:nvPr/>
        </p:nvSpPr>
        <p:spPr>
          <a:xfrm>
            <a:off x="640080" y="777240"/>
            <a:ext cx="10972800" cy="45720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Docker's metadata interface hides implicit seccomp defaults</a:t>
            </a:r>
            <a:endParaRPr lang="en-US" sz="2200" dirty="0"/>
          </a:p>
        </p:txBody>
      </p:sp>
      <p:sp>
        <p:nvSpPr>
          <p:cNvPr id="4" name="Shape 2"/>
          <p:cNvSpPr/>
          <p:nvPr/>
        </p:nvSpPr>
        <p:spPr>
          <a:xfrm>
            <a:off x="640080" y="1508760"/>
            <a:ext cx="10972800" cy="1828800"/>
          </a:xfrm>
          <a:prstGeom prst="roundRect">
            <a:avLst>
              <a:gd name="adj" fmla="val 4000"/>
            </a:avLst>
          </a:prstGeom>
          <a:solidFill>
            <a:srgbClr val="FFFFFF"/>
          </a:solidFill>
          <a:ln w="6350">
            <a:solidFill>
              <a:srgbClr val="E2E8F0"/>
            </a:solidFill>
            <a:prstDash val="solid"/>
          </a:ln>
          <a:effectLst>
            <a:outerShdw sx="100000" sy="100000" kx="0" ky="0" algn="bl" rotWithShape="0" blurRad="101600" dist="25400" dir="5400000">
              <a:srgbClr val="000000">
                <a:alpha val="6000"/>
              </a:srgbClr>
            </a:outerShdw>
          </a:effectLst>
        </p:spPr>
      </p:sp>
      <p:sp>
        <p:nvSpPr>
          <p:cNvPr id="5" name="Text 3"/>
          <p:cNvSpPr/>
          <p:nvPr/>
        </p:nvSpPr>
        <p:spPr>
          <a:xfrm>
            <a:off x="868680" y="1645920"/>
            <a:ext cx="5486400" cy="365760"/>
          </a:xfrm>
          <a:prstGeom prst="rect">
            <a:avLst/>
          </a:prstGeom>
          <a:noFill/>
          <a:ln/>
        </p:spPr>
        <p:txBody>
          <a:bodyPr wrap="square"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What I observed</a:t>
            </a:r>
            <a:endParaRPr lang="en-US" sz="1400" dirty="0"/>
          </a:p>
        </p:txBody>
      </p:sp>
      <p:sp>
        <p:nvSpPr>
          <p:cNvPr id="6" name="Text 4"/>
          <p:cNvSpPr/>
          <p:nvPr/>
        </p:nvSpPr>
        <p:spPr>
          <a:xfrm>
            <a:off x="868680" y="2011680"/>
            <a:ext cx="10698480" cy="1280160"/>
          </a:xfrm>
          <a:prstGeom prst="rect">
            <a:avLst/>
          </a:prstGeom>
          <a:noFill/>
          <a:ln/>
        </p:spPr>
        <p:txBody>
          <a:bodyPr wrap="square" lIns="0" tIns="0" rIns="0" bIns="0" rtlCol="0" anchor="ctr"/>
          <a:lstStyle/>
          <a:p>
            <a:pPr indent="0" marL="0">
              <a:buNone/>
            </a:pPr>
            <a:r>
              <a:rPr lang="en-US" sz="1400" b="1" dirty="0">
                <a:solidFill>
                  <a:srgbClr val="D97706"/>
                </a:solidFill>
                <a:latin typeface="Calibri" pitchFamily="34" charset="0"/>
                <a:ea typeface="Calibri" pitchFamily="34" charset="-122"/>
                <a:cs typeface="Calibri" pitchFamily="34" charset="-120"/>
              </a:rPr>
              <a:t>Pods 1, 5, 6  </a:t>
            </a:r>
            <a:pPr indent="0" marL="0">
              <a:buNone/>
            </a:pPr>
            <a:r>
              <a:rPr lang="en-US" sz="1400" dirty="0">
                <a:solidFill>
                  <a:srgbClr val="334155"/>
                </a:solidFill>
                <a:latin typeface="Calibri" pitchFamily="34" charset="0"/>
                <a:ea typeface="Calibri" pitchFamily="34" charset="-122"/>
                <a:cs typeface="Calibri" pitchFamily="34" charset="-120"/>
              </a:rPr>
              <a:t>— non-privileged, correctly declared RuntimeDefault — </a:t>
            </a:r>
            <a:pPr indent="0" marL="0">
              <a:buNone/>
            </a:pPr>
            <a:r>
              <a:rPr lang="en-US" sz="1400" b="1" dirty="0">
                <a:solidFill>
                  <a:srgbClr val="0F172A"/>
                </a:solidFill>
                <a:latin typeface="Calibri" pitchFamily="34" charset="0"/>
                <a:ea typeface="Calibri" pitchFamily="34" charset="-122"/>
                <a:cs typeface="Calibri" pitchFamily="34" charset="-120"/>
              </a:rPr>
              <a:t>also produced CRITICAL seccomp findings.
</a:t>
            </a:r>
            <a:endParaRPr lang="en-US" sz="1400" dirty="0"/>
          </a:p>
          <a:p>
            <a:pPr indent="0" marL="0">
              <a:buNone/>
            </a:pPr>
            <a:r>
              <a:rPr lang="en-US" sz="1400" dirty="0">
                <a:solidFill>
                  <a:srgbClr val="334155"/>
                </a:solidFill>
                <a:latin typeface="Calibri" pitchFamily="34" charset="0"/>
                <a:ea typeface="Calibri" pitchFamily="34" charset="-122"/>
                <a:cs typeface="Calibri" pitchFamily="34" charset="-120"/>
              </a:rPr>
              <a:t>But these containers </a:t>
            </a:r>
            <a:pPr indent="0" marL="0">
              <a:buNone/>
            </a:pPr>
            <a:r>
              <a:rPr lang="en-US" sz="1400" b="1" dirty="0">
                <a:solidFill>
                  <a:srgbClr val="059669"/>
                </a:solidFill>
                <a:latin typeface="Calibri" pitchFamily="34" charset="0"/>
                <a:ea typeface="Calibri" pitchFamily="34" charset="-122"/>
                <a:cs typeface="Calibri" pitchFamily="34" charset="-120"/>
              </a:rPr>
              <a:t>are actually protected</a:t>
            </a:r>
            <a:pPr indent="0" marL="0">
              <a:buNone/>
            </a:pPr>
            <a:r>
              <a:rPr lang="en-US" sz="1400" dirty="0">
                <a:solidFill>
                  <a:srgbClr val="334155"/>
                </a:solidFill>
                <a:latin typeface="Calibri" pitchFamily="34" charset="0"/>
                <a:ea typeface="Calibri" pitchFamily="34" charset="-122"/>
                <a:cs typeface="Calibri" pitchFamily="34" charset="-120"/>
              </a:rPr>
              <a:t>. The findings are false positives. Why?</a:t>
            </a:r>
            <a:endParaRPr lang="en-US" sz="1400" dirty="0"/>
          </a:p>
        </p:txBody>
      </p:sp>
      <p:sp>
        <p:nvSpPr>
          <p:cNvPr id="7" name="Shape 5"/>
          <p:cNvSpPr/>
          <p:nvPr/>
        </p:nvSpPr>
        <p:spPr>
          <a:xfrm>
            <a:off x="640080" y="3474720"/>
            <a:ext cx="10972800" cy="1645920"/>
          </a:xfrm>
          <a:prstGeom prst="roundRect">
            <a:avLst>
              <a:gd name="adj" fmla="val 4444"/>
            </a:avLst>
          </a:prstGeom>
          <a:solidFill>
            <a:srgbClr val="FEF3C7"/>
          </a:solidFill>
          <a:ln w="6350">
            <a:solidFill>
              <a:srgbClr val="E2E8F0"/>
            </a:solidFill>
            <a:prstDash val="solid"/>
          </a:ln>
          <a:effectLst>
            <a:outerShdw sx="100000" sy="100000" kx="0" ky="0" algn="bl" rotWithShape="0" blurRad="101600" dist="25400" dir="5400000">
              <a:srgbClr val="000000">
                <a:alpha val="6000"/>
              </a:srgbClr>
            </a:outerShdw>
          </a:effectLst>
        </p:spPr>
      </p:sp>
      <p:sp>
        <p:nvSpPr>
          <p:cNvPr id="8" name="Text 6"/>
          <p:cNvSpPr/>
          <p:nvPr/>
        </p:nvSpPr>
        <p:spPr>
          <a:xfrm>
            <a:off x="868680" y="3611880"/>
            <a:ext cx="5486400" cy="365760"/>
          </a:xfrm>
          <a:prstGeom prst="rect">
            <a:avLst/>
          </a:prstGeom>
          <a:noFill/>
          <a:ln/>
        </p:spPr>
        <p:txBody>
          <a:bodyPr wrap="square" rtlCol="0" anchor="ctr"/>
          <a:lstStyle/>
          <a:p>
            <a:pPr indent="0" marL="0">
              <a:buNone/>
            </a:pPr>
            <a:r>
              <a:rPr lang="en-US" sz="1400" b="1" dirty="0">
                <a:solidFill>
                  <a:srgbClr val="D97706"/>
                </a:solidFill>
                <a:latin typeface="Calibri" pitchFamily="34" charset="0"/>
                <a:ea typeface="Calibri" pitchFamily="34" charset="-122"/>
                <a:cs typeface="Calibri" pitchFamily="34" charset="-120"/>
              </a:rPr>
              <a:t>Why it happens</a:t>
            </a:r>
            <a:endParaRPr lang="en-US" sz="1400" dirty="0"/>
          </a:p>
        </p:txBody>
      </p:sp>
      <p:sp>
        <p:nvSpPr>
          <p:cNvPr id="9" name="Text 7"/>
          <p:cNvSpPr/>
          <p:nvPr/>
        </p:nvSpPr>
        <p:spPr>
          <a:xfrm>
            <a:off x="868680" y="3977640"/>
            <a:ext cx="10698480" cy="109728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1.  cri-dockerd translates RuntimeDefault by relying on Docker's implicit built-in profile.
</a:t>
            </a:r>
            <a:endParaRPr lang="en-US" sz="1300" dirty="0"/>
          </a:p>
          <a:p>
            <a:pPr indent="0" marL="0">
              <a:buNone/>
            </a:pPr>
            <a:r>
              <a:rPr lang="en-US" sz="1300" dirty="0">
                <a:solidFill>
                  <a:srgbClr val="0F172A"/>
                </a:solidFill>
                <a:latin typeface="Calibri" pitchFamily="34" charset="0"/>
                <a:ea typeface="Calibri" pitchFamily="34" charset="-122"/>
                <a:cs typeface="Calibri" pitchFamily="34" charset="-120"/>
              </a:rPr>
              <a:t>2.  No explicit </a:t>
            </a:r>
            <a:pPr indent="0" marL="0">
              <a:buNone/>
            </a:pPr>
            <a:r>
              <a:rPr lang="en-US" sz="1300" dirty="0">
                <a:solidFill>
                  <a:srgbClr val="0F172A"/>
                </a:solidFill>
                <a:latin typeface="Consolas" pitchFamily="34" charset="0"/>
                <a:ea typeface="Consolas" pitchFamily="34" charset="-122"/>
                <a:cs typeface="Consolas" pitchFamily="34" charset="-120"/>
              </a:rPr>
              <a:t>SecurityOpt</a:t>
            </a:r>
            <a:pPr indent="0" marL="0">
              <a:buNone/>
            </a:pPr>
            <a:r>
              <a:rPr lang="en-US" sz="1300" dirty="0">
                <a:solidFill>
                  <a:srgbClr val="0F172A"/>
                </a:solidFill>
                <a:latin typeface="Calibri" pitchFamily="34" charset="0"/>
                <a:ea typeface="Calibri" pitchFamily="34" charset="-122"/>
                <a:cs typeface="Calibri" pitchFamily="34" charset="-120"/>
              </a:rPr>
              <a:t> entry is added — so </a:t>
            </a:r>
            <a:pPr indent="0" marL="0">
              <a:buNone/>
            </a:pPr>
            <a:r>
              <a:rPr lang="en-US" sz="1300" dirty="0">
                <a:solidFill>
                  <a:srgbClr val="0F172A"/>
                </a:solidFill>
                <a:latin typeface="Consolas" pitchFamily="34" charset="0"/>
                <a:ea typeface="Consolas" pitchFamily="34" charset="-122"/>
                <a:cs typeface="Consolas" pitchFamily="34" charset="-120"/>
              </a:rPr>
              <a:t>docker inspect</a:t>
            </a:r>
            <a:pPr indent="0" marL="0">
              <a:buNone/>
            </a:pPr>
            <a:r>
              <a:rPr lang="en-US" sz="1300" dirty="0">
                <a:solidFill>
                  <a:srgbClr val="0F172A"/>
                </a:solidFill>
                <a:latin typeface="Calibri" pitchFamily="34" charset="0"/>
                <a:ea typeface="Calibri" pitchFamily="34" charset="-122"/>
                <a:cs typeface="Calibri" pitchFamily="34" charset="-120"/>
              </a:rPr>
              <a:t> returns an empty array.
</a:t>
            </a:r>
            <a:endParaRPr lang="en-US" sz="1300" dirty="0"/>
          </a:p>
          <a:p>
            <a:pPr indent="0" marL="0">
              <a:buNone/>
            </a:pPr>
            <a:r>
              <a:rPr lang="en-US" sz="1300" dirty="0">
                <a:solidFill>
                  <a:srgbClr val="0F172A"/>
                </a:solidFill>
                <a:latin typeface="Calibri" pitchFamily="34" charset="0"/>
                <a:ea typeface="Calibri" pitchFamily="34" charset="-122"/>
                <a:cs typeface="Calibri" pitchFamily="34" charset="-120"/>
              </a:rPr>
              <a:t>3.  An empty array is </a:t>
            </a:r>
            <a:pPr indent="0" marL="0">
              <a:buNone/>
            </a:pPr>
            <a:r>
              <a:rPr lang="en-US" sz="1300" b="1" dirty="0">
                <a:solidFill>
                  <a:srgbClr val="DC2626"/>
                </a:solidFill>
                <a:latin typeface="Calibri" pitchFamily="34" charset="0"/>
                <a:ea typeface="Calibri" pitchFamily="34" charset="-122"/>
                <a:cs typeface="Calibri" pitchFamily="34" charset="-120"/>
              </a:rPr>
              <a:t>indistinguishable from a genuinely unprotected container</a:t>
            </a:r>
            <a:pPr indent="0" marL="0">
              <a:buNone/>
            </a:pPr>
            <a:r>
              <a:rPr lang="en-US" sz="1300" dirty="0">
                <a:solidFill>
                  <a:srgbClr val="0F172A"/>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640080" y="5303520"/>
            <a:ext cx="10972800" cy="1097280"/>
          </a:xfrm>
          <a:prstGeom prst="roundRect">
            <a:avLst>
              <a:gd name="adj" fmla="val 6667"/>
            </a:avLst>
          </a:prstGeom>
          <a:solidFill>
            <a:srgbClr val="0F172A"/>
          </a:solidFill>
          <a:ln w="12700">
            <a:solidFill>
              <a:srgbClr val="0F172A"/>
            </a:solidFill>
            <a:prstDash val="solid"/>
          </a:ln>
        </p:spPr>
      </p:sp>
      <p:sp>
        <p:nvSpPr>
          <p:cNvPr id="11" name="Text 9"/>
          <p:cNvSpPr/>
          <p:nvPr/>
        </p:nvSpPr>
        <p:spPr>
          <a:xfrm>
            <a:off x="868680" y="5394960"/>
            <a:ext cx="5486400" cy="274320"/>
          </a:xfrm>
          <a:prstGeom prst="rect">
            <a:avLst/>
          </a:prstGeom>
          <a:noFill/>
          <a:ln/>
        </p:spPr>
        <p:txBody>
          <a:bodyPr wrap="square" rtlCol="0" anchor="ctr"/>
          <a:lstStyle/>
          <a:p>
            <a:pPr indent="0" marL="0">
              <a:buNone/>
            </a:pPr>
            <a:r>
              <a:rPr lang="en-US" sz="1100" b="1" spc="300" kern="0" dirty="0">
                <a:solidFill>
                  <a:srgbClr val="06B6D4"/>
                </a:solidFill>
                <a:latin typeface="Calibri" pitchFamily="34" charset="0"/>
                <a:ea typeface="Calibri" pitchFamily="34" charset="-122"/>
                <a:cs typeface="Calibri" pitchFamily="34" charset="-120"/>
              </a:rPr>
              <a:t>LESSON</a:t>
            </a:r>
            <a:endParaRPr lang="en-US" sz="1100" dirty="0"/>
          </a:p>
        </p:txBody>
      </p:sp>
      <p:sp>
        <p:nvSpPr>
          <p:cNvPr id="12" name="Text 10"/>
          <p:cNvSpPr/>
          <p:nvPr/>
        </p:nvSpPr>
        <p:spPr>
          <a:xfrm>
            <a:off x="868680" y="5669280"/>
            <a:ext cx="10698480" cy="6858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Runtime metadata is a lossy abstraction.  </a:t>
            </a:r>
            <a:pPr indent="0" marL="0">
              <a:buNone/>
            </a:pPr>
            <a:r>
              <a:rPr lang="en-US" sz="1300" dirty="0">
                <a:solidFill>
                  <a:srgbClr val="CBD5E1"/>
                </a:solidFill>
                <a:latin typeface="Calibri" pitchFamily="34" charset="0"/>
                <a:ea typeface="Calibri" pitchFamily="34" charset="-122"/>
                <a:cs typeface="Calibri" pitchFamily="34" charset="-120"/>
              </a:rPr>
              <a:t>Definitive seccomp verification requires reading the kernel directly — </a:t>
            </a:r>
            <a:pPr indent="0" marL="0">
              <a:buNone/>
            </a:pPr>
            <a:r>
              <a:rPr lang="en-US" sz="1300" dirty="0">
                <a:solidFill>
                  <a:srgbClr val="06B6D4"/>
                </a:solidFill>
                <a:latin typeface="Consolas" pitchFamily="34" charset="0"/>
                <a:ea typeface="Consolas" pitchFamily="34" charset="-122"/>
                <a:cs typeface="Consolas" pitchFamily="34" charset="-120"/>
              </a:rPr>
              <a:t>/proc/&lt;pid&gt;/status</a:t>
            </a:r>
            <a:pPr indent="0" marL="0">
              <a:buNone/>
            </a:pPr>
            <a:r>
              <a:rPr lang="en-US" sz="1300" dirty="0">
                <a:solidFill>
                  <a:srgbClr val="CBD5E1"/>
                </a:solidFill>
                <a:latin typeface="Calibri" pitchFamily="34" charset="0"/>
                <a:ea typeface="Calibri" pitchFamily="34" charset="-122"/>
                <a:cs typeface="Calibri" pitchFamily="34" charset="-120"/>
              </a:rPr>
              <a:t> — where </a:t>
            </a:r>
            <a:pPr indent="0" marL="0">
              <a:buNone/>
            </a:pPr>
            <a:r>
              <a:rPr lang="en-US" sz="1300" dirty="0">
                <a:solidFill>
                  <a:srgbClr val="06B6D4"/>
                </a:solidFill>
                <a:latin typeface="Consolas" pitchFamily="34" charset="0"/>
                <a:ea typeface="Consolas" pitchFamily="34" charset="-122"/>
                <a:cs typeface="Consolas" pitchFamily="34" charset="-120"/>
              </a:rPr>
              <a:t>Seccomp: 2</a:t>
            </a:r>
            <a:pPr indent="0" marL="0">
              <a:buNone/>
            </a:pPr>
            <a:r>
              <a:rPr lang="en-US" sz="1300" dirty="0">
                <a:solidFill>
                  <a:srgbClr val="CBD5E1"/>
                </a:solidFill>
                <a:latin typeface="Calibri" pitchFamily="34" charset="0"/>
                <a:ea typeface="Calibri" pitchFamily="34" charset="-122"/>
                <a:cs typeface="Calibri" pitchFamily="34" charset="-120"/>
              </a:rPr>
              <a:t> confirms BPF filter mode.  This is the immediate next step in future work.</a:t>
            </a:r>
            <a:endParaRPr lang="en-US" sz="1300" dirty="0"/>
          </a:p>
        </p:txBody>
      </p:sp>
      <p:sp>
        <p:nvSpPr>
          <p:cNvPr id="13" name="Text 11"/>
          <p:cNvSpPr/>
          <p:nvPr/>
        </p:nvSpPr>
        <p:spPr>
          <a:xfrm>
            <a:off x="457200" y="6492240"/>
            <a:ext cx="5486400" cy="27432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Yehia Sobeh  ·  Innopolis University 2026</a:t>
            </a:r>
            <a:endParaRPr lang="en-US" sz="1000" dirty="0"/>
          </a:p>
        </p:txBody>
      </p:sp>
      <p:sp>
        <p:nvSpPr>
          <p:cNvPr id="14" name="Text 12"/>
          <p:cNvSpPr/>
          <p:nvPr/>
        </p:nvSpPr>
        <p:spPr>
          <a:xfrm>
            <a:off x="10789920" y="6492240"/>
            <a:ext cx="9144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 / 14</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457200"/>
            <a:ext cx="10972800" cy="274320"/>
          </a:xfrm>
          <a:prstGeom prst="rect">
            <a:avLst/>
          </a:prstGeom>
          <a:noFill/>
          <a:ln/>
        </p:spPr>
        <p:txBody>
          <a:bodyPr wrap="square" rtlCol="0" anchor="ctr"/>
          <a:lstStyle/>
          <a:p>
            <a:pPr indent="0" marL="0">
              <a:buNone/>
            </a:pPr>
            <a:r>
              <a:rPr lang="en-US" sz="1100" b="1" spc="400" kern="0" dirty="0">
                <a:solidFill>
                  <a:srgbClr val="06B6D4"/>
                </a:solidFill>
                <a:latin typeface="Calibri" pitchFamily="34" charset="0"/>
                <a:ea typeface="Calibri" pitchFamily="34" charset="-122"/>
                <a:cs typeface="Calibri" pitchFamily="34" charset="-120"/>
              </a:rPr>
              <a:t>RESULTS  ·  k8s-psa LIVE DASHBOARD</a:t>
            </a:r>
            <a:endParaRPr lang="en-US" sz="1100" dirty="0"/>
          </a:p>
        </p:txBody>
      </p:sp>
      <p:sp>
        <p:nvSpPr>
          <p:cNvPr id="3" name="Text 1"/>
          <p:cNvSpPr/>
          <p:nvPr/>
        </p:nvSpPr>
        <p:spPr>
          <a:xfrm>
            <a:off x="640080" y="777240"/>
            <a:ext cx="1097280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Continuous monitoring during the evaluation</a:t>
            </a:r>
            <a:endParaRPr lang="en-US" sz="2200" dirty="0"/>
          </a:p>
        </p:txBody>
      </p:sp>
      <p:pic>
        <p:nvPicPr>
          <p:cNvPr id="4" name="Image 0" descr="/home/claude/presentation/figs/dashboard1_clean.png">    </p:cNvPr>
          <p:cNvPicPr>
            <a:picLocks noChangeAspect="1"/>
          </p:cNvPicPr>
          <p:nvPr/>
        </p:nvPicPr>
        <p:blipFill>
          <a:blip r:embed="rId1"/>
          <a:srcRect l="0" r="0" t="0" b="0"/>
          <a:stretch/>
        </p:blipFill>
        <p:spPr>
          <a:xfrm>
            <a:off x="640080" y="1508760"/>
            <a:ext cx="10972800" cy="4389120"/>
          </a:xfrm>
          <a:prstGeom prst="rect">
            <a:avLst/>
          </a:prstGeom>
        </p:spPr>
      </p:pic>
      <p:sp>
        <p:nvSpPr>
          <p:cNvPr id="5" name="Text 2"/>
          <p:cNvSpPr/>
          <p:nvPr/>
        </p:nvSpPr>
        <p:spPr>
          <a:xfrm>
            <a:off x="640080" y="5989320"/>
            <a:ext cx="2651760" cy="411480"/>
          </a:xfrm>
          <a:prstGeom prst="rect">
            <a:avLst/>
          </a:prstGeom>
          <a:noFill/>
          <a:ln/>
        </p:spPr>
        <p:txBody>
          <a:bodyPr wrap="square" lIns="0" tIns="0" rIns="0" bIns="0" rtlCol="0" anchor="ctr"/>
          <a:lstStyle/>
          <a:p>
            <a:pPr indent="0" marL="0">
              <a:buNone/>
            </a:pPr>
            <a:r>
              <a:rPr lang="en-US" sz="2800" b="1" dirty="0">
                <a:solidFill>
                  <a:srgbClr val="06B6D4"/>
                </a:solidFill>
                <a:latin typeface="Calibri" pitchFamily="34" charset="0"/>
                <a:ea typeface="Calibri" pitchFamily="34" charset="-122"/>
                <a:cs typeface="Calibri" pitchFamily="34" charset="-120"/>
              </a:rPr>
              <a:t>6</a:t>
            </a:r>
            <a:endParaRPr lang="en-US" sz="2800" dirty="0"/>
          </a:p>
        </p:txBody>
      </p:sp>
      <p:sp>
        <p:nvSpPr>
          <p:cNvPr id="6" name="Text 3"/>
          <p:cNvSpPr/>
          <p:nvPr/>
        </p:nvSpPr>
        <p:spPr>
          <a:xfrm>
            <a:off x="640080" y="6355080"/>
            <a:ext cx="265176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scan cycles in this snapshot</a:t>
            </a:r>
            <a:endParaRPr lang="en-US" sz="1100" dirty="0"/>
          </a:p>
        </p:txBody>
      </p:sp>
      <p:sp>
        <p:nvSpPr>
          <p:cNvPr id="7" name="Text 4"/>
          <p:cNvSpPr/>
          <p:nvPr/>
        </p:nvSpPr>
        <p:spPr>
          <a:xfrm>
            <a:off x="3474720" y="5989320"/>
            <a:ext cx="2651760" cy="411480"/>
          </a:xfrm>
          <a:prstGeom prst="rect">
            <a:avLst/>
          </a:prstGeom>
          <a:noFill/>
          <a:ln/>
        </p:spPr>
        <p:txBody>
          <a:bodyPr wrap="square" lIns="0" tIns="0" rIns="0" bIns="0" rtlCol="0" anchor="ctr"/>
          <a:lstStyle/>
          <a:p>
            <a:pPr indent="0" marL="0">
              <a:buNone/>
            </a:pPr>
            <a:r>
              <a:rPr lang="en-US" sz="2800" b="1" dirty="0">
                <a:solidFill>
                  <a:srgbClr val="06B6D4"/>
                </a:solidFill>
                <a:latin typeface="Calibri" pitchFamily="34" charset="0"/>
                <a:ea typeface="Calibri" pitchFamily="34" charset="-122"/>
                <a:cs typeface="Calibri" pitchFamily="34" charset="-120"/>
              </a:rPr>
              <a:t>35</a:t>
            </a:r>
            <a:endParaRPr lang="en-US" sz="2800" dirty="0"/>
          </a:p>
        </p:txBody>
      </p:sp>
      <p:sp>
        <p:nvSpPr>
          <p:cNvPr id="8" name="Text 5"/>
          <p:cNvSpPr/>
          <p:nvPr/>
        </p:nvSpPr>
        <p:spPr>
          <a:xfrm>
            <a:off x="3474720" y="6355080"/>
            <a:ext cx="265176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unique spec violations (L1)</a:t>
            </a:r>
            <a:endParaRPr lang="en-US" sz="1100" dirty="0"/>
          </a:p>
        </p:txBody>
      </p:sp>
      <p:sp>
        <p:nvSpPr>
          <p:cNvPr id="9" name="Text 6"/>
          <p:cNvSpPr/>
          <p:nvPr/>
        </p:nvSpPr>
        <p:spPr>
          <a:xfrm>
            <a:off x="6309360" y="5989320"/>
            <a:ext cx="2651760" cy="411480"/>
          </a:xfrm>
          <a:prstGeom prst="rect">
            <a:avLst/>
          </a:prstGeom>
          <a:noFill/>
          <a:ln/>
        </p:spPr>
        <p:txBody>
          <a:bodyPr wrap="square" lIns="0" tIns="0" rIns="0" bIns="0" rtlCol="0" anchor="ctr"/>
          <a:lstStyle/>
          <a:p>
            <a:pPr indent="0" marL="0">
              <a:buNone/>
            </a:pPr>
            <a:r>
              <a:rPr lang="en-US" sz="2800" b="1" dirty="0">
                <a:solidFill>
                  <a:srgbClr val="06B6D4"/>
                </a:solidFill>
                <a:latin typeface="Calibri" pitchFamily="34" charset="0"/>
                <a:ea typeface="Calibri" pitchFamily="34" charset="-122"/>
                <a:cs typeface="Calibri" pitchFamily="34" charset="-120"/>
              </a:rPr>
              <a:t>44</a:t>
            </a:r>
            <a:endParaRPr lang="en-US" sz="2800" dirty="0"/>
          </a:p>
        </p:txBody>
      </p:sp>
      <p:sp>
        <p:nvSpPr>
          <p:cNvPr id="10" name="Text 7"/>
          <p:cNvSpPr/>
          <p:nvPr/>
        </p:nvSpPr>
        <p:spPr>
          <a:xfrm>
            <a:off x="6309360" y="6355080"/>
            <a:ext cx="265176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critical drift findings (L2)</a:t>
            </a:r>
            <a:endParaRPr lang="en-US" sz="1100" dirty="0"/>
          </a:p>
        </p:txBody>
      </p:sp>
      <p:sp>
        <p:nvSpPr>
          <p:cNvPr id="11" name="Text 8"/>
          <p:cNvSpPr/>
          <p:nvPr/>
        </p:nvSpPr>
        <p:spPr>
          <a:xfrm>
            <a:off x="9144000" y="5989320"/>
            <a:ext cx="2651760" cy="411480"/>
          </a:xfrm>
          <a:prstGeom prst="rect">
            <a:avLst/>
          </a:prstGeom>
          <a:noFill/>
          <a:ln/>
        </p:spPr>
        <p:txBody>
          <a:bodyPr wrap="square" lIns="0" tIns="0" rIns="0" bIns="0" rtlCol="0" anchor="ctr"/>
          <a:lstStyle/>
          <a:p>
            <a:pPr indent="0" marL="0">
              <a:buNone/>
            </a:pPr>
            <a:r>
              <a:rPr lang="en-US" sz="2800" b="1" dirty="0">
                <a:solidFill>
                  <a:srgbClr val="06B6D4"/>
                </a:solidFill>
                <a:latin typeface="Calibri" pitchFamily="34" charset="0"/>
                <a:ea typeface="Calibri" pitchFamily="34" charset="-122"/>
                <a:cs typeface="Calibri" pitchFamily="34" charset="-120"/>
              </a:rPr>
              <a:t>44</a:t>
            </a:r>
            <a:endParaRPr lang="en-US" sz="2800" dirty="0"/>
          </a:p>
        </p:txBody>
      </p:sp>
      <p:sp>
        <p:nvSpPr>
          <p:cNvPr id="12" name="Text 9"/>
          <p:cNvSpPr/>
          <p:nvPr/>
        </p:nvSpPr>
        <p:spPr>
          <a:xfrm>
            <a:off x="9144000" y="6355080"/>
            <a:ext cx="2651760" cy="274320"/>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unit tests · 0.2 s · no cluster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57200"/>
            <a:ext cx="10972800" cy="274320"/>
          </a:xfrm>
          <a:prstGeom prst="rect">
            <a:avLst/>
          </a:prstGeom>
          <a:noFill/>
          <a:ln/>
        </p:spPr>
        <p:txBody>
          <a:bodyPr wrap="square" rtlCol="0" anchor="ctr"/>
          <a:lstStyle/>
          <a:p>
            <a:pPr indent="0" marL="0">
              <a:buNone/>
            </a:pPr>
            <a:r>
              <a:rPr lang="en-US" sz="1100" b="1" spc="400" kern="0" dirty="0">
                <a:solidFill>
                  <a:srgbClr val="06B6D4"/>
                </a:solidFill>
                <a:latin typeface="Calibri" pitchFamily="34" charset="0"/>
                <a:ea typeface="Calibri" pitchFamily="34" charset="-122"/>
                <a:cs typeface="Calibri" pitchFamily="34" charset="-120"/>
              </a:rPr>
              <a:t>ANSWERING THE RESEARCH QUESTIONS</a:t>
            </a:r>
            <a:endParaRPr lang="en-US" sz="1100" dirty="0"/>
          </a:p>
        </p:txBody>
      </p:sp>
      <p:sp>
        <p:nvSpPr>
          <p:cNvPr id="3" name="Text 1"/>
          <p:cNvSpPr/>
          <p:nvPr/>
        </p:nvSpPr>
        <p:spPr>
          <a:xfrm>
            <a:off x="640080" y="777240"/>
            <a:ext cx="10972800" cy="45720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What the evaluation tells us</a:t>
            </a:r>
            <a:endParaRPr lang="en-US" sz="2200" dirty="0"/>
          </a:p>
        </p:txBody>
      </p:sp>
      <p:sp>
        <p:nvSpPr>
          <p:cNvPr id="4" name="Shape 2"/>
          <p:cNvSpPr/>
          <p:nvPr/>
        </p:nvSpPr>
        <p:spPr>
          <a:xfrm>
            <a:off x="640080" y="1554480"/>
            <a:ext cx="3566160" cy="4114800"/>
          </a:xfrm>
          <a:prstGeom prst="roundRect">
            <a:avLst>
              <a:gd name="adj" fmla="val 2051"/>
            </a:avLst>
          </a:prstGeom>
          <a:solidFill>
            <a:srgbClr val="FFFFFF"/>
          </a:solidFill>
          <a:ln w="6350">
            <a:solidFill>
              <a:srgbClr val="E2E8F0"/>
            </a:solidFill>
            <a:prstDash val="solid"/>
          </a:ln>
          <a:effectLst>
            <a:outerShdw sx="100000" sy="100000" kx="0" ky="0" algn="bl" rotWithShape="0" blurRad="101600" dist="25400" dir="5400000">
              <a:srgbClr val="000000">
                <a:alpha val="6000"/>
              </a:srgbClr>
            </a:outerShdw>
          </a:effectLst>
        </p:spPr>
      </p:sp>
      <p:sp>
        <p:nvSpPr>
          <p:cNvPr id="5" name="Text 3"/>
          <p:cNvSpPr/>
          <p:nvPr/>
        </p:nvSpPr>
        <p:spPr>
          <a:xfrm>
            <a:off x="868680" y="1691640"/>
            <a:ext cx="1371600" cy="365760"/>
          </a:xfrm>
          <a:prstGeom prst="rect">
            <a:avLst/>
          </a:prstGeom>
          <a:noFill/>
          <a:ln/>
        </p:spPr>
        <p:txBody>
          <a:bodyPr wrap="square" rtlCol="0" anchor="ctr"/>
          <a:lstStyle/>
          <a:p>
            <a:pPr indent="0" marL="0">
              <a:buNone/>
            </a:pPr>
            <a:r>
              <a:rPr lang="en-US" sz="1600" b="1" dirty="0">
                <a:solidFill>
                  <a:srgbClr val="DC2626"/>
                </a:solidFill>
                <a:latin typeface="Calibri" pitchFamily="34" charset="0"/>
                <a:ea typeface="Calibri" pitchFamily="34" charset="-122"/>
                <a:cs typeface="Calibri" pitchFamily="34" charset="-120"/>
              </a:rPr>
              <a:t>RQ1</a:t>
            </a:r>
            <a:endParaRPr lang="en-US" sz="1600" dirty="0"/>
          </a:p>
        </p:txBody>
      </p:sp>
      <p:sp>
        <p:nvSpPr>
          <p:cNvPr id="6" name="Text 4"/>
          <p:cNvSpPr/>
          <p:nvPr/>
        </p:nvSpPr>
        <p:spPr>
          <a:xfrm>
            <a:off x="868680" y="2057400"/>
            <a:ext cx="3200400" cy="86868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Does divergence exist?</a:t>
            </a:r>
            <a:endParaRPr lang="en-US" sz="1600" dirty="0"/>
          </a:p>
        </p:txBody>
      </p:sp>
      <p:sp>
        <p:nvSpPr>
          <p:cNvPr id="7" name="Text 5"/>
          <p:cNvSpPr/>
          <p:nvPr/>
        </p:nvSpPr>
        <p:spPr>
          <a:xfrm>
            <a:off x="868680" y="3017520"/>
            <a:ext cx="3200400" cy="2560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Yes. Docker silently strips seccomp from privileged containers. The K8s API still reports the declaration; the kernel applies no filter.</a:t>
            </a:r>
            <a:endParaRPr lang="en-US" sz="1300" dirty="0"/>
          </a:p>
        </p:txBody>
      </p:sp>
      <p:sp>
        <p:nvSpPr>
          <p:cNvPr id="8" name="Shape 6"/>
          <p:cNvSpPr/>
          <p:nvPr/>
        </p:nvSpPr>
        <p:spPr>
          <a:xfrm>
            <a:off x="4416552" y="1554480"/>
            <a:ext cx="3566160" cy="4114800"/>
          </a:xfrm>
          <a:prstGeom prst="roundRect">
            <a:avLst>
              <a:gd name="adj" fmla="val 2051"/>
            </a:avLst>
          </a:prstGeom>
          <a:solidFill>
            <a:srgbClr val="FFFFFF"/>
          </a:solidFill>
          <a:ln w="6350">
            <a:solidFill>
              <a:srgbClr val="E2E8F0"/>
            </a:solidFill>
            <a:prstDash val="solid"/>
          </a:ln>
          <a:effectLst>
            <a:outerShdw sx="100000" sy="100000" kx="0" ky="0" algn="bl" rotWithShape="0" blurRad="101600" dist="25400" dir="5400000">
              <a:srgbClr val="000000">
                <a:alpha val="6000"/>
              </a:srgbClr>
            </a:outerShdw>
          </a:effectLst>
        </p:spPr>
      </p:sp>
      <p:sp>
        <p:nvSpPr>
          <p:cNvPr id="9" name="Text 7"/>
          <p:cNvSpPr/>
          <p:nvPr/>
        </p:nvSpPr>
        <p:spPr>
          <a:xfrm>
            <a:off x="4645152" y="1691640"/>
            <a:ext cx="1371600" cy="365760"/>
          </a:xfrm>
          <a:prstGeom prst="rect">
            <a:avLst/>
          </a:prstGeom>
          <a:noFill/>
          <a:ln/>
        </p:spPr>
        <p:txBody>
          <a:bodyPr wrap="square" rtlCol="0" anchor="ctr"/>
          <a:lstStyle/>
          <a:p>
            <a:pPr indent="0" marL="0">
              <a:buNone/>
            </a:pPr>
            <a:r>
              <a:rPr lang="en-US" sz="1600" b="1" dirty="0">
                <a:solidFill>
                  <a:srgbClr val="059669"/>
                </a:solidFill>
                <a:latin typeface="Calibri" pitchFamily="34" charset="0"/>
                <a:ea typeface="Calibri" pitchFamily="34" charset="-122"/>
                <a:cs typeface="Calibri" pitchFamily="34" charset="-120"/>
              </a:rPr>
              <a:t>RQ2</a:t>
            </a:r>
            <a:endParaRPr lang="en-US" sz="1600" dirty="0"/>
          </a:p>
        </p:txBody>
      </p:sp>
      <p:sp>
        <p:nvSpPr>
          <p:cNvPr id="10" name="Text 8"/>
          <p:cNvSpPr/>
          <p:nvPr/>
        </p:nvSpPr>
        <p:spPr>
          <a:xfrm>
            <a:off x="4645152" y="2057400"/>
            <a:ext cx="3200400" cy="86868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Can a lightweight tool detect it?</a:t>
            </a:r>
            <a:endParaRPr lang="en-US" sz="1600" dirty="0"/>
          </a:p>
        </p:txBody>
      </p:sp>
      <p:sp>
        <p:nvSpPr>
          <p:cNvPr id="11" name="Text 9"/>
          <p:cNvSpPr/>
          <p:nvPr/>
        </p:nvSpPr>
        <p:spPr>
          <a:xfrm>
            <a:off x="4645152" y="3017520"/>
            <a:ext cx="3200400" cy="2560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Yes. ≈3.1 s per scan cycle over 16 containers · 64 MiB memory · 100 m CPU · no modification of cluster security mechanisms.</a:t>
            </a:r>
            <a:endParaRPr lang="en-US" sz="1300" dirty="0"/>
          </a:p>
        </p:txBody>
      </p:sp>
      <p:sp>
        <p:nvSpPr>
          <p:cNvPr id="12" name="Shape 10"/>
          <p:cNvSpPr/>
          <p:nvPr/>
        </p:nvSpPr>
        <p:spPr>
          <a:xfrm>
            <a:off x="8193024" y="1554480"/>
            <a:ext cx="3566160" cy="4114800"/>
          </a:xfrm>
          <a:prstGeom prst="roundRect">
            <a:avLst>
              <a:gd name="adj" fmla="val 2051"/>
            </a:avLst>
          </a:prstGeom>
          <a:solidFill>
            <a:srgbClr val="FFFFFF"/>
          </a:solidFill>
          <a:ln w="6350">
            <a:solidFill>
              <a:srgbClr val="E2E8F0"/>
            </a:solidFill>
            <a:prstDash val="solid"/>
          </a:ln>
          <a:effectLst>
            <a:outerShdw sx="100000" sy="100000" kx="0" ky="0" algn="bl" rotWithShape="0" blurRad="101600" dist="25400" dir="5400000">
              <a:srgbClr val="000000">
                <a:alpha val="6000"/>
              </a:srgbClr>
            </a:outerShdw>
          </a:effectLst>
        </p:spPr>
      </p:sp>
      <p:sp>
        <p:nvSpPr>
          <p:cNvPr id="13" name="Text 11"/>
          <p:cNvSpPr/>
          <p:nvPr/>
        </p:nvSpPr>
        <p:spPr>
          <a:xfrm>
            <a:off x="8421624" y="1691640"/>
            <a:ext cx="1371600" cy="365760"/>
          </a:xfrm>
          <a:prstGeom prst="rect">
            <a:avLst/>
          </a:prstGeom>
          <a:noFill/>
          <a:ln/>
        </p:spPr>
        <p:txBody>
          <a:bodyPr wrap="square" rtlCol="0" anchor="ctr"/>
          <a:lstStyle/>
          <a:p>
            <a:pPr indent="0" marL="0">
              <a:buNone/>
            </a:pPr>
            <a:r>
              <a:rPr lang="en-US" sz="1600" b="1" dirty="0">
                <a:solidFill>
                  <a:srgbClr val="D97706"/>
                </a:solidFill>
                <a:latin typeface="Calibri" pitchFamily="34" charset="0"/>
                <a:ea typeface="Calibri" pitchFamily="34" charset="-122"/>
                <a:cs typeface="Calibri" pitchFamily="34" charset="-120"/>
              </a:rPr>
              <a:t>RQ3</a:t>
            </a:r>
            <a:endParaRPr lang="en-US" sz="1600" dirty="0"/>
          </a:p>
        </p:txBody>
      </p:sp>
      <p:sp>
        <p:nvSpPr>
          <p:cNvPr id="14" name="Text 12"/>
          <p:cNvSpPr/>
          <p:nvPr/>
        </p:nvSpPr>
        <p:spPr>
          <a:xfrm>
            <a:off x="8421624" y="2057400"/>
            <a:ext cx="3200400" cy="86868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What categories occur?</a:t>
            </a:r>
            <a:endParaRPr lang="en-US" sz="1600" dirty="0"/>
          </a:p>
        </p:txBody>
      </p:sp>
      <p:sp>
        <p:nvSpPr>
          <p:cNvPr id="15" name="Text 13"/>
          <p:cNvSpPr/>
          <p:nvPr/>
        </p:nvSpPr>
        <p:spPr>
          <a:xfrm>
            <a:off x="8421624" y="3017520"/>
            <a:ext cx="3200400" cy="2560320"/>
          </a:xfrm>
          <a:prstGeom prst="rect">
            <a:avLst/>
          </a:prstGeom>
          <a:noFill/>
          <a:ln/>
        </p:spPr>
        <p:txBody>
          <a:bodyPr wrap="square" lIns="0" tIns="0" rIns="0" bIns="0" rtlCol="0" anchor="t"/>
          <a:lstStyle/>
          <a:p>
            <a:pPr indent="0" marL="0">
              <a:buNone/>
            </a:pPr>
            <a:r>
              <a:rPr lang="en-US" sz="1300" dirty="0">
                <a:solidFill>
                  <a:srgbClr val="334155"/>
                </a:solidFill>
                <a:latin typeface="Calibri" pitchFamily="34" charset="0"/>
                <a:ea typeface="Calibri" pitchFamily="34" charset="-122"/>
                <a:cs typeface="Calibri" pitchFamily="34" charset="-120"/>
              </a:rPr>
              <a:t>Three:  (1) genuine enforcement gap · (2) capability inflation under privileged mode · (3) observability artefact in runtime metadata.</a:t>
            </a:r>
            <a:endParaRPr lang="en-US" sz="1300" dirty="0"/>
          </a:p>
        </p:txBody>
      </p:sp>
      <p:sp>
        <p:nvSpPr>
          <p:cNvPr id="16" name="Shape 14"/>
          <p:cNvSpPr/>
          <p:nvPr/>
        </p:nvSpPr>
        <p:spPr>
          <a:xfrm>
            <a:off x="640080" y="5852160"/>
            <a:ext cx="10972800" cy="594360"/>
          </a:xfrm>
          <a:prstGeom prst="roundRect">
            <a:avLst>
              <a:gd name="adj" fmla="val 12308"/>
            </a:avLst>
          </a:prstGeom>
          <a:solidFill>
            <a:srgbClr val="0F172A"/>
          </a:solidFill>
          <a:ln w="12700">
            <a:solidFill>
              <a:srgbClr val="0F172A"/>
            </a:solidFill>
            <a:prstDash val="solid"/>
          </a:ln>
        </p:spPr>
      </p:sp>
      <p:sp>
        <p:nvSpPr>
          <p:cNvPr id="17" name="Text 15"/>
          <p:cNvSpPr/>
          <p:nvPr/>
        </p:nvSpPr>
        <p:spPr>
          <a:xfrm>
            <a:off x="914400" y="5852160"/>
            <a:ext cx="10515600" cy="59436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Scan cycle: </a:t>
            </a:r>
            <a:pPr indent="0" marL="0">
              <a:buNone/>
            </a:pPr>
            <a:r>
              <a:rPr lang="en-US" sz="1300" b="1" dirty="0">
                <a:solidFill>
                  <a:srgbClr val="06B6D4"/>
                </a:solidFill>
                <a:latin typeface="Calibri" pitchFamily="34" charset="0"/>
                <a:ea typeface="Calibri" pitchFamily="34" charset="-122"/>
                <a:cs typeface="Calibri" pitchFamily="34" charset="-120"/>
              </a:rPr>
              <a:t>≈3.1 s    </a:t>
            </a:r>
            <a:pPr indent="0" marL="0">
              <a:buNone/>
            </a:pPr>
            <a:r>
              <a:rPr lang="en-US" sz="1300" dirty="0">
                <a:solidFill>
                  <a:srgbClr val="64748B"/>
                </a:solidFill>
                <a:latin typeface="Calibri" pitchFamily="34" charset="0"/>
                <a:ea typeface="Calibri" pitchFamily="34" charset="-122"/>
                <a:cs typeface="Calibri" pitchFamily="34" charset="-120"/>
              </a:rPr>
              <a:t>Memory: </a:t>
            </a:r>
            <a:pPr indent="0" marL="0">
              <a:buNone/>
            </a:pPr>
            <a:r>
              <a:rPr lang="en-US" sz="1300" b="1" dirty="0">
                <a:solidFill>
                  <a:srgbClr val="06B6D4"/>
                </a:solidFill>
                <a:latin typeface="Calibri" pitchFamily="34" charset="0"/>
                <a:ea typeface="Calibri" pitchFamily="34" charset="-122"/>
                <a:cs typeface="Calibri" pitchFamily="34" charset="-120"/>
              </a:rPr>
              <a:t>64 MiB    </a:t>
            </a:r>
            <a:pPr indent="0" marL="0">
              <a:buNone/>
            </a:pPr>
            <a:r>
              <a:rPr lang="en-US" sz="1300" dirty="0">
                <a:solidFill>
                  <a:srgbClr val="64748B"/>
                </a:solidFill>
                <a:latin typeface="Calibri" pitchFamily="34" charset="0"/>
                <a:ea typeface="Calibri" pitchFamily="34" charset="-122"/>
                <a:cs typeface="Calibri" pitchFamily="34" charset="-120"/>
              </a:rPr>
              <a:t>CPU: </a:t>
            </a:r>
            <a:pPr indent="0" marL="0">
              <a:buNone/>
            </a:pPr>
            <a:r>
              <a:rPr lang="en-US" sz="1300" b="1" dirty="0">
                <a:solidFill>
                  <a:srgbClr val="06B6D4"/>
                </a:solidFill>
                <a:latin typeface="Calibri" pitchFamily="34" charset="0"/>
                <a:ea typeface="Calibri" pitchFamily="34" charset="-122"/>
                <a:cs typeface="Calibri" pitchFamily="34" charset="-120"/>
              </a:rPr>
              <a:t>&lt;100 m    </a:t>
            </a:r>
            <a:pPr indent="0" marL="0">
              <a:buNone/>
            </a:pPr>
            <a:r>
              <a:rPr lang="en-US" sz="1300" dirty="0">
                <a:solidFill>
                  <a:srgbClr val="64748B"/>
                </a:solidFill>
                <a:latin typeface="Calibri" pitchFamily="34" charset="0"/>
                <a:ea typeface="Calibri" pitchFamily="34" charset="-122"/>
                <a:cs typeface="Calibri" pitchFamily="34" charset="-120"/>
              </a:rPr>
              <a:t>Unit tests: </a:t>
            </a:r>
            <a:pPr indent="0" marL="0">
              <a:buNone/>
            </a:pPr>
            <a:r>
              <a:rPr lang="en-US" sz="1300" b="1" dirty="0">
                <a:solidFill>
                  <a:srgbClr val="06B6D4"/>
                </a:solidFill>
                <a:latin typeface="Calibri" pitchFamily="34" charset="0"/>
                <a:ea typeface="Calibri" pitchFamily="34" charset="-122"/>
                <a:cs typeface="Calibri" pitchFamily="34" charset="-120"/>
              </a:rPr>
              <a:t>44 in 0.2 s    </a:t>
            </a:r>
            <a:pPr indent="0" marL="0">
              <a:buNone/>
            </a:pPr>
            <a:r>
              <a:rPr lang="en-US" sz="1300" dirty="0">
                <a:solidFill>
                  <a:srgbClr val="64748B"/>
                </a:solidFill>
                <a:latin typeface="Calibri" pitchFamily="34" charset="0"/>
                <a:ea typeface="Calibri" pitchFamily="34" charset="-122"/>
                <a:cs typeface="Calibri" pitchFamily="34" charset="-120"/>
              </a:rPr>
              <a:t>Default interval: </a:t>
            </a:r>
            <a:pPr indent="0" marL="0">
              <a:buNone/>
            </a:pPr>
            <a:r>
              <a:rPr lang="en-US" sz="1300" b="1" dirty="0">
                <a:solidFill>
                  <a:srgbClr val="06B6D4"/>
                </a:solidFill>
                <a:latin typeface="Calibri" pitchFamily="34" charset="0"/>
                <a:ea typeface="Calibri" pitchFamily="34" charset="-122"/>
                <a:cs typeface="Calibri" pitchFamily="34" charset="-120"/>
              </a:rPr>
              <a:t>60 s</a:t>
            </a:r>
            <a:endParaRPr lang="en-US" sz="1300" dirty="0"/>
          </a:p>
        </p:txBody>
      </p:sp>
      <p:sp>
        <p:nvSpPr>
          <p:cNvPr id="18" name="Text 16"/>
          <p:cNvSpPr/>
          <p:nvPr/>
        </p:nvSpPr>
        <p:spPr>
          <a:xfrm>
            <a:off x="457200" y="6492240"/>
            <a:ext cx="5486400" cy="27432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Yehia Sobeh  ·  Innopolis University 2026</a:t>
            </a:r>
            <a:endParaRPr lang="en-US" sz="1000" dirty="0"/>
          </a:p>
        </p:txBody>
      </p:sp>
      <p:sp>
        <p:nvSpPr>
          <p:cNvPr id="19" name="Text 17"/>
          <p:cNvSpPr/>
          <p:nvPr/>
        </p:nvSpPr>
        <p:spPr>
          <a:xfrm>
            <a:off x="10789920" y="6492240"/>
            <a:ext cx="9144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12 / 14</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640080" y="457200"/>
            <a:ext cx="10972800" cy="274320"/>
          </a:xfrm>
          <a:prstGeom prst="rect">
            <a:avLst/>
          </a:prstGeom>
          <a:noFill/>
          <a:ln/>
        </p:spPr>
        <p:txBody>
          <a:bodyPr wrap="square" rtlCol="0" anchor="ctr"/>
          <a:lstStyle/>
          <a:p>
            <a:pPr indent="0" marL="0">
              <a:buNone/>
            </a:pPr>
            <a:r>
              <a:rPr lang="en-US" sz="1100" b="1" spc="400" kern="0" dirty="0">
                <a:solidFill>
                  <a:srgbClr val="06B6D4"/>
                </a:solidFill>
                <a:latin typeface="Calibri" pitchFamily="34" charset="0"/>
                <a:ea typeface="Calibri" pitchFamily="34" charset="-122"/>
                <a:cs typeface="Calibri" pitchFamily="34" charset="-120"/>
              </a:rPr>
              <a:t>LIMITATIONS  ·  FUTURE WORK</a:t>
            </a:r>
            <a:endParaRPr lang="en-US" sz="1100" dirty="0"/>
          </a:p>
        </p:txBody>
      </p:sp>
      <p:sp>
        <p:nvSpPr>
          <p:cNvPr id="3" name="Text 1"/>
          <p:cNvSpPr/>
          <p:nvPr/>
        </p:nvSpPr>
        <p:spPr>
          <a:xfrm>
            <a:off x="640080" y="777240"/>
            <a:ext cx="10972800" cy="457200"/>
          </a:xfrm>
          <a:prstGeom prst="rect">
            <a:avLst/>
          </a:prstGeom>
          <a:noFill/>
          <a:ln/>
        </p:spPr>
        <p:txBody>
          <a:bodyPr wrap="square" lIns="0" tIns="0" rIns="0" bIns="0" rtlCol="0" anchor="ctr"/>
          <a:lstStyle/>
          <a:p>
            <a:pPr indent="0" marL="0">
              <a:buNone/>
            </a:pPr>
            <a:r>
              <a:rPr lang="en-US" sz="2200" b="1" dirty="0">
                <a:solidFill>
                  <a:srgbClr val="0F172A"/>
                </a:solidFill>
                <a:latin typeface="Calibri" pitchFamily="34" charset="0"/>
                <a:ea typeface="Calibri" pitchFamily="34" charset="-122"/>
                <a:cs typeface="Calibri" pitchFamily="34" charset="-120"/>
              </a:rPr>
              <a:t>Honest constraints and where this work goes next</a:t>
            </a:r>
            <a:endParaRPr lang="en-US" sz="2200" dirty="0"/>
          </a:p>
        </p:txBody>
      </p:sp>
      <p:sp>
        <p:nvSpPr>
          <p:cNvPr id="4" name="Shape 2"/>
          <p:cNvSpPr/>
          <p:nvPr/>
        </p:nvSpPr>
        <p:spPr>
          <a:xfrm>
            <a:off x="640080" y="1554480"/>
            <a:ext cx="5394960" cy="4572000"/>
          </a:xfrm>
          <a:prstGeom prst="roundRect">
            <a:avLst>
              <a:gd name="adj" fmla="val 1600"/>
            </a:avLst>
          </a:prstGeom>
          <a:solidFill>
            <a:srgbClr val="FFFFFF"/>
          </a:solidFill>
          <a:ln w="6350">
            <a:solidFill>
              <a:srgbClr val="E2E8F0"/>
            </a:solidFill>
            <a:prstDash val="solid"/>
          </a:ln>
          <a:effectLst>
            <a:outerShdw sx="100000" sy="100000" kx="0" ky="0" algn="bl" rotWithShape="0" blurRad="101600" dist="25400" dir="5400000">
              <a:srgbClr val="000000">
                <a:alpha val="6000"/>
              </a:srgbClr>
            </a:outerShdw>
          </a:effectLst>
        </p:spPr>
      </p:sp>
      <p:sp>
        <p:nvSpPr>
          <p:cNvPr id="5" name="Text 3"/>
          <p:cNvSpPr/>
          <p:nvPr/>
        </p:nvSpPr>
        <p:spPr>
          <a:xfrm>
            <a:off x="868680" y="1691640"/>
            <a:ext cx="5029200" cy="411480"/>
          </a:xfrm>
          <a:prstGeom prst="rect">
            <a:avLst/>
          </a:prstGeom>
          <a:noFill/>
          <a:ln/>
        </p:spPr>
        <p:txBody>
          <a:bodyPr wrap="square"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Limitations</a:t>
            </a:r>
            <a:endParaRPr lang="en-US" sz="1800" dirty="0"/>
          </a:p>
        </p:txBody>
      </p:sp>
      <p:sp>
        <p:nvSpPr>
          <p:cNvPr id="6" name="Shape 4"/>
          <p:cNvSpPr/>
          <p:nvPr/>
        </p:nvSpPr>
        <p:spPr>
          <a:xfrm>
            <a:off x="868680" y="2194560"/>
            <a:ext cx="109728" cy="109728"/>
          </a:xfrm>
          <a:prstGeom prst="ellipse">
            <a:avLst/>
          </a:prstGeom>
          <a:solidFill>
            <a:srgbClr val="D97706"/>
          </a:solidFill>
          <a:ln w="12700">
            <a:solidFill>
              <a:srgbClr val="D97706"/>
            </a:solidFill>
            <a:prstDash val="solid"/>
          </a:ln>
        </p:spPr>
      </p:sp>
      <p:sp>
        <p:nvSpPr>
          <p:cNvPr id="7" name="Text 5"/>
          <p:cNvSpPr/>
          <p:nvPr/>
        </p:nvSpPr>
        <p:spPr>
          <a:xfrm>
            <a:off x="1097280" y="2148840"/>
            <a:ext cx="484632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Single runtime tested</a:t>
            </a:r>
            <a:endParaRPr lang="en-US" sz="1300" dirty="0"/>
          </a:p>
        </p:txBody>
      </p:sp>
      <p:sp>
        <p:nvSpPr>
          <p:cNvPr id="8" name="Text 6"/>
          <p:cNvSpPr/>
          <p:nvPr/>
        </p:nvSpPr>
        <p:spPr>
          <a:xfrm>
            <a:off x="1097280" y="2423160"/>
            <a:ext cx="4846320" cy="6400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Evaluation used Minikube with Docker. The containerd adapter was implemented and unit-tested but not exercised in cluster experiments.</a:t>
            </a:r>
            <a:endParaRPr lang="en-US" sz="1100" dirty="0"/>
          </a:p>
        </p:txBody>
      </p:sp>
      <p:sp>
        <p:nvSpPr>
          <p:cNvPr id="9" name="Shape 7"/>
          <p:cNvSpPr/>
          <p:nvPr/>
        </p:nvSpPr>
        <p:spPr>
          <a:xfrm>
            <a:off x="868680" y="3154680"/>
            <a:ext cx="109728" cy="109728"/>
          </a:xfrm>
          <a:prstGeom prst="ellipse">
            <a:avLst/>
          </a:prstGeom>
          <a:solidFill>
            <a:srgbClr val="D97706"/>
          </a:solidFill>
          <a:ln w="12700">
            <a:solidFill>
              <a:srgbClr val="D97706"/>
            </a:solidFill>
            <a:prstDash val="solid"/>
          </a:ln>
        </p:spPr>
      </p:sp>
      <p:sp>
        <p:nvSpPr>
          <p:cNvPr id="10" name="Text 8"/>
          <p:cNvSpPr/>
          <p:nvPr/>
        </p:nvSpPr>
        <p:spPr>
          <a:xfrm>
            <a:off x="1097280" y="3108960"/>
            <a:ext cx="484632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Metadata-based seccomp check</a:t>
            </a:r>
            <a:endParaRPr lang="en-US" sz="1300" dirty="0"/>
          </a:p>
        </p:txBody>
      </p:sp>
      <p:sp>
        <p:nvSpPr>
          <p:cNvPr id="11" name="Text 9"/>
          <p:cNvSpPr/>
          <p:nvPr/>
        </p:nvSpPr>
        <p:spPr>
          <a:xfrm>
            <a:off x="1097280" y="3383280"/>
            <a:ext cx="4846320" cy="6400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Layer 2 reads docker inspect, not the kernel. This is what produced the observability false positives on Pods 1, 5, 6.</a:t>
            </a:r>
            <a:endParaRPr lang="en-US" sz="1100" dirty="0"/>
          </a:p>
        </p:txBody>
      </p:sp>
      <p:sp>
        <p:nvSpPr>
          <p:cNvPr id="12" name="Shape 10"/>
          <p:cNvSpPr/>
          <p:nvPr/>
        </p:nvSpPr>
        <p:spPr>
          <a:xfrm>
            <a:off x="868680" y="4114800"/>
            <a:ext cx="109728" cy="109728"/>
          </a:xfrm>
          <a:prstGeom prst="ellipse">
            <a:avLst/>
          </a:prstGeom>
          <a:solidFill>
            <a:srgbClr val="D97706"/>
          </a:solidFill>
          <a:ln w="12700">
            <a:solidFill>
              <a:srgbClr val="D97706"/>
            </a:solidFill>
            <a:prstDash val="solid"/>
          </a:ln>
        </p:spPr>
      </p:sp>
      <p:sp>
        <p:nvSpPr>
          <p:cNvPr id="13" name="Text 11"/>
          <p:cNvSpPr/>
          <p:nvPr/>
        </p:nvSpPr>
        <p:spPr>
          <a:xfrm>
            <a:off x="1097280" y="4069080"/>
            <a:ext cx="484632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Single-node cluster</a:t>
            </a:r>
            <a:endParaRPr lang="en-US" sz="1300" dirty="0"/>
          </a:p>
        </p:txBody>
      </p:sp>
      <p:sp>
        <p:nvSpPr>
          <p:cNvPr id="14" name="Text 12"/>
          <p:cNvSpPr/>
          <p:nvPr/>
        </p:nvSpPr>
        <p:spPr>
          <a:xfrm>
            <a:off x="1097280" y="4343400"/>
            <a:ext cx="4846320" cy="6400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Production multi-node, NetworkPolicy, and service-mesh interactions were not in scope.</a:t>
            </a:r>
            <a:endParaRPr lang="en-US" sz="1100" dirty="0"/>
          </a:p>
        </p:txBody>
      </p:sp>
      <p:sp>
        <p:nvSpPr>
          <p:cNvPr id="15" name="Shape 13"/>
          <p:cNvSpPr/>
          <p:nvPr/>
        </p:nvSpPr>
        <p:spPr>
          <a:xfrm>
            <a:off x="868680" y="5074920"/>
            <a:ext cx="109728" cy="109728"/>
          </a:xfrm>
          <a:prstGeom prst="ellipse">
            <a:avLst/>
          </a:prstGeom>
          <a:solidFill>
            <a:srgbClr val="D97706"/>
          </a:solidFill>
          <a:ln w="12700">
            <a:solidFill>
              <a:srgbClr val="D97706"/>
            </a:solidFill>
            <a:prstDash val="solid"/>
          </a:ln>
        </p:spPr>
      </p:sp>
      <p:sp>
        <p:nvSpPr>
          <p:cNvPr id="16" name="Text 14"/>
          <p:cNvSpPr/>
          <p:nvPr/>
        </p:nvSpPr>
        <p:spPr>
          <a:xfrm>
            <a:off x="1097280" y="5029200"/>
            <a:ext cx="484632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CLI-based inspection</a:t>
            </a:r>
            <a:endParaRPr lang="en-US" sz="1300" dirty="0"/>
          </a:p>
        </p:txBody>
      </p:sp>
      <p:sp>
        <p:nvSpPr>
          <p:cNvPr id="17" name="Text 15"/>
          <p:cNvSpPr/>
          <p:nvPr/>
        </p:nvSpPr>
        <p:spPr>
          <a:xfrm>
            <a:off x="1097280" y="5303520"/>
            <a:ext cx="4846320" cy="6400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The tool shells out to kubectl/docker. Native client libraries would reduce parsing fragility.</a:t>
            </a:r>
            <a:endParaRPr lang="en-US" sz="1100" dirty="0"/>
          </a:p>
        </p:txBody>
      </p:sp>
      <p:sp>
        <p:nvSpPr>
          <p:cNvPr id="18" name="Shape 16"/>
          <p:cNvSpPr/>
          <p:nvPr/>
        </p:nvSpPr>
        <p:spPr>
          <a:xfrm>
            <a:off x="6217920" y="1554480"/>
            <a:ext cx="5394960" cy="4572000"/>
          </a:xfrm>
          <a:prstGeom prst="roundRect">
            <a:avLst>
              <a:gd name="adj" fmla="val 1600"/>
            </a:avLst>
          </a:prstGeom>
          <a:solidFill>
            <a:srgbClr val="ECFEFF"/>
          </a:solidFill>
          <a:ln w="6350">
            <a:solidFill>
              <a:srgbClr val="E2E8F0"/>
            </a:solidFill>
            <a:prstDash val="solid"/>
          </a:ln>
          <a:effectLst>
            <a:outerShdw sx="100000" sy="100000" kx="0" ky="0" algn="bl" rotWithShape="0" blurRad="101600" dist="25400" dir="5400000">
              <a:srgbClr val="000000">
                <a:alpha val="6000"/>
              </a:srgbClr>
            </a:outerShdw>
          </a:effectLst>
        </p:spPr>
      </p:sp>
      <p:sp>
        <p:nvSpPr>
          <p:cNvPr id="19" name="Text 17"/>
          <p:cNvSpPr/>
          <p:nvPr/>
        </p:nvSpPr>
        <p:spPr>
          <a:xfrm>
            <a:off x="6446520" y="1691640"/>
            <a:ext cx="5029200" cy="411480"/>
          </a:xfrm>
          <a:prstGeom prst="rect">
            <a:avLst/>
          </a:prstGeom>
          <a:noFill/>
          <a:ln/>
        </p:spPr>
        <p:txBody>
          <a:bodyPr wrap="square" rtlCol="0" anchor="ctr"/>
          <a:lstStyle/>
          <a:p>
            <a:pPr indent="0" marL="0">
              <a:buNone/>
            </a:pPr>
            <a:r>
              <a:rPr lang="en-US" sz="1800" b="1" dirty="0">
                <a:solidFill>
                  <a:srgbClr val="0E7490"/>
                </a:solidFill>
                <a:latin typeface="Calibri" pitchFamily="34" charset="0"/>
                <a:ea typeface="Calibri" pitchFamily="34" charset="-122"/>
                <a:cs typeface="Calibri" pitchFamily="34" charset="-120"/>
              </a:rPr>
              <a:t>Future work</a:t>
            </a:r>
            <a:endParaRPr lang="en-US" sz="1800" dirty="0"/>
          </a:p>
        </p:txBody>
      </p:sp>
      <p:sp>
        <p:nvSpPr>
          <p:cNvPr id="20" name="Shape 18"/>
          <p:cNvSpPr/>
          <p:nvPr/>
        </p:nvSpPr>
        <p:spPr>
          <a:xfrm>
            <a:off x="6446520" y="2194560"/>
            <a:ext cx="109728" cy="109728"/>
          </a:xfrm>
          <a:prstGeom prst="ellipse">
            <a:avLst/>
          </a:prstGeom>
          <a:solidFill>
            <a:srgbClr val="06B6D4"/>
          </a:solidFill>
          <a:ln w="12700">
            <a:solidFill>
              <a:srgbClr val="06B6D4"/>
            </a:solidFill>
            <a:prstDash val="solid"/>
          </a:ln>
        </p:spPr>
      </p:sp>
      <p:sp>
        <p:nvSpPr>
          <p:cNvPr id="21" name="Text 19"/>
          <p:cNvSpPr/>
          <p:nvPr/>
        </p:nvSpPr>
        <p:spPr>
          <a:xfrm>
            <a:off x="6675120" y="2148840"/>
            <a:ext cx="484632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Kernel-level seccomp verification</a:t>
            </a:r>
            <a:endParaRPr lang="en-US" sz="1300" dirty="0"/>
          </a:p>
        </p:txBody>
      </p:sp>
      <p:sp>
        <p:nvSpPr>
          <p:cNvPr id="22" name="Text 20"/>
          <p:cNvSpPr/>
          <p:nvPr/>
        </p:nvSpPr>
        <p:spPr>
          <a:xfrm>
            <a:off x="6675120" y="2423160"/>
            <a:ext cx="4846320" cy="6400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Read /proc/&lt;pid&gt;/status directly. Seccomp: 2 confirms BPF filter mode and eliminates the observability gap entirely.</a:t>
            </a:r>
            <a:endParaRPr lang="en-US" sz="1100" dirty="0"/>
          </a:p>
        </p:txBody>
      </p:sp>
      <p:sp>
        <p:nvSpPr>
          <p:cNvPr id="23" name="Shape 21"/>
          <p:cNvSpPr/>
          <p:nvPr/>
        </p:nvSpPr>
        <p:spPr>
          <a:xfrm>
            <a:off x="6446520" y="3154680"/>
            <a:ext cx="109728" cy="109728"/>
          </a:xfrm>
          <a:prstGeom prst="ellipse">
            <a:avLst/>
          </a:prstGeom>
          <a:solidFill>
            <a:srgbClr val="06B6D4"/>
          </a:solidFill>
          <a:ln w="12700">
            <a:solidFill>
              <a:srgbClr val="06B6D4"/>
            </a:solidFill>
            <a:prstDash val="solid"/>
          </a:ln>
        </p:spPr>
      </p:sp>
      <p:sp>
        <p:nvSpPr>
          <p:cNvPr id="24" name="Text 22"/>
          <p:cNvSpPr/>
          <p:nvPr/>
        </p:nvSpPr>
        <p:spPr>
          <a:xfrm>
            <a:off x="6675120" y="3108960"/>
            <a:ext cx="484632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Cross-runtime evaluation</a:t>
            </a:r>
            <a:endParaRPr lang="en-US" sz="1300" dirty="0"/>
          </a:p>
        </p:txBody>
      </p:sp>
      <p:sp>
        <p:nvSpPr>
          <p:cNvPr id="25" name="Text 23"/>
          <p:cNvSpPr/>
          <p:nvPr/>
        </p:nvSpPr>
        <p:spPr>
          <a:xfrm>
            <a:off x="6675120" y="3383280"/>
            <a:ext cx="4846320" cy="6400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Deploy on containerd (kind, GKE, EKS) and CRI-O (OpenShift) to map the enforcement landscape across runtimes.</a:t>
            </a:r>
            <a:endParaRPr lang="en-US" sz="1100" dirty="0"/>
          </a:p>
        </p:txBody>
      </p:sp>
      <p:sp>
        <p:nvSpPr>
          <p:cNvPr id="26" name="Shape 24"/>
          <p:cNvSpPr/>
          <p:nvPr/>
        </p:nvSpPr>
        <p:spPr>
          <a:xfrm>
            <a:off x="6446520" y="4114800"/>
            <a:ext cx="109728" cy="109728"/>
          </a:xfrm>
          <a:prstGeom prst="ellipse">
            <a:avLst/>
          </a:prstGeom>
          <a:solidFill>
            <a:srgbClr val="06B6D4"/>
          </a:solidFill>
          <a:ln w="12700">
            <a:solidFill>
              <a:srgbClr val="06B6D4"/>
            </a:solidFill>
            <a:prstDash val="solid"/>
          </a:ln>
        </p:spPr>
      </p:sp>
      <p:sp>
        <p:nvSpPr>
          <p:cNvPr id="27" name="Text 25"/>
          <p:cNvSpPr/>
          <p:nvPr/>
        </p:nvSpPr>
        <p:spPr>
          <a:xfrm>
            <a:off x="6675120" y="4069080"/>
            <a:ext cx="484632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Mutating webhook drift</a:t>
            </a:r>
            <a:endParaRPr lang="en-US" sz="1300" dirty="0"/>
          </a:p>
        </p:txBody>
      </p:sp>
      <p:sp>
        <p:nvSpPr>
          <p:cNvPr id="28" name="Text 26"/>
          <p:cNvSpPr/>
          <p:nvPr/>
        </p:nvSpPr>
        <p:spPr>
          <a:xfrm>
            <a:off x="6675120" y="4343400"/>
            <a:ext cx="4846320" cy="6400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Investigate whether mutating admission webhooks introduce additional enforcement gaps between user submission and runtime.</a:t>
            </a:r>
            <a:endParaRPr lang="en-US" sz="1100" dirty="0"/>
          </a:p>
        </p:txBody>
      </p:sp>
      <p:sp>
        <p:nvSpPr>
          <p:cNvPr id="29" name="Shape 27"/>
          <p:cNvSpPr/>
          <p:nvPr/>
        </p:nvSpPr>
        <p:spPr>
          <a:xfrm>
            <a:off x="6446520" y="5074920"/>
            <a:ext cx="109728" cy="109728"/>
          </a:xfrm>
          <a:prstGeom prst="ellipse">
            <a:avLst/>
          </a:prstGeom>
          <a:solidFill>
            <a:srgbClr val="06B6D4"/>
          </a:solidFill>
          <a:ln w="12700">
            <a:solidFill>
              <a:srgbClr val="06B6D4"/>
            </a:solidFill>
            <a:prstDash val="solid"/>
          </a:ln>
        </p:spPr>
      </p:sp>
      <p:sp>
        <p:nvSpPr>
          <p:cNvPr id="30" name="Text 28"/>
          <p:cNvSpPr/>
          <p:nvPr/>
        </p:nvSpPr>
        <p:spPr>
          <a:xfrm>
            <a:off x="6675120" y="5029200"/>
            <a:ext cx="4846320" cy="27432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Publishable contribution</a:t>
            </a:r>
            <a:endParaRPr lang="en-US" sz="1300" dirty="0"/>
          </a:p>
        </p:txBody>
      </p:sp>
      <p:sp>
        <p:nvSpPr>
          <p:cNvPr id="31" name="Text 29"/>
          <p:cNvSpPr/>
          <p:nvPr/>
        </p:nvSpPr>
        <p:spPr>
          <a:xfrm>
            <a:off x="6675120" y="5303520"/>
            <a:ext cx="4846320" cy="64008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Supervisor recommends shaping the privileged-seccomp finding and the observability gap into a research paper.</a:t>
            </a:r>
            <a:endParaRPr lang="en-US" sz="1100" dirty="0"/>
          </a:p>
        </p:txBody>
      </p:sp>
      <p:sp>
        <p:nvSpPr>
          <p:cNvPr id="32" name="Text 30"/>
          <p:cNvSpPr/>
          <p:nvPr/>
        </p:nvSpPr>
        <p:spPr>
          <a:xfrm>
            <a:off x="457200" y="6492240"/>
            <a:ext cx="5486400" cy="274320"/>
          </a:xfrm>
          <a:prstGeom prst="rect">
            <a:avLst/>
          </a:prstGeom>
          <a:noFill/>
          <a:ln/>
        </p:spPr>
        <p:txBody>
          <a:bodyPr wrap="square"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Yehia Sobeh  ·  Innopolis University 2026</a:t>
            </a:r>
            <a:endParaRPr lang="en-US" sz="1000" dirty="0"/>
          </a:p>
        </p:txBody>
      </p:sp>
      <p:sp>
        <p:nvSpPr>
          <p:cNvPr id="33" name="Text 31"/>
          <p:cNvSpPr/>
          <p:nvPr/>
        </p:nvSpPr>
        <p:spPr>
          <a:xfrm>
            <a:off x="10789920" y="6492240"/>
            <a:ext cx="9144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13 / 14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640080" y="640080"/>
            <a:ext cx="10972800" cy="320040"/>
          </a:xfrm>
          <a:prstGeom prst="rect">
            <a:avLst/>
          </a:prstGeom>
          <a:noFill/>
          <a:ln/>
        </p:spPr>
        <p:txBody>
          <a:bodyPr wrap="square" rtlCol="0" anchor="ctr"/>
          <a:lstStyle/>
          <a:p>
            <a:pPr indent="0" marL="0">
              <a:buNone/>
            </a:pPr>
            <a:r>
              <a:rPr lang="en-US" sz="1200" b="1" spc="400" kern="0" dirty="0">
                <a:solidFill>
                  <a:srgbClr val="06B6D4"/>
                </a:solidFill>
                <a:latin typeface="Calibri" pitchFamily="34" charset="0"/>
                <a:ea typeface="Calibri" pitchFamily="34" charset="-122"/>
                <a:cs typeface="Calibri" pitchFamily="34" charset="-120"/>
              </a:rPr>
              <a:t>CONTRIBUTIONS</a:t>
            </a:r>
            <a:endParaRPr lang="en-US" sz="1200" dirty="0"/>
          </a:p>
        </p:txBody>
      </p:sp>
      <p:sp>
        <p:nvSpPr>
          <p:cNvPr id="3" name="Text 1"/>
          <p:cNvSpPr/>
          <p:nvPr/>
        </p:nvSpPr>
        <p:spPr>
          <a:xfrm>
            <a:off x="640080" y="960120"/>
            <a:ext cx="1097280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Four contributions to Kubernetes container security</a:t>
            </a:r>
            <a:endParaRPr lang="en-US" sz="2600" dirty="0"/>
          </a:p>
        </p:txBody>
      </p:sp>
      <p:sp>
        <p:nvSpPr>
          <p:cNvPr id="4" name="Shape 2"/>
          <p:cNvSpPr/>
          <p:nvPr/>
        </p:nvSpPr>
        <p:spPr>
          <a:xfrm>
            <a:off x="640080" y="1783080"/>
            <a:ext cx="5440680" cy="1691640"/>
          </a:xfrm>
          <a:prstGeom prst="roundRect">
            <a:avLst>
              <a:gd name="adj" fmla="val 4324"/>
            </a:avLst>
          </a:prstGeom>
          <a:solidFill>
            <a:srgbClr val="1E293B"/>
          </a:solidFill>
          <a:ln w="12700">
            <a:solidFill>
              <a:srgbClr val="334155"/>
            </a:solidFill>
            <a:prstDash val="solid"/>
          </a:ln>
        </p:spPr>
      </p:sp>
      <p:sp>
        <p:nvSpPr>
          <p:cNvPr id="5" name="Shape 3"/>
          <p:cNvSpPr/>
          <p:nvPr/>
        </p:nvSpPr>
        <p:spPr>
          <a:xfrm>
            <a:off x="868680" y="2011680"/>
            <a:ext cx="548640" cy="548640"/>
          </a:xfrm>
          <a:prstGeom prst="ellipse">
            <a:avLst/>
          </a:prstGeom>
          <a:solidFill>
            <a:srgbClr val="06B6D4"/>
          </a:solidFill>
          <a:ln w="12700">
            <a:solidFill>
              <a:srgbClr val="06B6D4"/>
            </a:solidFill>
            <a:prstDash val="solid"/>
          </a:ln>
        </p:spPr>
      </p:sp>
      <p:sp>
        <p:nvSpPr>
          <p:cNvPr id="6" name="Text 4"/>
          <p:cNvSpPr/>
          <p:nvPr/>
        </p:nvSpPr>
        <p:spPr>
          <a:xfrm>
            <a:off x="868680" y="2011680"/>
            <a:ext cx="548640" cy="548640"/>
          </a:xfrm>
          <a:prstGeom prst="rect">
            <a:avLst/>
          </a:prstGeom>
          <a:noFill/>
          <a:ln/>
        </p:spPr>
        <p:txBody>
          <a:bodyPr wrap="square"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554480" y="1965960"/>
            <a:ext cx="43891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new verification tool</a:t>
            </a:r>
            <a:endParaRPr lang="en-US" sz="1500" dirty="0"/>
          </a:p>
        </p:txBody>
      </p:sp>
      <p:sp>
        <p:nvSpPr>
          <p:cNvPr id="8" name="Text 6"/>
          <p:cNvSpPr/>
          <p:nvPr/>
        </p:nvSpPr>
        <p:spPr>
          <a:xfrm>
            <a:off x="1554480" y="2331720"/>
            <a:ext cx="4389120" cy="10972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k8s-psa: first open-source tool that systematically compares Kubernetes declarations against actual container runtime state across seven security dimensions.</a:t>
            </a:r>
            <a:endParaRPr lang="en-US" sz="1100" dirty="0"/>
          </a:p>
        </p:txBody>
      </p:sp>
      <p:sp>
        <p:nvSpPr>
          <p:cNvPr id="9" name="Shape 7"/>
          <p:cNvSpPr/>
          <p:nvPr/>
        </p:nvSpPr>
        <p:spPr>
          <a:xfrm>
            <a:off x="6263640" y="1783080"/>
            <a:ext cx="5440680" cy="1691640"/>
          </a:xfrm>
          <a:prstGeom prst="roundRect">
            <a:avLst>
              <a:gd name="adj" fmla="val 4324"/>
            </a:avLst>
          </a:prstGeom>
          <a:solidFill>
            <a:srgbClr val="1E293B"/>
          </a:solidFill>
          <a:ln w="12700">
            <a:solidFill>
              <a:srgbClr val="334155"/>
            </a:solidFill>
            <a:prstDash val="solid"/>
          </a:ln>
        </p:spPr>
      </p:sp>
      <p:sp>
        <p:nvSpPr>
          <p:cNvPr id="10" name="Shape 8"/>
          <p:cNvSpPr/>
          <p:nvPr/>
        </p:nvSpPr>
        <p:spPr>
          <a:xfrm>
            <a:off x="6492240" y="2011680"/>
            <a:ext cx="548640" cy="548640"/>
          </a:xfrm>
          <a:prstGeom prst="ellipse">
            <a:avLst/>
          </a:prstGeom>
          <a:solidFill>
            <a:srgbClr val="06B6D4"/>
          </a:solidFill>
          <a:ln w="12700">
            <a:solidFill>
              <a:srgbClr val="06B6D4"/>
            </a:solidFill>
            <a:prstDash val="solid"/>
          </a:ln>
        </p:spPr>
      </p:sp>
      <p:sp>
        <p:nvSpPr>
          <p:cNvPr id="11" name="Text 9"/>
          <p:cNvSpPr/>
          <p:nvPr/>
        </p:nvSpPr>
        <p:spPr>
          <a:xfrm>
            <a:off x="6492240" y="2011680"/>
            <a:ext cx="548640" cy="548640"/>
          </a:xfrm>
          <a:prstGeom prst="rect">
            <a:avLst/>
          </a:prstGeom>
          <a:noFill/>
          <a:ln/>
        </p:spPr>
        <p:txBody>
          <a:bodyPr wrap="square"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7178040" y="1965960"/>
            <a:ext cx="43891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True enforcement gap</a:t>
            </a:r>
            <a:endParaRPr lang="en-US" sz="1500" dirty="0"/>
          </a:p>
        </p:txBody>
      </p:sp>
      <p:sp>
        <p:nvSpPr>
          <p:cNvPr id="13" name="Text 11"/>
          <p:cNvSpPr/>
          <p:nvPr/>
        </p:nvSpPr>
        <p:spPr>
          <a:xfrm>
            <a:off x="7178040" y="2331720"/>
            <a:ext cx="4389120" cy="10972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Empirical evidence that Docker silently strips declared seccomp profiles from privileged containers — a vulnerability invisible to every existing specification-only tool.</a:t>
            </a:r>
            <a:endParaRPr lang="en-US" sz="1100" dirty="0"/>
          </a:p>
        </p:txBody>
      </p:sp>
      <p:sp>
        <p:nvSpPr>
          <p:cNvPr id="14" name="Shape 12"/>
          <p:cNvSpPr/>
          <p:nvPr/>
        </p:nvSpPr>
        <p:spPr>
          <a:xfrm>
            <a:off x="640080" y="3611880"/>
            <a:ext cx="5440680" cy="1691640"/>
          </a:xfrm>
          <a:prstGeom prst="roundRect">
            <a:avLst>
              <a:gd name="adj" fmla="val 4324"/>
            </a:avLst>
          </a:prstGeom>
          <a:solidFill>
            <a:srgbClr val="1E293B"/>
          </a:solidFill>
          <a:ln w="12700">
            <a:solidFill>
              <a:srgbClr val="334155"/>
            </a:solidFill>
            <a:prstDash val="solid"/>
          </a:ln>
        </p:spPr>
      </p:sp>
      <p:sp>
        <p:nvSpPr>
          <p:cNvPr id="15" name="Shape 13"/>
          <p:cNvSpPr/>
          <p:nvPr/>
        </p:nvSpPr>
        <p:spPr>
          <a:xfrm>
            <a:off x="868680" y="3840480"/>
            <a:ext cx="548640" cy="548640"/>
          </a:xfrm>
          <a:prstGeom prst="ellipse">
            <a:avLst/>
          </a:prstGeom>
          <a:solidFill>
            <a:srgbClr val="06B6D4"/>
          </a:solidFill>
          <a:ln w="12700">
            <a:solidFill>
              <a:srgbClr val="06B6D4"/>
            </a:solidFill>
            <a:prstDash val="solid"/>
          </a:ln>
        </p:spPr>
      </p:sp>
      <p:sp>
        <p:nvSpPr>
          <p:cNvPr id="16" name="Text 14"/>
          <p:cNvSpPr/>
          <p:nvPr/>
        </p:nvSpPr>
        <p:spPr>
          <a:xfrm>
            <a:off x="868680" y="3840480"/>
            <a:ext cx="548640" cy="548640"/>
          </a:xfrm>
          <a:prstGeom prst="rect">
            <a:avLst/>
          </a:prstGeom>
          <a:noFill/>
          <a:ln/>
        </p:spPr>
        <p:txBody>
          <a:bodyPr wrap="square"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554480" y="3794760"/>
            <a:ext cx="43891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Observability gap</a:t>
            </a:r>
            <a:endParaRPr lang="en-US" sz="1500" dirty="0"/>
          </a:p>
        </p:txBody>
      </p:sp>
      <p:sp>
        <p:nvSpPr>
          <p:cNvPr id="18" name="Text 16"/>
          <p:cNvSpPr/>
          <p:nvPr/>
        </p:nvSpPr>
        <p:spPr>
          <a:xfrm>
            <a:off x="1554480" y="4160520"/>
            <a:ext cx="4389120" cy="10972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Discovery that Docker's metadata interface omits implicit seccomp defaults, with implications for any tool that relies on docker inspect for security posture.</a:t>
            </a:r>
            <a:endParaRPr lang="en-US" sz="1100" dirty="0"/>
          </a:p>
        </p:txBody>
      </p:sp>
      <p:sp>
        <p:nvSpPr>
          <p:cNvPr id="19" name="Shape 17"/>
          <p:cNvSpPr/>
          <p:nvPr/>
        </p:nvSpPr>
        <p:spPr>
          <a:xfrm>
            <a:off x="6263640" y="3611880"/>
            <a:ext cx="5440680" cy="1691640"/>
          </a:xfrm>
          <a:prstGeom prst="roundRect">
            <a:avLst>
              <a:gd name="adj" fmla="val 4324"/>
            </a:avLst>
          </a:prstGeom>
          <a:solidFill>
            <a:srgbClr val="1E293B"/>
          </a:solidFill>
          <a:ln w="12700">
            <a:solidFill>
              <a:srgbClr val="334155"/>
            </a:solidFill>
            <a:prstDash val="solid"/>
          </a:ln>
        </p:spPr>
      </p:sp>
      <p:sp>
        <p:nvSpPr>
          <p:cNvPr id="20" name="Shape 18"/>
          <p:cNvSpPr/>
          <p:nvPr/>
        </p:nvSpPr>
        <p:spPr>
          <a:xfrm>
            <a:off x="6492240" y="3840480"/>
            <a:ext cx="548640" cy="548640"/>
          </a:xfrm>
          <a:prstGeom prst="ellipse">
            <a:avLst/>
          </a:prstGeom>
          <a:solidFill>
            <a:srgbClr val="06B6D4"/>
          </a:solidFill>
          <a:ln w="12700">
            <a:solidFill>
              <a:srgbClr val="06B6D4"/>
            </a:solidFill>
            <a:prstDash val="solid"/>
          </a:ln>
        </p:spPr>
      </p:sp>
      <p:sp>
        <p:nvSpPr>
          <p:cNvPr id="21" name="Text 19"/>
          <p:cNvSpPr/>
          <p:nvPr/>
        </p:nvSpPr>
        <p:spPr>
          <a:xfrm>
            <a:off x="6492240" y="3840480"/>
            <a:ext cx="548640" cy="548640"/>
          </a:xfrm>
          <a:prstGeom prst="rect">
            <a:avLst/>
          </a:prstGeom>
          <a:noFill/>
          <a:ln/>
        </p:spPr>
        <p:txBody>
          <a:bodyPr wrap="square"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7178040" y="3794760"/>
            <a:ext cx="43891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Open-source eval framework</a:t>
            </a:r>
            <a:endParaRPr lang="en-US" sz="1500" dirty="0"/>
          </a:p>
        </p:txBody>
      </p:sp>
      <p:sp>
        <p:nvSpPr>
          <p:cNvPr id="23" name="Text 21"/>
          <p:cNvSpPr/>
          <p:nvPr/>
        </p:nvSpPr>
        <p:spPr>
          <a:xfrm>
            <a:off x="7178040" y="4160520"/>
            <a:ext cx="4389120" cy="1097280"/>
          </a:xfrm>
          <a:prstGeom prst="rect">
            <a:avLst/>
          </a:prstGeom>
          <a:noFill/>
          <a:ln/>
        </p:spPr>
        <p:txBody>
          <a:bodyPr wrap="square" lIns="0" tIns="0" rIns="0" bIns="0" rtlCol="0" anchor="t"/>
          <a:lstStyle/>
          <a:p>
            <a:pPr indent="0" marL="0">
              <a:buNone/>
            </a:pPr>
            <a:r>
              <a:rPr lang="en-US" sz="1100" dirty="0">
                <a:solidFill>
                  <a:srgbClr val="CBD5E1"/>
                </a:solidFill>
                <a:latin typeface="Calibri" pitchFamily="34" charset="0"/>
                <a:ea typeface="Calibri" pitchFamily="34" charset="-122"/>
                <a:cs typeface="Calibri" pitchFamily="34" charset="-120"/>
              </a:rPr>
              <a:t>44 unit tests (0.2 s) · 7 deployment-level test cases · one-command deployment · real-time Chart.js dashboard for continuous monitoring.</a:t>
            </a:r>
            <a:endParaRPr lang="en-US" sz="1100" dirty="0"/>
          </a:p>
        </p:txBody>
      </p:sp>
      <p:sp>
        <p:nvSpPr>
          <p:cNvPr id="24" name="Shape 22"/>
          <p:cNvSpPr/>
          <p:nvPr/>
        </p:nvSpPr>
        <p:spPr>
          <a:xfrm>
            <a:off x="640080" y="5486400"/>
            <a:ext cx="10972800" cy="914400"/>
          </a:xfrm>
          <a:prstGeom prst="roundRect">
            <a:avLst>
              <a:gd name="adj" fmla="val 8000"/>
            </a:avLst>
          </a:prstGeom>
          <a:solidFill>
            <a:srgbClr val="06B6D4"/>
          </a:solidFill>
          <a:ln w="12700">
            <a:solidFill>
              <a:srgbClr val="06B6D4"/>
            </a:solidFill>
            <a:prstDash val="solid"/>
          </a:ln>
        </p:spPr>
      </p:sp>
      <p:sp>
        <p:nvSpPr>
          <p:cNvPr id="25" name="Text 23"/>
          <p:cNvSpPr/>
          <p:nvPr/>
        </p:nvSpPr>
        <p:spPr>
          <a:xfrm>
            <a:off x="640080" y="5486400"/>
            <a:ext cx="7315200" cy="914400"/>
          </a:xfrm>
          <a:prstGeom prst="rect">
            <a:avLst/>
          </a:prstGeom>
          <a:noFill/>
          <a:ln/>
        </p:spPr>
        <p:txBody>
          <a:bodyPr wrap="square" lIns="0" tIns="0" rIns="0" bIns="0" rtlCol="0" anchor="ctr"/>
          <a:lstStyle/>
          <a:p>
            <a:pPr algn="ctr" indent="0" marL="0">
              <a:buNone/>
            </a:pPr>
            <a:r>
              <a:rPr lang="en-US" sz="2200" b="1" dirty="0">
                <a:solidFill>
                  <a:srgbClr val="0F172A"/>
                </a:solidFill>
                <a:latin typeface="Calibri" pitchFamily="34" charset="0"/>
                <a:ea typeface="Calibri" pitchFamily="34" charset="-122"/>
                <a:cs typeface="Calibri" pitchFamily="34" charset="-120"/>
              </a:rPr>
              <a:t>Thank you  —  questions welcome.</a:t>
            </a:r>
            <a:endParaRPr lang="en-US" sz="2200" dirty="0"/>
          </a:p>
        </p:txBody>
      </p:sp>
      <p:sp>
        <p:nvSpPr>
          <p:cNvPr id="26" name="Text 24"/>
          <p:cNvSpPr/>
          <p:nvPr/>
        </p:nvSpPr>
        <p:spPr>
          <a:xfrm>
            <a:off x="7772400" y="5486400"/>
            <a:ext cx="3840480" cy="914400"/>
          </a:xfrm>
          <a:prstGeom prst="rect">
            <a:avLst/>
          </a:prstGeom>
          <a:noFill/>
          <a:ln/>
        </p:spPr>
        <p:txBody>
          <a:bodyPr wrap="square" lIns="0" tIns="0" rIns="0" bIns="0" rtlCol="0" anchor="ctr"/>
          <a:lstStyle/>
          <a:p>
            <a:pPr algn="ctr" indent="0" marL="0">
              <a:buNone/>
            </a:pPr>
            <a:r>
              <a:rPr lang="en-US" sz="1400" i="1" dirty="0">
                <a:solidFill>
                  <a:srgbClr val="0F172A"/>
                </a:solidFill>
                <a:latin typeface="Calibri" pitchFamily="34" charset="0"/>
                <a:ea typeface="Calibri" pitchFamily="34" charset="-122"/>
                <a:cs typeface="Calibri" pitchFamily="34" charset="-120"/>
              </a:rPr>
              <a:t>Yehia Sobeh  ·  Innopolis 2026</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Bridging the Enforcement Verification Gap</dc:title>
  <dc:subject>PptxGenJS Presentation</dc:subject>
  <dc:creator>Yehia Sobeh</dc:creator>
  <cp:lastModifiedBy>Yehia Sobeh</cp:lastModifiedBy>
  <cp:revision>1</cp:revision>
  <dcterms:created xsi:type="dcterms:W3CDTF">2026-06-10T20:54:21Z</dcterms:created>
  <dcterms:modified xsi:type="dcterms:W3CDTF">2026-06-10T20:54:21Z</dcterms:modified>
</cp:coreProperties>
</file>