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8FAC06E-9D07-4874-941A-69193EEF492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0C7D80-75B7-4504-ADD5-017BE202C3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F402E4-917E-4B07-AE7A-2EDD6052F88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6CDF9F-98B8-434B-8AF2-2C7609C280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268CA2-EB8A-41C7-B38E-60489337CF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F27DD1-9C58-4EF8-A9D7-AD0ABF2E0D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A5CD8B-E52A-4537-B2C4-DD57718E57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197C5A-D7EE-484E-A710-700C28535E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2FE6B9-2836-4179-B002-A5EBC50C12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40639C-1734-4744-B69B-DC0E1A75D1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191841-5451-4985-97C2-D0177F085A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09954F-9C30-4E77-8AA5-2AA7B4900F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91ED4-8D8E-4526-B103-2CF27F9096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E8ECE7-5F6D-4508-82CC-BC9C9B1B04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53DA80-84A4-49B7-94B7-AA41DBB289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865C81-BE1E-44AC-BF58-80B686F374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8755CF-1718-455A-B3F4-5215C7E67AC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8DA668-2D01-4832-B8BA-BFB368F99F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608760" y="1047600"/>
            <a:ext cx="1707048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97" strike="noStrike">
                <a:solidFill>
                  <a:srgbClr val="595959"/>
                </a:solidFill>
                <a:latin typeface="Arial"/>
                <a:ea typeface="Arial"/>
              </a:rPr>
              <a:t>Innopolis University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08760" y="1432440"/>
            <a:ext cx="1707048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09.03.01 · Computer Science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608760" y="1790640"/>
            <a:ext cx="1707048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Bachelor's Thesis Defense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8381880" y="3380040"/>
            <a:ext cx="1523520" cy="378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608760" y="3760920"/>
            <a:ext cx="1707048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5100" spc="-1" strike="noStrike">
                <a:solidFill>
                  <a:srgbClr val="1f3864"/>
                </a:solidFill>
                <a:latin typeface="Arial"/>
                <a:ea typeface="Arial"/>
              </a:rPr>
              <a:t>Bridging the Enforcement Verification Gap</a:t>
            </a:r>
            <a:endParaRPr b="0" lang="en-US" sz="51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785960" y="4734360"/>
            <a:ext cx="147157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Arial"/>
                <a:ea typeface="Arial"/>
              </a:rPr>
              <a:t>Detecting Divergence Between Declared and Actual Security Posture in Kubernetes Containerized Environments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8381880" y="5930640"/>
            <a:ext cx="1523520" cy="378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6804000" y="7238160"/>
            <a:ext cx="1609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80" strike="noStrike">
                <a:solidFill>
                  <a:srgbClr val="595959"/>
                </a:solidFill>
                <a:latin typeface="Arial"/>
                <a:ea typeface="Arial"/>
              </a:rPr>
              <a:t>AUTHOR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804000" y="7535520"/>
            <a:ext cx="16095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3864"/>
                </a:solidFill>
                <a:latin typeface="Arial"/>
                <a:ea typeface="Arial"/>
              </a:rPr>
              <a:t>Yehia Sobeh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9671040" y="7238160"/>
            <a:ext cx="1812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80" strike="noStrike">
                <a:solidFill>
                  <a:srgbClr val="595959"/>
                </a:solidFill>
                <a:latin typeface="Arial"/>
                <a:ea typeface="Arial"/>
              </a:rPr>
              <a:t>SUPERVISOR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9671040" y="7535520"/>
            <a:ext cx="181260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3864"/>
                </a:solidFill>
                <a:latin typeface="Arial"/>
                <a:ea typeface="Arial"/>
              </a:rPr>
              <a:t>Kirill Saltanov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08760" y="9231480"/>
            <a:ext cx="170704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595959"/>
                </a:solidFill>
                <a:latin typeface="Arial"/>
                <a:ea typeface="Arial"/>
              </a:rPr>
              <a:t>Innopolis · 2026</a:t>
            </a:r>
            <a:endParaRPr b="0" lang="en-US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Motivation: The Problem with Declarative Security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1 · Introduction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3"/>
          <p:cNvSpPr/>
          <p:nvPr/>
        </p:nvSpPr>
        <p:spPr>
          <a:xfrm>
            <a:off x="666720" y="1504800"/>
            <a:ext cx="936432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Why This Matters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028880" y="2206080"/>
            <a:ext cx="90025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Over </a:t>
            </a:r>
            <a:r>
              <a:rPr b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60% of organizations 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running containers in production use Kubernetes </a:t>
            </a:r>
            <a:r>
              <a:rPr b="0" i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(CNCF survey, 2024)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028880" y="3238920"/>
            <a:ext cx="43480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This creates a large attack surface: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842040" y="3733560"/>
            <a:ext cx="899244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3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404040"/>
                </a:solidFill>
                <a:latin typeface="Arial"/>
                <a:ea typeface="Arial"/>
              </a:rPr>
              <a:t>hundreds of containers per cluster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404040"/>
                </a:solidFill>
                <a:latin typeface="Arial"/>
                <a:ea typeface="Arial"/>
              </a:rPr>
              <a:t>third-party images of varying trustworthiness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404040"/>
                </a:solidFill>
                <a:latin typeface="Arial"/>
                <a:ea typeface="Arial"/>
              </a:rPr>
              <a:t>continuous scaling and dynamic workloads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028880" y="5158440"/>
            <a:ext cx="90025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All of this is secured by </a:t>
            </a:r>
            <a:r>
              <a:rPr b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declarative YAML policies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666720" y="5775480"/>
            <a:ext cx="9091800" cy="2006640"/>
          </a:xfrm>
          <a:prstGeom prst="rect">
            <a:avLst/>
          </a:prstGeom>
          <a:solidFill>
            <a:srgbClr val="fff2cc"/>
          </a:solidFill>
          <a:ln w="5443">
            <a:solidFill>
              <a:srgbClr val="dbc3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900720" y="5971680"/>
            <a:ext cx="8882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Critical Assumption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900720" y="6546960"/>
            <a:ext cx="888228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Every existing tool (OPA Gatekeeper, Kyverno, Kubescape, Trivy) assumes that </a:t>
            </a:r>
            <a:r>
              <a:rPr b="1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if the Kubernetes API reports a security property, the container runtime has faithfully enforced it </a:t>
            </a: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66720" y="7916040"/>
            <a:ext cx="9091800" cy="1431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666720" y="9342360"/>
            <a:ext cx="909180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3"/>
          <p:cNvSpPr/>
          <p:nvPr/>
        </p:nvSpPr>
        <p:spPr>
          <a:xfrm>
            <a:off x="666720" y="7916040"/>
            <a:ext cx="909180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4"/>
          <p:cNvSpPr/>
          <p:nvPr/>
        </p:nvSpPr>
        <p:spPr>
          <a:xfrm>
            <a:off x="666720" y="7916040"/>
            <a:ext cx="37800" cy="1431360"/>
          </a:xfrm>
          <a:prstGeom prst="rect">
            <a:avLst/>
          </a:prstGeom>
          <a:solidFill>
            <a:srgbClr val="a020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5"/>
          <p:cNvSpPr/>
          <p:nvPr/>
        </p:nvSpPr>
        <p:spPr>
          <a:xfrm>
            <a:off x="9753480" y="7916040"/>
            <a:ext cx="9000" cy="143136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6"/>
          <p:cNvSpPr/>
          <p:nvPr/>
        </p:nvSpPr>
        <p:spPr>
          <a:xfrm>
            <a:off x="933480" y="8111880"/>
            <a:ext cx="884880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This thesis demonstrates: </a:t>
            </a: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that assumption does not always hold. A privileged container that declares seccomp filtering has that filter silently removed by the Docker runtime — and no existing tool detects this.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10044360" y="1504800"/>
            <a:ext cx="7576200" cy="652680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8"/>
          <p:cNvSpPr/>
          <p:nvPr/>
        </p:nvSpPr>
        <p:spPr>
          <a:xfrm>
            <a:off x="10171800" y="1701000"/>
            <a:ext cx="73216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Container Orchestrator Share (Production)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10278720" y="2276280"/>
            <a:ext cx="7105320" cy="5181120"/>
          </a:xfrm>
          <a:prstGeom prst="rect">
            <a:avLst/>
          </a:prstGeom>
          <a:ln w="0">
            <a:noFill/>
          </a:ln>
        </p:spPr>
      </p:pic>
      <p:sp>
        <p:nvSpPr>
          <p:cNvPr id="76" name="Text 19"/>
          <p:cNvSpPr/>
          <p:nvPr/>
        </p:nvSpPr>
        <p:spPr>
          <a:xfrm>
            <a:off x="10171800" y="7516080"/>
            <a:ext cx="732168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CNCF Annual Survey, 2024 · production deployments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10044360" y="8203680"/>
            <a:ext cx="7576200" cy="156888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1"/>
          <p:cNvSpPr/>
          <p:nvPr/>
        </p:nvSpPr>
        <p:spPr>
          <a:xfrm>
            <a:off x="10278720" y="8399520"/>
            <a:ext cx="73216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Why this matters at scale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10278720" y="8936640"/>
            <a:ext cx="7321680" cy="6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f1f1f"/>
                </a:solidFill>
                <a:latin typeface="Arial"/>
                <a:ea typeface="Arial"/>
              </a:rPr>
              <a:t>A silent enforcement failure in a single Docker default propagates to </a:t>
            </a:r>
            <a:r>
              <a:rPr b="1" lang="en-US" sz="1800" spc="-1" strike="noStrike">
                <a:solidFill>
                  <a:srgbClr val="1f1f1f"/>
                </a:solidFill>
                <a:latin typeface="Arial"/>
                <a:ea typeface="Arial"/>
              </a:rPr>
              <a:t>millions of production pods </a:t>
            </a:r>
            <a:r>
              <a:rPr b="0" lang="en-US" sz="1800" spc="-1" strike="noStrike">
                <a:solidFill>
                  <a:srgbClr val="1f1f1f"/>
                </a:solidFill>
                <a:latin typeface="Arial"/>
                <a:ea typeface="Arial"/>
              </a:rPr>
              <a:t>across the industry.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4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2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The Enforcement Verification Gap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1 · Problem Statement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"/>
          <p:cNvSpPr/>
          <p:nvPr/>
        </p:nvSpPr>
        <p:spPr>
          <a:xfrm>
            <a:off x="666720" y="1504800"/>
            <a:ext cx="166780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From YAML declaration to kernel enforcement, the pod spec passes through </a:t>
            </a:r>
            <a:r>
              <a:rPr b="1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four translation hops </a:t>
            </a: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— each one can silently drop a restriction.</a:t>
            </a:r>
            <a:endParaRPr b="0" lang="en-US" sz="1729" spc="-1" strike="noStrike"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666720" y="1983240"/>
            <a:ext cx="4105080" cy="235728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5"/>
          <p:cNvSpPr/>
          <p:nvPr/>
        </p:nvSpPr>
        <p:spPr>
          <a:xfrm>
            <a:off x="977040" y="2179080"/>
            <a:ext cx="3667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3864"/>
                </a:solidFill>
                <a:latin typeface="Arial"/>
                <a:ea typeface="Arial"/>
              </a:rPr>
              <a:t>HOP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977040" y="2556360"/>
            <a:ext cx="36673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550" spc="-1" strike="noStrike">
                <a:solidFill>
                  <a:srgbClr val="1f1f1f"/>
                </a:solidFill>
                <a:latin typeface="Arial"/>
                <a:ea typeface="Arial"/>
              </a:rPr>
              <a:t>Kubernetes API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977040" y="3104640"/>
            <a:ext cx="366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04040"/>
                </a:solidFill>
                <a:latin typeface="Arial"/>
                <a:ea typeface="Arial"/>
              </a:rPr>
              <a:t>Pod securityContext declared by the operator.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4905360" y="1983240"/>
            <a:ext cx="4105080" cy="235728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9"/>
          <p:cNvSpPr/>
          <p:nvPr/>
        </p:nvSpPr>
        <p:spPr>
          <a:xfrm>
            <a:off x="5215680" y="2179080"/>
            <a:ext cx="3667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3864"/>
                </a:solidFill>
                <a:latin typeface="Arial"/>
                <a:ea typeface="Arial"/>
              </a:rPr>
              <a:t>HOP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215680" y="2556360"/>
            <a:ext cx="36673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550" spc="-1" strike="noStrike">
                <a:solidFill>
                  <a:srgbClr val="1f1f1f"/>
                </a:solidFill>
                <a:latin typeface="Arial"/>
                <a:ea typeface="Arial"/>
              </a:rPr>
              <a:t>Kubelet → CRI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215680" y="3104640"/>
            <a:ext cx="366732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04040"/>
                </a:solidFill>
                <a:latin typeface="Arial"/>
                <a:ea typeface="Arial"/>
              </a:rPr>
              <a:t>Translates the spec into a Container Runtime Interface request.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9144000" y="1983240"/>
            <a:ext cx="4105080" cy="235728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3"/>
          <p:cNvSpPr/>
          <p:nvPr/>
        </p:nvSpPr>
        <p:spPr>
          <a:xfrm>
            <a:off x="9454320" y="2179080"/>
            <a:ext cx="3667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3864"/>
                </a:solidFill>
                <a:latin typeface="Arial"/>
                <a:ea typeface="Arial"/>
              </a:rPr>
              <a:t>HOP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9454320" y="2556360"/>
            <a:ext cx="36673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550" spc="-1" strike="noStrike">
                <a:solidFill>
                  <a:srgbClr val="1f1f1f"/>
                </a:solidFill>
                <a:latin typeface="Arial"/>
                <a:ea typeface="Arial"/>
              </a:rPr>
              <a:t>Container Runtime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9454320" y="3104640"/>
            <a:ext cx="366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04040"/>
                </a:solidFill>
                <a:latin typeface="Arial"/>
                <a:ea typeface="Arial"/>
              </a:rPr>
              <a:t>Docker / containerd / CRI-O generates the OCI runtime spec.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13382640" y="1983240"/>
            <a:ext cx="4238280" cy="235728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7"/>
          <p:cNvSpPr/>
          <p:nvPr/>
        </p:nvSpPr>
        <p:spPr>
          <a:xfrm>
            <a:off x="13692960" y="2179080"/>
            <a:ext cx="380484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3864"/>
                </a:solidFill>
                <a:latin typeface="Arial"/>
                <a:ea typeface="Arial"/>
              </a:rPr>
              <a:t>HOP 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13692960" y="2556360"/>
            <a:ext cx="38048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550" spc="-1" strike="noStrike">
                <a:solidFill>
                  <a:srgbClr val="1f1f1f"/>
                </a:solidFill>
                <a:latin typeface="Arial"/>
                <a:ea typeface="Arial"/>
              </a:rPr>
              <a:t>runc + Linux Kernel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13692960" y="3104640"/>
            <a:ext cx="380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04040"/>
                </a:solidFill>
                <a:latin typeface="Arial"/>
                <a:ea typeface="Arial"/>
              </a:rPr>
              <a:t>Configures namespaces, cgroups, capabilities, seccomp.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666720" y="4664520"/>
            <a:ext cx="16954200" cy="24411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21"/>
          <p:cNvSpPr/>
          <p:nvPr/>
        </p:nvSpPr>
        <p:spPr>
          <a:xfrm>
            <a:off x="843480" y="4803480"/>
            <a:ext cx="170982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Where Existing Tools Look — and Where the Gap Lives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2751480" y="5378400"/>
            <a:ext cx="37249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Hop 1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6425640" y="5378400"/>
            <a:ext cx="37249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Hop 2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10099440" y="5378400"/>
            <a:ext cx="37249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Hop 3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13773240" y="5378400"/>
            <a:ext cx="37249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Hop 4 (kernel)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843480" y="5752080"/>
            <a:ext cx="198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OPA / Kyverno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2805840" y="567576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a8cd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8"/>
          <p:cNvSpPr/>
          <p:nvPr/>
        </p:nvSpPr>
        <p:spPr>
          <a:xfrm>
            <a:off x="2827800" y="575208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✓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2" name="Shape 29"/>
          <p:cNvSpPr/>
          <p:nvPr/>
        </p:nvSpPr>
        <p:spPr>
          <a:xfrm>
            <a:off x="6479640" y="567576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30"/>
          <p:cNvSpPr/>
          <p:nvPr/>
        </p:nvSpPr>
        <p:spPr>
          <a:xfrm>
            <a:off x="6501600" y="575208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10153800" y="567576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32"/>
          <p:cNvSpPr/>
          <p:nvPr/>
        </p:nvSpPr>
        <p:spPr>
          <a:xfrm>
            <a:off x="10175760" y="575208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13827600" y="567576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34"/>
          <p:cNvSpPr/>
          <p:nvPr/>
        </p:nvSpPr>
        <p:spPr>
          <a:xfrm>
            <a:off x="13849560" y="575208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843480" y="6201360"/>
            <a:ext cx="198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Falco / KubeArmor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19" name="Shape 36"/>
          <p:cNvSpPr/>
          <p:nvPr/>
        </p:nvSpPr>
        <p:spPr>
          <a:xfrm>
            <a:off x="2805840" y="612540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37"/>
          <p:cNvSpPr/>
          <p:nvPr/>
        </p:nvSpPr>
        <p:spPr>
          <a:xfrm>
            <a:off x="2827800" y="620136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1" name="Shape 38"/>
          <p:cNvSpPr/>
          <p:nvPr/>
        </p:nvSpPr>
        <p:spPr>
          <a:xfrm>
            <a:off x="6479640" y="612540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39"/>
          <p:cNvSpPr/>
          <p:nvPr/>
        </p:nvSpPr>
        <p:spPr>
          <a:xfrm>
            <a:off x="6501600" y="620136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3" name="Shape 40"/>
          <p:cNvSpPr/>
          <p:nvPr/>
        </p:nvSpPr>
        <p:spPr>
          <a:xfrm>
            <a:off x="10153800" y="612540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41"/>
          <p:cNvSpPr/>
          <p:nvPr/>
        </p:nvSpPr>
        <p:spPr>
          <a:xfrm>
            <a:off x="10175760" y="620136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5" name="Shape 42"/>
          <p:cNvSpPr/>
          <p:nvPr/>
        </p:nvSpPr>
        <p:spPr>
          <a:xfrm>
            <a:off x="13827600" y="612540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ce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43"/>
          <p:cNvSpPr/>
          <p:nvPr/>
        </p:nvSpPr>
        <p:spPr>
          <a:xfrm>
            <a:off x="13849560" y="620136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b8860b"/>
                </a:solidFill>
                <a:latin typeface="Arial"/>
                <a:ea typeface="Arial"/>
              </a:rPr>
              <a:t>behaviour only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7" name="Text 44"/>
          <p:cNvSpPr/>
          <p:nvPr/>
        </p:nvSpPr>
        <p:spPr>
          <a:xfrm>
            <a:off x="843480" y="6651000"/>
            <a:ext cx="198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a0203b"/>
                </a:solidFill>
                <a:latin typeface="Arial"/>
                <a:ea typeface="Arial"/>
              </a:rPr>
              <a:t>k8s-psa (this work)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8" name="Shape 45"/>
          <p:cNvSpPr/>
          <p:nvPr/>
        </p:nvSpPr>
        <p:spPr>
          <a:xfrm>
            <a:off x="2805840" y="657468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a8cd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46"/>
          <p:cNvSpPr/>
          <p:nvPr/>
        </p:nvSpPr>
        <p:spPr>
          <a:xfrm>
            <a:off x="2827800" y="665100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✓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0" name="Shape 47"/>
          <p:cNvSpPr/>
          <p:nvPr/>
        </p:nvSpPr>
        <p:spPr>
          <a:xfrm>
            <a:off x="6479640" y="657468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8"/>
          <p:cNvSpPr/>
          <p:nvPr/>
        </p:nvSpPr>
        <p:spPr>
          <a:xfrm>
            <a:off x="6501600" y="665100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2" name="Shape 49"/>
          <p:cNvSpPr/>
          <p:nvPr/>
        </p:nvSpPr>
        <p:spPr>
          <a:xfrm>
            <a:off x="10153800" y="657468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a8cd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50"/>
          <p:cNvSpPr/>
          <p:nvPr/>
        </p:nvSpPr>
        <p:spPr>
          <a:xfrm>
            <a:off x="10175760" y="665100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✓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4" name="Shape 51"/>
          <p:cNvSpPr/>
          <p:nvPr/>
        </p:nvSpPr>
        <p:spPr>
          <a:xfrm>
            <a:off x="13827600" y="6574680"/>
            <a:ext cx="3616560" cy="392040"/>
          </a:xfrm>
          <a:prstGeom prst="roundRect">
            <a:avLst>
              <a:gd name="adj" fmla="val 7282"/>
            </a:avLst>
          </a:prstGeom>
          <a:solidFill>
            <a:srgbClr val="a8cd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52"/>
          <p:cNvSpPr/>
          <p:nvPr/>
        </p:nvSpPr>
        <p:spPr>
          <a:xfrm>
            <a:off x="13849560" y="6651000"/>
            <a:ext cx="35726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✓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6" name="Shape 53"/>
          <p:cNvSpPr/>
          <p:nvPr/>
        </p:nvSpPr>
        <p:spPr>
          <a:xfrm>
            <a:off x="666720" y="7239240"/>
            <a:ext cx="8372160" cy="213336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54"/>
          <p:cNvSpPr/>
          <p:nvPr/>
        </p:nvSpPr>
        <p:spPr>
          <a:xfrm>
            <a:off x="900720" y="7435440"/>
            <a:ext cx="8141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Formal Definition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38" name="Text 55"/>
          <p:cNvSpPr/>
          <p:nvPr/>
        </p:nvSpPr>
        <p:spPr>
          <a:xfrm>
            <a:off x="900720" y="8010360"/>
            <a:ext cx="81410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The </a:t>
            </a:r>
            <a:r>
              <a:rPr b="1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enforcement verification gap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is the absence of tooling that systematically verifies whether the security context declared in a Kubernetes pod specification is faithfully enforced at the container runtime level.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39" name="Text 56"/>
          <p:cNvSpPr/>
          <p:nvPr/>
        </p:nvSpPr>
        <p:spPr>
          <a:xfrm>
            <a:off x="9248760" y="7239240"/>
            <a:ext cx="862344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Research Questions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40" name="Text 57"/>
          <p:cNvSpPr/>
          <p:nvPr/>
        </p:nvSpPr>
        <p:spPr>
          <a:xfrm>
            <a:off x="9372600" y="7863840"/>
            <a:ext cx="84992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RQ1. 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Does kernel-level state actually diverge from the declared spec, and under what conditions?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1" name="Text 58"/>
          <p:cNvSpPr/>
          <p:nvPr/>
        </p:nvSpPr>
        <p:spPr>
          <a:xfrm>
            <a:off x="9372600" y="8355960"/>
            <a:ext cx="849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RQ2. 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Can a lightweight node-resident agent detect these divergences with bounded overhead?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2" name="Text 59"/>
          <p:cNvSpPr/>
          <p:nvPr/>
        </p:nvSpPr>
        <p:spPr>
          <a:xfrm>
            <a:off x="9372600" y="8848440"/>
            <a:ext cx="84992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RQ3. </a:t>
            </a:r>
            <a:r>
              <a:rPr b="0" lang="en-US" sz="2400" spc="-1" strike="noStrike">
                <a:solidFill>
                  <a:srgbClr val="1f1f1f"/>
                </a:solidFill>
                <a:latin typeface="Arial"/>
                <a:ea typeface="Arial"/>
              </a:rPr>
              <a:t>What categories of divergence occur in practice, and how should each be classified?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3" name="Shape 60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61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5" name="Text 62"/>
          <p:cNvSpPr/>
          <p:nvPr/>
        </p:nvSpPr>
        <p:spPr>
          <a:xfrm>
            <a:off x="17145000" y="9829800"/>
            <a:ext cx="6858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3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Literature Review: No Existing Tool Bridges Both Ends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2 · Literature Review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"/>
          <p:cNvSpPr/>
          <p:nvPr/>
        </p:nvSpPr>
        <p:spPr>
          <a:xfrm>
            <a:off x="666720" y="1504800"/>
            <a:ext cx="92145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 systematic walkthrough of every tool category in the Kubernetes security ecosystem confirms that the gap is real and unaddressed.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669600" y="2181960"/>
            <a:ext cx="321840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5"/>
          <p:cNvSpPr/>
          <p:nvPr/>
        </p:nvSpPr>
        <p:spPr>
          <a:xfrm>
            <a:off x="846360" y="2301480"/>
            <a:ext cx="29610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Tool / Category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3888000" y="2181960"/>
            <a:ext cx="286056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7"/>
          <p:cNvSpPr/>
          <p:nvPr/>
        </p:nvSpPr>
        <p:spPr>
          <a:xfrm>
            <a:off x="4065120" y="2301480"/>
            <a:ext cx="25927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Data source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6749280" y="2181960"/>
            <a:ext cx="286092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9"/>
          <p:cNvSpPr/>
          <p:nvPr/>
        </p:nvSpPr>
        <p:spPr>
          <a:xfrm>
            <a:off x="6926040" y="2301480"/>
            <a:ext cx="25927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Drift?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669600" y="276264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1"/>
          <p:cNvSpPr/>
          <p:nvPr/>
        </p:nvSpPr>
        <p:spPr>
          <a:xfrm>
            <a:off x="846360" y="288216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OPA Gatekeeper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3888000" y="276264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3"/>
          <p:cNvSpPr/>
          <p:nvPr/>
        </p:nvSpPr>
        <p:spPr>
          <a:xfrm>
            <a:off x="4065120" y="288216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 API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6749280" y="276264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5"/>
          <p:cNvSpPr/>
          <p:nvPr/>
        </p:nvSpPr>
        <p:spPr>
          <a:xfrm>
            <a:off x="7909200" y="2879640"/>
            <a:ext cx="54036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6"/>
          <p:cNvSpPr/>
          <p:nvPr/>
        </p:nvSpPr>
        <p:spPr>
          <a:xfrm>
            <a:off x="8010000" y="2923200"/>
            <a:ext cx="339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669600" y="337716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8"/>
          <p:cNvSpPr/>
          <p:nvPr/>
        </p:nvSpPr>
        <p:spPr>
          <a:xfrm>
            <a:off x="846360" y="349668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Kyverno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3888000" y="337716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0"/>
          <p:cNvSpPr/>
          <p:nvPr/>
        </p:nvSpPr>
        <p:spPr>
          <a:xfrm>
            <a:off x="4065120" y="349668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 API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67" name="Shape 21"/>
          <p:cNvSpPr/>
          <p:nvPr/>
        </p:nvSpPr>
        <p:spPr>
          <a:xfrm>
            <a:off x="6749280" y="337716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22"/>
          <p:cNvSpPr/>
          <p:nvPr/>
        </p:nvSpPr>
        <p:spPr>
          <a:xfrm>
            <a:off x="7909200" y="3494160"/>
            <a:ext cx="54036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3"/>
          <p:cNvSpPr/>
          <p:nvPr/>
        </p:nvSpPr>
        <p:spPr>
          <a:xfrm>
            <a:off x="8010000" y="3537720"/>
            <a:ext cx="339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70" name="Shape 24"/>
          <p:cNvSpPr/>
          <p:nvPr/>
        </p:nvSpPr>
        <p:spPr>
          <a:xfrm>
            <a:off x="669600" y="399132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5"/>
          <p:cNvSpPr/>
          <p:nvPr/>
        </p:nvSpPr>
        <p:spPr>
          <a:xfrm>
            <a:off x="846360" y="411120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Kubescape / Trivy Operator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72" name="Shape 26"/>
          <p:cNvSpPr/>
          <p:nvPr/>
        </p:nvSpPr>
        <p:spPr>
          <a:xfrm>
            <a:off x="3888000" y="399132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7"/>
          <p:cNvSpPr/>
          <p:nvPr/>
        </p:nvSpPr>
        <p:spPr>
          <a:xfrm>
            <a:off x="4065120" y="411120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 API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74" name="Shape 28"/>
          <p:cNvSpPr/>
          <p:nvPr/>
        </p:nvSpPr>
        <p:spPr>
          <a:xfrm>
            <a:off x="6749280" y="399132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29"/>
          <p:cNvSpPr/>
          <p:nvPr/>
        </p:nvSpPr>
        <p:spPr>
          <a:xfrm>
            <a:off x="7909200" y="4108680"/>
            <a:ext cx="54036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30"/>
          <p:cNvSpPr/>
          <p:nvPr/>
        </p:nvSpPr>
        <p:spPr>
          <a:xfrm>
            <a:off x="8010000" y="4151880"/>
            <a:ext cx="339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77" name="Shape 31"/>
          <p:cNvSpPr/>
          <p:nvPr/>
        </p:nvSpPr>
        <p:spPr>
          <a:xfrm>
            <a:off x="669600" y="460584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32"/>
          <p:cNvSpPr/>
          <p:nvPr/>
        </p:nvSpPr>
        <p:spPr>
          <a:xfrm>
            <a:off x="846360" y="472572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Falco / KubeArmor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79" name="Shape 33"/>
          <p:cNvSpPr/>
          <p:nvPr/>
        </p:nvSpPr>
        <p:spPr>
          <a:xfrm>
            <a:off x="3888000" y="460584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34"/>
          <p:cNvSpPr/>
          <p:nvPr/>
        </p:nvSpPr>
        <p:spPr>
          <a:xfrm>
            <a:off x="4065120" y="472572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Kernel (eBPF, syscalls)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81" name="Shape 35"/>
          <p:cNvSpPr/>
          <p:nvPr/>
        </p:nvSpPr>
        <p:spPr>
          <a:xfrm>
            <a:off x="6749280" y="460584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36"/>
          <p:cNvSpPr/>
          <p:nvPr/>
        </p:nvSpPr>
        <p:spPr>
          <a:xfrm>
            <a:off x="7827120" y="4722840"/>
            <a:ext cx="70488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37"/>
          <p:cNvSpPr/>
          <p:nvPr/>
        </p:nvSpPr>
        <p:spPr>
          <a:xfrm>
            <a:off x="7927920" y="4766400"/>
            <a:ext cx="503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 *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84" name="Shape 38"/>
          <p:cNvSpPr/>
          <p:nvPr/>
        </p:nvSpPr>
        <p:spPr>
          <a:xfrm>
            <a:off x="669600" y="522036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39"/>
          <p:cNvSpPr/>
          <p:nvPr/>
        </p:nvSpPr>
        <p:spPr>
          <a:xfrm>
            <a:off x="846360" y="534024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Kubediff / ArgoCD / FluxCD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86" name="Shape 40"/>
          <p:cNvSpPr/>
          <p:nvPr/>
        </p:nvSpPr>
        <p:spPr>
          <a:xfrm>
            <a:off x="3888000" y="522036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41"/>
          <p:cNvSpPr/>
          <p:nvPr/>
        </p:nvSpPr>
        <p:spPr>
          <a:xfrm>
            <a:off x="4065120" y="534024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 API + Git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88" name="Shape 42"/>
          <p:cNvSpPr/>
          <p:nvPr/>
        </p:nvSpPr>
        <p:spPr>
          <a:xfrm>
            <a:off x="6749280" y="522036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43"/>
          <p:cNvSpPr/>
          <p:nvPr/>
        </p:nvSpPr>
        <p:spPr>
          <a:xfrm>
            <a:off x="7909200" y="5337360"/>
            <a:ext cx="54036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4"/>
          <p:cNvSpPr/>
          <p:nvPr/>
        </p:nvSpPr>
        <p:spPr>
          <a:xfrm>
            <a:off x="8010000" y="5380920"/>
            <a:ext cx="339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91" name="Shape 45"/>
          <p:cNvSpPr/>
          <p:nvPr/>
        </p:nvSpPr>
        <p:spPr>
          <a:xfrm>
            <a:off x="669600" y="5834880"/>
            <a:ext cx="321840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46"/>
          <p:cNvSpPr/>
          <p:nvPr/>
        </p:nvSpPr>
        <p:spPr>
          <a:xfrm>
            <a:off x="846360" y="595440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kube-bench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93" name="Shape 47"/>
          <p:cNvSpPr/>
          <p:nvPr/>
        </p:nvSpPr>
        <p:spPr>
          <a:xfrm>
            <a:off x="3888000" y="5834880"/>
            <a:ext cx="286056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48"/>
          <p:cNvSpPr/>
          <p:nvPr/>
        </p:nvSpPr>
        <p:spPr>
          <a:xfrm>
            <a:off x="4065120" y="595440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Node filesystem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95" name="Shape 49"/>
          <p:cNvSpPr/>
          <p:nvPr/>
        </p:nvSpPr>
        <p:spPr>
          <a:xfrm>
            <a:off x="6749280" y="5834880"/>
            <a:ext cx="28609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50"/>
          <p:cNvSpPr/>
          <p:nvPr/>
        </p:nvSpPr>
        <p:spPr>
          <a:xfrm>
            <a:off x="7909200" y="5951880"/>
            <a:ext cx="540360" cy="380160"/>
          </a:xfrm>
          <a:prstGeom prst="roundRect">
            <a:avLst>
              <a:gd name="adj" fmla="val 7512"/>
            </a:avLst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51"/>
          <p:cNvSpPr/>
          <p:nvPr/>
        </p:nvSpPr>
        <p:spPr>
          <a:xfrm>
            <a:off x="8010000" y="5995440"/>
            <a:ext cx="339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595959"/>
                </a:solidFill>
                <a:latin typeface="Arial"/>
                <a:ea typeface="Arial"/>
              </a:rPr>
              <a:t>No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98" name="Shape 52"/>
          <p:cNvSpPr/>
          <p:nvPr/>
        </p:nvSpPr>
        <p:spPr>
          <a:xfrm>
            <a:off x="669600" y="6449400"/>
            <a:ext cx="3218400" cy="61416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53"/>
          <p:cNvSpPr/>
          <p:nvPr/>
        </p:nvSpPr>
        <p:spPr>
          <a:xfrm>
            <a:off x="846360" y="6568920"/>
            <a:ext cx="296100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k8s-psa (this thesis)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00" name="Shape 54"/>
          <p:cNvSpPr/>
          <p:nvPr/>
        </p:nvSpPr>
        <p:spPr>
          <a:xfrm>
            <a:off x="3888000" y="6449400"/>
            <a:ext cx="2860560" cy="61416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55"/>
          <p:cNvSpPr/>
          <p:nvPr/>
        </p:nvSpPr>
        <p:spPr>
          <a:xfrm>
            <a:off x="4065120" y="6568920"/>
            <a:ext cx="25927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K8s API + container runtime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02" name="Shape 56"/>
          <p:cNvSpPr/>
          <p:nvPr/>
        </p:nvSpPr>
        <p:spPr>
          <a:xfrm>
            <a:off x="6749280" y="6449400"/>
            <a:ext cx="2860920" cy="61416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57"/>
          <p:cNvSpPr/>
          <p:nvPr/>
        </p:nvSpPr>
        <p:spPr>
          <a:xfrm>
            <a:off x="7773120" y="6566400"/>
            <a:ext cx="81288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58"/>
          <p:cNvSpPr/>
          <p:nvPr/>
        </p:nvSpPr>
        <p:spPr>
          <a:xfrm>
            <a:off x="7873920" y="6609960"/>
            <a:ext cx="611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Yes ✓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05" name="Text 59"/>
          <p:cNvSpPr/>
          <p:nvPr/>
        </p:nvSpPr>
        <p:spPr>
          <a:xfrm>
            <a:off x="666720" y="7161840"/>
            <a:ext cx="921456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280" spc="-1" strike="noStrike">
                <a:solidFill>
                  <a:srgbClr val="595959"/>
                </a:solidFill>
                <a:latin typeface="Arial"/>
                <a:ea typeface="Arial"/>
              </a:rPr>
              <a:t>* Falco detects syscall anomalies but cannot tell whether a declared restriction silently failed to apply. Wong et al., Devi Priya et al., and CloudSecBurrito name this gap as an open research direction.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206" name="Shape 60"/>
          <p:cNvSpPr/>
          <p:nvPr/>
        </p:nvSpPr>
        <p:spPr>
          <a:xfrm>
            <a:off x="9841680" y="1504800"/>
            <a:ext cx="7779240" cy="826740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61"/>
          <p:cNvSpPr/>
          <p:nvPr/>
        </p:nvSpPr>
        <p:spPr>
          <a:xfrm>
            <a:off x="9966240" y="1701000"/>
            <a:ext cx="753048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The Kubernetes Security Tool Landscape</a:t>
            </a:r>
            <a:endParaRPr b="0" lang="en-US" sz="1950" spc="-1" strike="noStrike"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10075680" y="2085480"/>
            <a:ext cx="7310880" cy="7246800"/>
          </a:xfrm>
          <a:prstGeom prst="rect">
            <a:avLst/>
          </a:prstGeom>
          <a:ln w="0">
            <a:noFill/>
          </a:ln>
        </p:spPr>
      </p:pic>
      <p:sp>
        <p:nvSpPr>
          <p:cNvPr id="209" name="Text 62"/>
          <p:cNvSpPr/>
          <p:nvPr/>
        </p:nvSpPr>
        <p:spPr>
          <a:xfrm>
            <a:off x="9966240" y="9389880"/>
            <a:ext cx="753048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95959"/>
                </a:solidFill>
                <a:latin typeface="Arial"/>
                <a:ea typeface="Arial"/>
              </a:rPr>
              <a:t>Adapted from Fig. 2.6 — every existing tool sits on one side of the gap.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10" name="Shape 63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64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12" name="Text 65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4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Seccomp: The Security Primitive Most Affected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2 · Seccomp in Kubernetes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3"/>
          <p:cNvSpPr/>
          <p:nvPr/>
        </p:nvSpPr>
        <p:spPr>
          <a:xfrm>
            <a:off x="666720" y="1504800"/>
            <a:ext cx="174628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A Linux kernel BPF filter declared in YAML, translated through four layers, and silently lost in the most common privileged-mode case.</a:t>
            </a:r>
            <a:endParaRPr b="0" lang="en-US" sz="1729" spc="-1" strike="noStrike"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666720" y="1945080"/>
            <a:ext cx="174628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Three Seccomp Profile Types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666720" y="2626920"/>
            <a:ext cx="5511240" cy="17668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6"/>
          <p:cNvSpPr/>
          <p:nvPr/>
        </p:nvSpPr>
        <p:spPr>
          <a:xfrm>
            <a:off x="900720" y="2822760"/>
            <a:ext cx="5194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Unconfined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900720" y="3398040"/>
            <a:ext cx="51944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No filter at all. Every syscall is permitted. Historically the default. Exposes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mount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ptrace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kexec_load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reboot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6388200" y="2626920"/>
            <a:ext cx="5511600" cy="17668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9"/>
          <p:cNvSpPr/>
          <p:nvPr/>
        </p:nvSpPr>
        <p:spPr>
          <a:xfrm>
            <a:off x="6622200" y="28227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RuntimeDefault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6622200" y="3398040"/>
            <a:ext cx="51948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The runtime's built-in BPF allowlist. Blocks ~36 syscalls historically used in container escapes while permitting all common workload calls.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12109320" y="2626920"/>
            <a:ext cx="5511600" cy="17668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2"/>
          <p:cNvSpPr/>
          <p:nvPr/>
        </p:nvSpPr>
        <p:spPr>
          <a:xfrm>
            <a:off x="12343320" y="28227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Localhost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12343320" y="3398040"/>
            <a:ext cx="5194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A custom BPF profile loaded from the node filesystem. Strictest option — allows only what the specific application needs.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666720" y="4565520"/>
            <a:ext cx="174628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Three Properties Make Seccomp Vulnerable to Silent Failure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666720" y="5247720"/>
            <a:ext cx="5511240" cy="4190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6"/>
          <p:cNvSpPr/>
          <p:nvPr/>
        </p:nvSpPr>
        <p:spPr>
          <a:xfrm>
            <a:off x="900720" y="5443560"/>
            <a:ext cx="5194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1. Asymmetric Default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900720" y="6018840"/>
            <a:ext cx="51944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Seccomp is opt-in. A pod without a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seccompProfile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runs </a:t>
            </a:r>
            <a:r>
              <a:rPr b="1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Unconfined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unless the kubelet is explicitly configured otherwise. KEP-2413 started changing this; migration is incomplete.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6388200" y="5247720"/>
            <a:ext cx="5511600" cy="4190760"/>
          </a:xfrm>
          <a:prstGeom prst="rect">
            <a:avLst/>
          </a:prstGeom>
          <a:solidFill>
            <a:srgbClr val="fbe5e1"/>
          </a:solidFill>
          <a:ln w="5443">
            <a:solidFill>
              <a:srgbClr val="e8b0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9"/>
          <p:cNvSpPr/>
          <p:nvPr/>
        </p:nvSpPr>
        <p:spPr>
          <a:xfrm>
            <a:off x="6622200" y="54435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2. Privileged-Mode Override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6622200" y="6018840"/>
            <a:ext cx="51948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Docker silently </a:t>
            </a:r>
            <a:r>
              <a:rPr b="1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strips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declared seccomp profiles from privileged containers (Moby issue #41321). The spec still reports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RuntimeDefault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— the kernel applies no filter. </a:t>
            </a:r>
            <a:r>
              <a:rPr b="0" i="1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This is the central enforcement gap.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34" name="Shape 21"/>
          <p:cNvSpPr/>
          <p:nvPr/>
        </p:nvSpPr>
        <p:spPr>
          <a:xfrm>
            <a:off x="12109320" y="5247720"/>
            <a:ext cx="5511600" cy="4190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22"/>
          <p:cNvSpPr/>
          <p:nvPr/>
        </p:nvSpPr>
        <p:spPr>
          <a:xfrm>
            <a:off x="12343320" y="54435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3. Opaque Metadata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12343320" y="6018840"/>
            <a:ext cx="5194800" cy="12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When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cri-dockerd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forwards a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RuntimeDefault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declaration, no explicit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SecurityOpt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entry is recorded.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inspect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cannot distinguish a protected container from an unprotected one.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37" name="Shape 24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5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5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k8s-psa: Architecture Overview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3 · Design &amp; Methodology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3"/>
          <p:cNvSpPr/>
          <p:nvPr/>
        </p:nvSpPr>
        <p:spPr>
          <a:xfrm>
            <a:off x="666720" y="1504800"/>
            <a:ext cx="9122760" cy="85453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4"/>
          <p:cNvSpPr/>
          <p:nvPr/>
        </p:nvSpPr>
        <p:spPr>
          <a:xfrm>
            <a:off x="692640" y="1681920"/>
            <a:ext cx="9071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k8s-psa Data Flow — One DaemonSet per Node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824760" y="2238120"/>
            <a:ext cx="8807040" cy="7391520"/>
          </a:xfrm>
          <a:prstGeom prst="rect">
            <a:avLst/>
          </a:prstGeom>
          <a:ln w="0">
            <a:noFill/>
          </a:ln>
        </p:spPr>
      </p:pic>
      <p:sp>
        <p:nvSpPr>
          <p:cNvPr id="246" name="Text 5"/>
          <p:cNvSpPr/>
          <p:nvPr/>
        </p:nvSpPr>
        <p:spPr>
          <a:xfrm>
            <a:off x="692640" y="9687240"/>
            <a:ext cx="907128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95959"/>
                </a:solidFill>
                <a:latin typeface="Arial"/>
                <a:ea typeface="Arial"/>
              </a:rPr>
              <a:t>Adapted from Fig. 3.1 · high-level data flow.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10018440" y="3031560"/>
            <a:ext cx="7602120" cy="158004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7"/>
          <p:cNvSpPr/>
          <p:nvPr/>
        </p:nvSpPr>
        <p:spPr>
          <a:xfrm>
            <a:off x="10252440" y="3227400"/>
            <a:ext cx="7348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Design Principle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0252440" y="3802680"/>
            <a:ext cx="73483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Verification requires </a:t>
            </a:r>
            <a:r>
              <a:rPr b="1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two independent data sources </a:t>
            </a: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: the K8s API for declared intent, the runtime for kernel-enforced reality.</a:t>
            </a:r>
            <a:endParaRPr b="0" lang="en-US" sz="1729" spc="-1" strike="noStrike"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10018440" y="4802400"/>
            <a:ext cx="7602120" cy="158976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0"/>
          <p:cNvSpPr/>
          <p:nvPr/>
        </p:nvSpPr>
        <p:spPr>
          <a:xfrm>
            <a:off x="10252440" y="4998240"/>
            <a:ext cx="7348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Layer 1 — Specification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10252440" y="5573520"/>
            <a:ext cx="73483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API only.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Functionally equivalent to OPA / Kyverno.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10252440" y="5929560"/>
            <a:ext cx="7348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privileged · root · host ns · seccomp · caps · read-only root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10018440" y="6582960"/>
            <a:ext cx="7602120" cy="1941120"/>
          </a:xfrm>
          <a:prstGeom prst="rect">
            <a:avLst/>
          </a:prstGeom>
          <a:solidFill>
            <a:srgbClr val="f4e1e6"/>
          </a:solidFill>
          <a:ln w="16329">
            <a:solidFill>
              <a:srgbClr val="a020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4"/>
          <p:cNvSpPr/>
          <p:nvPr/>
        </p:nvSpPr>
        <p:spPr>
          <a:xfrm>
            <a:off x="10263600" y="6789600"/>
            <a:ext cx="73256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Layer 2 — Drift Detection </a:t>
            </a:r>
            <a:r>
              <a:rPr b="1" lang="en-US" sz="1500" spc="-1" strike="noStrike">
                <a:solidFill>
                  <a:srgbClr val="a0203b"/>
                </a:solidFill>
                <a:latin typeface="Arial"/>
                <a:ea typeface="Arial"/>
              </a:rPr>
              <a:t>★ novel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10263600" y="7364880"/>
            <a:ext cx="7325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API + runtime.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Spec field vs. live runtime field.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10263600" y="7721280"/>
            <a:ext cx="7325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privileged · user · capabilities · </a:t>
            </a:r>
            <a:r>
              <a:rPr b="1" lang="en-US" sz="1500" spc="-1" strike="noStrike">
                <a:solidFill>
                  <a:srgbClr val="a0203b"/>
                </a:solidFill>
                <a:latin typeface="Arial"/>
                <a:ea typeface="Arial"/>
              </a:rPr>
              <a:t>seccomp </a:t>
            </a: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· rootfs+noNewPriv · host ns · masked paths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10263600" y="8064000"/>
            <a:ext cx="7325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Severity: </a:t>
            </a:r>
            <a:r>
              <a:rPr b="1" lang="en-US" sz="1430" spc="-1" strike="noStrike">
                <a:solidFill>
                  <a:srgbClr val="a0203b"/>
                </a:solidFill>
                <a:latin typeface="Arial"/>
                <a:ea typeface="Arial"/>
              </a:rPr>
              <a:t>CRITICAL </a:t>
            </a: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· </a:t>
            </a:r>
            <a:r>
              <a:rPr b="1" lang="en-US" sz="1430" spc="-1" strike="noStrike">
                <a:solidFill>
                  <a:srgbClr val="b8860b"/>
                </a:solidFill>
                <a:latin typeface="Arial"/>
                <a:ea typeface="Arial"/>
              </a:rPr>
              <a:t>WARNING </a:t>
            </a: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· </a:t>
            </a:r>
            <a:r>
              <a:rPr b="1" lang="en-US" sz="1430" spc="-1" strike="noStrike">
                <a:solidFill>
                  <a:srgbClr val="0f7b7e"/>
                </a:solidFill>
                <a:latin typeface="Arial"/>
                <a:ea typeface="Arial"/>
              </a:rPr>
              <a:t>INFO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19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6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Two Design Decisions That Make Layer 2 Work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3 · Design Details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3"/>
          <p:cNvSpPr/>
          <p:nvPr/>
        </p:nvSpPr>
        <p:spPr>
          <a:xfrm>
            <a:off x="666720" y="1504800"/>
            <a:ext cx="858420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1. Capability Normalization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666720" y="2206080"/>
            <a:ext cx="858420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The Linux kernel grants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14 default capabilities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to every non-privileged container, even when the spec lists zero. A naïve comparison emits 14 false positives per pod.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666720" y="2861280"/>
            <a:ext cx="8334000" cy="28155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Shape 6"/>
          <p:cNvSpPr/>
          <p:nvPr/>
        </p:nvSpPr>
        <p:spPr>
          <a:xfrm>
            <a:off x="666720" y="5671800"/>
            <a:ext cx="83340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7"/>
          <p:cNvSpPr/>
          <p:nvPr/>
        </p:nvSpPr>
        <p:spPr>
          <a:xfrm>
            <a:off x="666720" y="2861280"/>
            <a:ext cx="83340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Shape 8"/>
          <p:cNvSpPr/>
          <p:nvPr/>
        </p:nvSpPr>
        <p:spPr>
          <a:xfrm>
            <a:off x="666720" y="2861280"/>
            <a:ext cx="37800" cy="281556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9"/>
          <p:cNvSpPr/>
          <p:nvPr/>
        </p:nvSpPr>
        <p:spPr>
          <a:xfrm>
            <a:off x="8995680" y="2861280"/>
            <a:ext cx="9000" cy="2815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0"/>
          <p:cNvSpPr/>
          <p:nvPr/>
        </p:nvSpPr>
        <p:spPr>
          <a:xfrm>
            <a:off x="895320" y="3018960"/>
            <a:ext cx="8159400" cy="25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3000"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def compute_expected(add, drop):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if "ALL" in drop: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expected = set()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else: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expected = DEFAULTS - set(drop)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expected = expected | set(add)</a:t>
            </a:r>
            <a:endParaRPr b="0" lang="en-US" sz="187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    </a:t>
            </a:r>
            <a:r>
              <a:rPr b="0" lang="en-US" sz="1870" spc="-1" strike="noStrike">
                <a:solidFill>
                  <a:srgbClr val="1f1f1f"/>
                </a:solidFill>
                <a:latin typeface="Courier New"/>
                <a:ea typeface="Courier New"/>
              </a:rPr>
              <a:t>return expected</a:t>
            </a:r>
            <a:endParaRPr b="0" lang="en-US" sz="1870" spc="-1" strike="noStrike">
              <a:latin typeface="Arial"/>
            </a:endParaRPr>
          </a:p>
        </p:txBody>
      </p:sp>
      <p:sp>
        <p:nvSpPr>
          <p:cNvPr id="273" name="Shape 11"/>
          <p:cNvSpPr/>
          <p:nvPr/>
        </p:nvSpPr>
        <p:spPr>
          <a:xfrm>
            <a:off x="666720" y="5791320"/>
            <a:ext cx="8334000" cy="1880640"/>
          </a:xfrm>
          <a:prstGeom prst="rect">
            <a:avLst/>
          </a:prstGeom>
          <a:solidFill>
            <a:srgbClr val="fff2cc"/>
          </a:solidFill>
          <a:ln w="5443">
            <a:solidFill>
              <a:srgbClr val="dbc3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2"/>
          <p:cNvSpPr/>
          <p:nvPr/>
        </p:nvSpPr>
        <p:spPr>
          <a:xfrm>
            <a:off x="900720" y="5987520"/>
            <a:ext cx="8101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For privileged containers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900720" y="6562800"/>
            <a:ext cx="810180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Docker grants all 41 capabilities. The algorithm </a:t>
            </a:r>
            <a:r>
              <a:rPr b="1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deliberately does NOT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expand the expected set to 41. Result: 27 </a:t>
            </a:r>
            <a:r>
              <a:rPr b="1" lang="en-US" sz="1650" spc="-1" strike="noStrike">
                <a:solidFill>
                  <a:srgbClr val="b8860b"/>
                </a:solidFill>
                <a:highlight>
                  <a:srgbClr val="f7eed0"/>
                </a:highlight>
                <a:latin typeface="Arial"/>
                <a:ea typeface="Arial"/>
              </a:rPr>
              <a:t>WARNING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findings — correctly surfacing the inflation that privileged mode silently introduces.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9286920" y="1504800"/>
            <a:ext cx="858420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2. Seccomp Comparison Logic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9286920" y="2206080"/>
            <a:ext cx="8584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Four rules govern when a seccomp mismatch is a finding: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8" name="Shape 16"/>
          <p:cNvSpPr/>
          <p:nvPr/>
        </p:nvSpPr>
        <p:spPr>
          <a:xfrm>
            <a:off x="9286920" y="2567880"/>
            <a:ext cx="8334000" cy="588384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9" name="Image 0" descr="preencoded.png"/>
          <p:cNvPicPr/>
          <p:nvPr/>
        </p:nvPicPr>
        <p:blipFill>
          <a:blip r:embed="rId1"/>
          <a:stretch/>
        </p:blipFill>
        <p:spPr>
          <a:xfrm>
            <a:off x="9425520" y="2725920"/>
            <a:ext cx="8056440" cy="5568120"/>
          </a:xfrm>
          <a:prstGeom prst="rect">
            <a:avLst/>
          </a:prstGeom>
          <a:ln w="0">
            <a:noFill/>
          </a:ln>
        </p:spPr>
      </p:pic>
      <p:sp>
        <p:nvSpPr>
          <p:cNvPr id="280" name="Shape 17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8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7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Seven Purpose-Built Test Pods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3 · Evaluation Design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3"/>
          <p:cNvSpPr/>
          <p:nvPr/>
        </p:nvSpPr>
        <p:spPr>
          <a:xfrm>
            <a:off x="666720" y="1504800"/>
            <a:ext cx="174628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29" spc="-1" strike="noStrike">
                <a:solidFill>
                  <a:srgbClr val="1f1f1f"/>
                </a:solidFill>
                <a:latin typeface="Arial"/>
                <a:ea typeface="Arial"/>
              </a:rPr>
              <a:t>Designed to isolate individual variables — the scientific control at the heart of the evaluation.</a:t>
            </a:r>
            <a:endParaRPr b="0" lang="en-US" sz="1729" spc="-1" strike="noStrike"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669600" y="1947600"/>
            <a:ext cx="84708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5"/>
          <p:cNvSpPr/>
          <p:nvPr/>
        </p:nvSpPr>
        <p:spPr>
          <a:xfrm>
            <a:off x="846360" y="2067480"/>
            <a:ext cx="56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#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1516680" y="1947600"/>
            <a:ext cx="372852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7"/>
          <p:cNvSpPr/>
          <p:nvPr/>
        </p:nvSpPr>
        <p:spPr>
          <a:xfrm>
            <a:off x="1693800" y="2067480"/>
            <a:ext cx="34866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Pod Name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1" name="Shape 8"/>
          <p:cNvSpPr/>
          <p:nvPr/>
        </p:nvSpPr>
        <p:spPr>
          <a:xfrm>
            <a:off x="5245560" y="1947600"/>
            <a:ext cx="728784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9"/>
          <p:cNvSpPr/>
          <p:nvPr/>
        </p:nvSpPr>
        <p:spPr>
          <a:xfrm>
            <a:off x="5422680" y="2067480"/>
            <a:ext cx="7152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Security Configuration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12533760" y="1947600"/>
            <a:ext cx="508428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1"/>
          <p:cNvSpPr/>
          <p:nvPr/>
        </p:nvSpPr>
        <p:spPr>
          <a:xfrm>
            <a:off x="12710520" y="2067480"/>
            <a:ext cx="4883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Scientific Role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669600" y="2528280"/>
            <a:ext cx="847080" cy="9270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3"/>
          <p:cNvSpPr/>
          <p:nvPr/>
        </p:nvSpPr>
        <p:spPr>
          <a:xfrm>
            <a:off x="808200" y="2648160"/>
            <a:ext cx="56952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1516680" y="2528280"/>
            <a:ext cx="3728520" cy="9270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15"/>
          <p:cNvSpPr/>
          <p:nvPr/>
        </p:nvSpPr>
        <p:spPr>
          <a:xfrm>
            <a:off x="1693800" y="2648160"/>
            <a:ext cx="348660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Fully Hardened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>
            <a:off x="5245560" y="2528280"/>
            <a:ext cx="7287840" cy="9270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17"/>
          <p:cNvSpPr/>
          <p:nvPr/>
        </p:nvSpPr>
        <p:spPr>
          <a:xfrm>
            <a:off x="5422680" y="2648160"/>
            <a:ext cx="715248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drop ALL · runAsUser 1000 · RuntimeDefault · readOnlyRootFs · no escalation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12533760" y="2528280"/>
            <a:ext cx="5084280" cy="9270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9"/>
          <p:cNvSpPr/>
          <p:nvPr/>
        </p:nvSpPr>
        <p:spPr>
          <a:xfrm>
            <a:off x="12710520" y="2648160"/>
            <a:ext cx="488304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Negative control — expect zero findings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3" name="Shape 20"/>
          <p:cNvSpPr/>
          <p:nvPr/>
        </p:nvSpPr>
        <p:spPr>
          <a:xfrm>
            <a:off x="669600" y="3455640"/>
            <a:ext cx="8470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21"/>
          <p:cNvSpPr/>
          <p:nvPr/>
        </p:nvSpPr>
        <p:spPr>
          <a:xfrm>
            <a:off x="808200" y="3575520"/>
            <a:ext cx="56952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2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5" name="Shape 22"/>
          <p:cNvSpPr/>
          <p:nvPr/>
        </p:nvSpPr>
        <p:spPr>
          <a:xfrm>
            <a:off x="1516680" y="3455640"/>
            <a:ext cx="372852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23"/>
          <p:cNvSpPr/>
          <p:nvPr/>
        </p:nvSpPr>
        <p:spPr>
          <a:xfrm>
            <a:off x="1693800" y="3575520"/>
            <a:ext cx="348660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No Security Context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7" name="Shape 24"/>
          <p:cNvSpPr/>
          <p:nvPr/>
        </p:nvSpPr>
        <p:spPr>
          <a:xfrm>
            <a:off x="5245560" y="3455640"/>
            <a:ext cx="728784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25"/>
          <p:cNvSpPr/>
          <p:nvPr/>
        </p:nvSpPr>
        <p:spPr>
          <a:xfrm>
            <a:off x="5422680" y="3575520"/>
            <a:ext cx="715248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No </a:t>
            </a:r>
            <a:r>
              <a:rPr b="0" lang="en-US" sz="171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securityContext </a:t>
            </a: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at all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9" name="Shape 26"/>
          <p:cNvSpPr/>
          <p:nvPr/>
        </p:nvSpPr>
        <p:spPr>
          <a:xfrm>
            <a:off x="12533760" y="3455640"/>
            <a:ext cx="50842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27"/>
          <p:cNvSpPr/>
          <p:nvPr/>
        </p:nvSpPr>
        <p:spPr>
          <a:xfrm>
            <a:off x="12710520" y="3575520"/>
            <a:ext cx="48830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Empty baseline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11" name="Shape 28"/>
          <p:cNvSpPr/>
          <p:nvPr/>
        </p:nvSpPr>
        <p:spPr>
          <a:xfrm>
            <a:off x="669600" y="4043880"/>
            <a:ext cx="847080" cy="58788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29"/>
          <p:cNvSpPr/>
          <p:nvPr/>
        </p:nvSpPr>
        <p:spPr>
          <a:xfrm>
            <a:off x="808200" y="4163760"/>
            <a:ext cx="56952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3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13" name="Shape 30"/>
          <p:cNvSpPr/>
          <p:nvPr/>
        </p:nvSpPr>
        <p:spPr>
          <a:xfrm>
            <a:off x="1516680" y="4043880"/>
            <a:ext cx="3728520" cy="58788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31"/>
          <p:cNvSpPr/>
          <p:nvPr/>
        </p:nvSpPr>
        <p:spPr>
          <a:xfrm>
            <a:off x="1693800" y="4163760"/>
            <a:ext cx="348660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Privileged + Seccomp ★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15" name="Shape 32"/>
          <p:cNvSpPr/>
          <p:nvPr/>
        </p:nvSpPr>
        <p:spPr>
          <a:xfrm>
            <a:off x="5245560" y="4043880"/>
            <a:ext cx="7287840" cy="58788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33"/>
          <p:cNvSpPr/>
          <p:nvPr/>
        </p:nvSpPr>
        <p:spPr>
          <a:xfrm>
            <a:off x="5422680" y="4163760"/>
            <a:ext cx="715248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1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privileged: true </a:t>
            </a:r>
            <a:r>
              <a:rPr b="0" lang="en-US" sz="1950" spc="-1" strike="noStrike">
                <a:solidFill>
                  <a:srgbClr val="1f1f1f"/>
                </a:solidFill>
                <a:highlight>
                  <a:srgbClr val="fff2cc"/>
                </a:highlight>
                <a:latin typeface="Arial"/>
                <a:ea typeface="Arial"/>
              </a:rPr>
              <a:t>+ </a:t>
            </a:r>
            <a:r>
              <a:rPr b="0" lang="en-US" sz="171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seccompProfile: RuntimeDefault</a:t>
            </a:r>
            <a:endParaRPr b="0" lang="en-US" sz="1710" spc="-1" strike="noStrike">
              <a:latin typeface="Arial"/>
            </a:endParaRPr>
          </a:p>
        </p:txBody>
      </p:sp>
      <p:sp>
        <p:nvSpPr>
          <p:cNvPr id="317" name="Shape 34"/>
          <p:cNvSpPr/>
          <p:nvPr/>
        </p:nvSpPr>
        <p:spPr>
          <a:xfrm>
            <a:off x="12533760" y="4043880"/>
            <a:ext cx="5084280" cy="587880"/>
          </a:xfrm>
          <a:prstGeom prst="rect">
            <a:avLst/>
          </a:prstGeom>
          <a:solidFill>
            <a:srgbClr val="fff2cc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35"/>
          <p:cNvSpPr/>
          <p:nvPr/>
        </p:nvSpPr>
        <p:spPr>
          <a:xfrm>
            <a:off x="12710520" y="4163760"/>
            <a:ext cx="48830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KEY scenario — exposes the gap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19" name="Shape 36"/>
          <p:cNvSpPr/>
          <p:nvPr/>
        </p:nvSpPr>
        <p:spPr>
          <a:xfrm>
            <a:off x="669600" y="4632120"/>
            <a:ext cx="8470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37"/>
          <p:cNvSpPr/>
          <p:nvPr/>
        </p:nvSpPr>
        <p:spPr>
          <a:xfrm>
            <a:off x="808200" y="4751640"/>
            <a:ext cx="56952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4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21" name="Shape 38"/>
          <p:cNvSpPr/>
          <p:nvPr/>
        </p:nvSpPr>
        <p:spPr>
          <a:xfrm>
            <a:off x="1516680" y="4632120"/>
            <a:ext cx="372852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39"/>
          <p:cNvSpPr/>
          <p:nvPr/>
        </p:nvSpPr>
        <p:spPr>
          <a:xfrm>
            <a:off x="1693800" y="4751640"/>
            <a:ext cx="348660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Privileged, No Seccomp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23" name="Shape 40"/>
          <p:cNvSpPr/>
          <p:nvPr/>
        </p:nvSpPr>
        <p:spPr>
          <a:xfrm>
            <a:off x="5245560" y="4632120"/>
            <a:ext cx="728784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41"/>
          <p:cNvSpPr/>
          <p:nvPr/>
        </p:nvSpPr>
        <p:spPr>
          <a:xfrm>
            <a:off x="5422680" y="4751640"/>
            <a:ext cx="715248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1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privileged: true </a:t>
            </a: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(no seccomp declaration)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25" name="Shape 42"/>
          <p:cNvSpPr/>
          <p:nvPr/>
        </p:nvSpPr>
        <p:spPr>
          <a:xfrm>
            <a:off x="12533760" y="4632120"/>
            <a:ext cx="50842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43"/>
          <p:cNvSpPr/>
          <p:nvPr/>
        </p:nvSpPr>
        <p:spPr>
          <a:xfrm>
            <a:off x="12710520" y="4751640"/>
            <a:ext cx="48830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Scientific control for Pod 3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27" name="Shape 44"/>
          <p:cNvSpPr/>
          <p:nvPr/>
        </p:nvSpPr>
        <p:spPr>
          <a:xfrm>
            <a:off x="669600" y="5220360"/>
            <a:ext cx="84708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45"/>
          <p:cNvSpPr/>
          <p:nvPr/>
        </p:nvSpPr>
        <p:spPr>
          <a:xfrm>
            <a:off x="808200" y="5339880"/>
            <a:ext cx="56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5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29" name="Shape 46"/>
          <p:cNvSpPr/>
          <p:nvPr/>
        </p:nvSpPr>
        <p:spPr>
          <a:xfrm>
            <a:off x="1516680" y="5220360"/>
            <a:ext cx="372852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47"/>
          <p:cNvSpPr/>
          <p:nvPr/>
        </p:nvSpPr>
        <p:spPr>
          <a:xfrm>
            <a:off x="1693800" y="5339880"/>
            <a:ext cx="34866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Partial Security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31" name="Shape 48"/>
          <p:cNvSpPr/>
          <p:nvPr/>
        </p:nvSpPr>
        <p:spPr>
          <a:xfrm>
            <a:off x="5245560" y="5220360"/>
            <a:ext cx="728784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49"/>
          <p:cNvSpPr/>
          <p:nvPr/>
        </p:nvSpPr>
        <p:spPr>
          <a:xfrm>
            <a:off x="5422680" y="5339880"/>
            <a:ext cx="7152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7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drop NET_RAW, SYS_ADMIN + RuntimeDefault + runAsUser 1000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33" name="Shape 50"/>
          <p:cNvSpPr/>
          <p:nvPr/>
        </p:nvSpPr>
        <p:spPr>
          <a:xfrm>
            <a:off x="12533760" y="5220360"/>
            <a:ext cx="508428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51"/>
          <p:cNvSpPr/>
          <p:nvPr/>
        </p:nvSpPr>
        <p:spPr>
          <a:xfrm>
            <a:off x="12710520" y="5339880"/>
            <a:ext cx="4883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Tests partial capability drops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35" name="Shape 52"/>
          <p:cNvSpPr/>
          <p:nvPr/>
        </p:nvSpPr>
        <p:spPr>
          <a:xfrm>
            <a:off x="669600" y="5801040"/>
            <a:ext cx="8470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53"/>
          <p:cNvSpPr/>
          <p:nvPr/>
        </p:nvSpPr>
        <p:spPr>
          <a:xfrm>
            <a:off x="808200" y="5920560"/>
            <a:ext cx="56952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6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37" name="Shape 54"/>
          <p:cNvSpPr/>
          <p:nvPr/>
        </p:nvSpPr>
        <p:spPr>
          <a:xfrm>
            <a:off x="1516680" y="5801040"/>
            <a:ext cx="372852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55"/>
          <p:cNvSpPr/>
          <p:nvPr/>
        </p:nvSpPr>
        <p:spPr>
          <a:xfrm>
            <a:off x="1693800" y="5920560"/>
            <a:ext cx="348660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No Privilege Escalation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39" name="Shape 56"/>
          <p:cNvSpPr/>
          <p:nvPr/>
        </p:nvSpPr>
        <p:spPr>
          <a:xfrm>
            <a:off x="5245560" y="5801040"/>
            <a:ext cx="728784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57"/>
          <p:cNvSpPr/>
          <p:nvPr/>
        </p:nvSpPr>
        <p:spPr>
          <a:xfrm>
            <a:off x="5422680" y="5920560"/>
            <a:ext cx="715248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71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allowPrivilegeEscalation: false </a:t>
            </a: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+ full hardening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41" name="Shape 58"/>
          <p:cNvSpPr/>
          <p:nvPr/>
        </p:nvSpPr>
        <p:spPr>
          <a:xfrm>
            <a:off x="12533760" y="5801040"/>
            <a:ext cx="5084280" cy="5878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59"/>
          <p:cNvSpPr/>
          <p:nvPr/>
        </p:nvSpPr>
        <p:spPr>
          <a:xfrm>
            <a:off x="12710520" y="5920560"/>
            <a:ext cx="48830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Tests noNewPrivileges mapping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43" name="Shape 60"/>
          <p:cNvSpPr/>
          <p:nvPr/>
        </p:nvSpPr>
        <p:spPr>
          <a:xfrm>
            <a:off x="669600" y="6388920"/>
            <a:ext cx="84708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61"/>
          <p:cNvSpPr/>
          <p:nvPr/>
        </p:nvSpPr>
        <p:spPr>
          <a:xfrm>
            <a:off x="808200" y="6508800"/>
            <a:ext cx="5695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7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45" name="Shape 62"/>
          <p:cNvSpPr/>
          <p:nvPr/>
        </p:nvSpPr>
        <p:spPr>
          <a:xfrm>
            <a:off x="1516680" y="6388920"/>
            <a:ext cx="372852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63"/>
          <p:cNvSpPr/>
          <p:nvPr/>
        </p:nvSpPr>
        <p:spPr>
          <a:xfrm>
            <a:off x="1693800" y="6508800"/>
            <a:ext cx="34866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Host Namespaces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47" name="Shape 64"/>
          <p:cNvSpPr/>
          <p:nvPr/>
        </p:nvSpPr>
        <p:spPr>
          <a:xfrm>
            <a:off x="5245560" y="6388920"/>
            <a:ext cx="728784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65"/>
          <p:cNvSpPr/>
          <p:nvPr/>
        </p:nvSpPr>
        <p:spPr>
          <a:xfrm>
            <a:off x="5422680" y="6508800"/>
            <a:ext cx="7152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hostPID + hostNetwork + hostIPC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49" name="Shape 66"/>
          <p:cNvSpPr/>
          <p:nvPr/>
        </p:nvSpPr>
        <p:spPr>
          <a:xfrm>
            <a:off x="12533760" y="6388920"/>
            <a:ext cx="5084280" cy="5803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67"/>
          <p:cNvSpPr/>
          <p:nvPr/>
        </p:nvSpPr>
        <p:spPr>
          <a:xfrm>
            <a:off x="12710520" y="6508800"/>
            <a:ext cx="4883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1f1f1f"/>
                </a:solidFill>
                <a:latin typeface="Arial"/>
                <a:ea typeface="Arial"/>
              </a:rPr>
              <a:t>Tests namespace mode translation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51" name="Shape 68"/>
          <p:cNvSpPr/>
          <p:nvPr/>
        </p:nvSpPr>
        <p:spPr>
          <a:xfrm>
            <a:off x="666720" y="7143840"/>
            <a:ext cx="16954200" cy="2628360"/>
          </a:xfrm>
          <a:prstGeom prst="rect">
            <a:avLst/>
          </a:prstGeom>
          <a:solidFill>
            <a:srgbClr val="fff2cc"/>
          </a:solidFill>
          <a:ln w="5443">
            <a:solidFill>
              <a:srgbClr val="dbc3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69"/>
          <p:cNvSpPr/>
          <p:nvPr/>
        </p:nvSpPr>
        <p:spPr>
          <a:xfrm>
            <a:off x="900720" y="7583760"/>
            <a:ext cx="169804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Controlled Experiment — Pod 3 vs. Pod 4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53" name="Text 70"/>
          <p:cNvSpPr/>
          <p:nvPr/>
        </p:nvSpPr>
        <p:spPr>
          <a:xfrm>
            <a:off x="900720" y="8158680"/>
            <a:ext cx="1698048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Both pods declare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privileged: true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and end up with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identical runtime state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all 41 capabilities, no seccomp, no masked paths. The only variable that differs is the seccomp declaration in Pod 3's spec.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If the tool is correct: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Pod 3 → 1 CRITICAL · Pod 4 → 0 CRITICAL. That asymmetry proves specificity.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354" name="Text 71"/>
          <p:cNvSpPr/>
          <p:nvPr/>
        </p:nvSpPr>
        <p:spPr>
          <a:xfrm>
            <a:off x="900720" y="9079560"/>
            <a:ext cx="169804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Independent confirmation: </a:t>
            </a:r>
            <a:r>
              <a:rPr b="0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the same scenario was tested against four real Kubernetes control-plane components — </a:t>
            </a:r>
            <a:r>
              <a:rPr b="0" i="1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etcd, kube-apiserver, kube-controller-manager, kube-scheduler</a:t>
            </a:r>
            <a:r>
              <a:rPr b="0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.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55" name="Shape 72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73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7" name="Text 74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8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Implementation: Python 3.12 · 9 Modules · 2 Runtime Adapters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4 · Implementation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"/>
          <p:cNvSpPr/>
          <p:nvPr/>
        </p:nvSpPr>
        <p:spPr>
          <a:xfrm>
            <a:off x="666720" y="1504800"/>
            <a:ext cx="174628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Module Organization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666720" y="2187000"/>
            <a:ext cx="5511240" cy="31042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5"/>
          <p:cNvSpPr/>
          <p:nvPr/>
        </p:nvSpPr>
        <p:spPr>
          <a:xfrm>
            <a:off x="900720" y="2382840"/>
            <a:ext cx="5194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Data Extraction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1148400" y="3030120"/>
            <a:ext cx="225612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7"/>
          <p:cNvSpPr/>
          <p:nvPr/>
        </p:nvSpPr>
        <p:spPr>
          <a:xfrm>
            <a:off x="1220400" y="3045240"/>
            <a:ext cx="21880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pod_scanner.py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1148400" y="3551040"/>
            <a:ext cx="270864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9"/>
          <p:cNvSpPr/>
          <p:nvPr/>
        </p:nvSpPr>
        <p:spPr>
          <a:xfrm>
            <a:off x="1220400" y="3565800"/>
            <a:ext cx="2645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spec_extractor.py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1148400" y="4071600"/>
            <a:ext cx="316116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11"/>
          <p:cNvSpPr/>
          <p:nvPr/>
        </p:nvSpPr>
        <p:spPr>
          <a:xfrm>
            <a:off x="1220400" y="4086720"/>
            <a:ext cx="31118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runtime_inspector.py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900720" y="4520160"/>
            <a:ext cx="5194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Calls kubectl, parses pod JSON, abstracts the container-runtime backend.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>
            <a:off x="6388200" y="2187000"/>
            <a:ext cx="5511600" cy="31042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14"/>
          <p:cNvSpPr/>
          <p:nvPr/>
        </p:nvSpPr>
        <p:spPr>
          <a:xfrm>
            <a:off x="6622200" y="238284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Analysis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6869880" y="3030120"/>
            <a:ext cx="255780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16"/>
          <p:cNvSpPr/>
          <p:nvPr/>
        </p:nvSpPr>
        <p:spPr>
          <a:xfrm>
            <a:off x="6941880" y="3045240"/>
            <a:ext cx="249012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policy_engine.py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6869880" y="3551040"/>
            <a:ext cx="210492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8"/>
          <p:cNvSpPr/>
          <p:nvPr/>
        </p:nvSpPr>
        <p:spPr>
          <a:xfrm>
            <a:off x="6941880" y="3565800"/>
            <a:ext cx="20368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normalizer.py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77" name="Shape 19"/>
          <p:cNvSpPr/>
          <p:nvPr/>
        </p:nvSpPr>
        <p:spPr>
          <a:xfrm>
            <a:off x="6869880" y="4071600"/>
            <a:ext cx="270864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20"/>
          <p:cNvSpPr/>
          <p:nvPr/>
        </p:nvSpPr>
        <p:spPr>
          <a:xfrm>
            <a:off x="6941880" y="4086720"/>
            <a:ext cx="2645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drift_detector.py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79" name="Text 21"/>
          <p:cNvSpPr/>
          <p:nvPr/>
        </p:nvSpPr>
        <p:spPr>
          <a:xfrm>
            <a:off x="6622200" y="45201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Layer 1 policy checks, capability normalization, Layer 2 field-by-field comparisons.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80" name="Shape 22"/>
          <p:cNvSpPr/>
          <p:nvPr/>
        </p:nvSpPr>
        <p:spPr>
          <a:xfrm>
            <a:off x="12109320" y="2187000"/>
            <a:ext cx="5511600" cy="31042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23"/>
          <p:cNvSpPr/>
          <p:nvPr/>
        </p:nvSpPr>
        <p:spPr>
          <a:xfrm>
            <a:off x="12343320" y="238284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Output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82" name="Shape 24"/>
          <p:cNvSpPr/>
          <p:nvPr/>
        </p:nvSpPr>
        <p:spPr>
          <a:xfrm>
            <a:off x="12591000" y="3030120"/>
            <a:ext cx="255780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Text 25"/>
          <p:cNvSpPr/>
          <p:nvPr/>
        </p:nvSpPr>
        <p:spPr>
          <a:xfrm>
            <a:off x="12663360" y="3045240"/>
            <a:ext cx="249012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alert_manager.py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12591000" y="3551040"/>
            <a:ext cx="119988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27"/>
          <p:cNvSpPr/>
          <p:nvPr/>
        </p:nvSpPr>
        <p:spPr>
          <a:xfrm>
            <a:off x="12663360" y="3565800"/>
            <a:ext cx="11318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main.py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86" name="Shape 28"/>
          <p:cNvSpPr/>
          <p:nvPr/>
        </p:nvSpPr>
        <p:spPr>
          <a:xfrm>
            <a:off x="12591000" y="4071600"/>
            <a:ext cx="3010320" cy="312480"/>
          </a:xfrm>
          <a:prstGeom prst="rect">
            <a:avLst/>
          </a:prstGeom>
          <a:solidFill>
            <a:srgbClr val="f2f2f2"/>
          </a:solidFill>
          <a:ln w="5443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29"/>
          <p:cNvSpPr/>
          <p:nvPr/>
        </p:nvSpPr>
        <p:spPr>
          <a:xfrm>
            <a:off x="12663360" y="4086720"/>
            <a:ext cx="295632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64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979" spc="-1" strike="noStrike">
                <a:solidFill>
                  <a:srgbClr val="1f1f1f"/>
                </a:solidFill>
                <a:latin typeface="Courier New"/>
                <a:ea typeface="Courier New"/>
              </a:rPr>
              <a:t>dashboard/server.py</a:t>
            </a:r>
            <a:endParaRPr b="0" lang="en-US" sz="1979" spc="-1" strike="noStrike">
              <a:latin typeface="Arial"/>
            </a:endParaRPr>
          </a:p>
        </p:txBody>
      </p:sp>
      <p:sp>
        <p:nvSpPr>
          <p:cNvPr id="388" name="Text 30"/>
          <p:cNvSpPr/>
          <p:nvPr/>
        </p:nvSpPr>
        <p:spPr>
          <a:xfrm>
            <a:off x="12343320" y="4520160"/>
            <a:ext cx="5194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NDJSON alerts on host volume, scan-loop orchestrator, real-time Chart.js dashboard.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89" name="Text 31"/>
          <p:cNvSpPr/>
          <p:nvPr/>
        </p:nvSpPr>
        <p:spPr>
          <a:xfrm>
            <a:off x="666720" y="5501160"/>
            <a:ext cx="174628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Runtime Adapters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390" name="Shape 32"/>
          <p:cNvSpPr/>
          <p:nvPr/>
        </p:nvSpPr>
        <p:spPr>
          <a:xfrm>
            <a:off x="666720" y="6183000"/>
            <a:ext cx="8362440" cy="27244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33"/>
          <p:cNvSpPr/>
          <p:nvPr/>
        </p:nvSpPr>
        <p:spPr>
          <a:xfrm>
            <a:off x="900720" y="6378840"/>
            <a:ext cx="8131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Docker Adapter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92" name="Text 34"/>
          <p:cNvSpPr/>
          <p:nvPr/>
        </p:nvSpPr>
        <p:spPr>
          <a:xfrm>
            <a:off x="900720" y="6954120"/>
            <a:ext cx="81313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Calls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inspect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and parses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HostConfig.SecurityOpt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CapAdd/Drop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Privileged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ReadonlyRootfs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PidMode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NetworkMode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IpcMode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,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Config.User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3" name="Shape 35"/>
          <p:cNvSpPr/>
          <p:nvPr/>
        </p:nvSpPr>
        <p:spPr>
          <a:xfrm>
            <a:off x="9258480" y="6183000"/>
            <a:ext cx="8362440" cy="27244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36"/>
          <p:cNvSpPr/>
          <p:nvPr/>
        </p:nvSpPr>
        <p:spPr>
          <a:xfrm>
            <a:off x="9492480" y="6378840"/>
            <a:ext cx="8131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containerd Adapter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95" name="Text 37"/>
          <p:cNvSpPr/>
          <p:nvPr/>
        </p:nvSpPr>
        <p:spPr>
          <a:xfrm>
            <a:off x="9492480" y="6954120"/>
            <a:ext cx="8131320" cy="5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Calls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crictl inspect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and reads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info.runtimeSpec 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(full OCI spec) directly — full seccomp BPF rule set from </a:t>
            </a:r>
            <a:r>
              <a:rPr b="0" lang="en-US" sz="132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linux.seccomp</a:t>
            </a: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. </a:t>
            </a:r>
            <a:r>
              <a:rPr b="1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Eliminates the observability gap.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6" name="Shape 38"/>
          <p:cNvSpPr/>
          <p:nvPr/>
        </p:nvSpPr>
        <p:spPr>
          <a:xfrm>
            <a:off x="666720" y="9079200"/>
            <a:ext cx="16954200" cy="69300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39"/>
          <p:cNvSpPr/>
          <p:nvPr/>
        </p:nvSpPr>
        <p:spPr>
          <a:xfrm>
            <a:off x="653400" y="9275040"/>
            <a:ext cx="1698048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44 unit tests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· runs in </a:t>
            </a:r>
            <a:r>
              <a:rPr b="1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0.2 s </a:t>
            </a: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· no cluster needed | One-command deploy: </a:t>
            </a:r>
            <a:r>
              <a:rPr b="0" lang="en-US" sz="145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kubectl apply -f deployments/all-in-one.yaml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98" name="Shape 40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41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00" name="Text 42"/>
          <p:cNvSpPr/>
          <p:nvPr/>
        </p:nvSpPr>
        <p:spPr>
          <a:xfrm>
            <a:off x="17163720" y="9887040"/>
            <a:ext cx="53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9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Layer 1 Results: Specification-Level Violations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5 · Evaluation — Layer 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3"/>
          <p:cNvSpPr/>
          <p:nvPr/>
        </p:nvSpPr>
        <p:spPr>
          <a:xfrm>
            <a:off x="666720" y="1504800"/>
            <a:ext cx="174628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Eight policy checks across seven test pods — baseline correctness confirmed before interpreting Layer 2 findings.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05" name="Shape 4"/>
          <p:cNvSpPr/>
          <p:nvPr/>
        </p:nvSpPr>
        <p:spPr>
          <a:xfrm>
            <a:off x="669600" y="1934280"/>
            <a:ext cx="74196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5"/>
          <p:cNvSpPr/>
          <p:nvPr/>
        </p:nvSpPr>
        <p:spPr>
          <a:xfrm>
            <a:off x="846360" y="2054160"/>
            <a:ext cx="4644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7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Pod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07" name="Shape 6"/>
          <p:cNvSpPr/>
          <p:nvPr/>
        </p:nvSpPr>
        <p:spPr>
          <a:xfrm>
            <a:off x="1411920" y="1934280"/>
            <a:ext cx="594324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7"/>
          <p:cNvSpPr/>
          <p:nvPr/>
        </p:nvSpPr>
        <p:spPr>
          <a:xfrm>
            <a:off x="1588680" y="2054160"/>
            <a:ext cx="5767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Test Pod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09" name="Shape 8"/>
          <p:cNvSpPr/>
          <p:nvPr/>
        </p:nvSpPr>
        <p:spPr>
          <a:xfrm>
            <a:off x="7355520" y="1934280"/>
            <a:ext cx="146736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9"/>
          <p:cNvSpPr/>
          <p:nvPr/>
        </p:nvSpPr>
        <p:spPr>
          <a:xfrm>
            <a:off x="7532280" y="2054160"/>
            <a:ext cx="1189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7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Violations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11" name="Shape 10"/>
          <p:cNvSpPr/>
          <p:nvPr/>
        </p:nvSpPr>
        <p:spPr>
          <a:xfrm>
            <a:off x="669600" y="251496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11"/>
          <p:cNvSpPr/>
          <p:nvPr/>
        </p:nvSpPr>
        <p:spPr>
          <a:xfrm>
            <a:off x="808200" y="263484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3" name="Shape 12"/>
          <p:cNvSpPr/>
          <p:nvPr/>
        </p:nvSpPr>
        <p:spPr>
          <a:xfrm>
            <a:off x="1411920" y="251496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13"/>
          <p:cNvSpPr/>
          <p:nvPr/>
        </p:nvSpPr>
        <p:spPr>
          <a:xfrm>
            <a:off x="1588680" y="263484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Fully Hardened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5" name="Shape 14"/>
          <p:cNvSpPr/>
          <p:nvPr/>
        </p:nvSpPr>
        <p:spPr>
          <a:xfrm>
            <a:off x="7355520" y="251496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Shape 15"/>
          <p:cNvSpPr/>
          <p:nvPr/>
        </p:nvSpPr>
        <p:spPr>
          <a:xfrm>
            <a:off x="7894080" y="263196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Text 16"/>
          <p:cNvSpPr/>
          <p:nvPr/>
        </p:nvSpPr>
        <p:spPr>
          <a:xfrm>
            <a:off x="7994880" y="267552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0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18" name="Shape 17"/>
          <p:cNvSpPr/>
          <p:nvPr/>
        </p:nvSpPr>
        <p:spPr>
          <a:xfrm>
            <a:off x="669600" y="343836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18"/>
          <p:cNvSpPr/>
          <p:nvPr/>
        </p:nvSpPr>
        <p:spPr>
          <a:xfrm>
            <a:off x="808200" y="355788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0" name="Shape 19"/>
          <p:cNvSpPr/>
          <p:nvPr/>
        </p:nvSpPr>
        <p:spPr>
          <a:xfrm>
            <a:off x="1411920" y="343836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20"/>
          <p:cNvSpPr/>
          <p:nvPr/>
        </p:nvSpPr>
        <p:spPr>
          <a:xfrm>
            <a:off x="1588680" y="355788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No Security Context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2" name="Shape 21"/>
          <p:cNvSpPr/>
          <p:nvPr/>
        </p:nvSpPr>
        <p:spPr>
          <a:xfrm>
            <a:off x="7355520" y="343836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22"/>
          <p:cNvSpPr/>
          <p:nvPr/>
        </p:nvSpPr>
        <p:spPr>
          <a:xfrm>
            <a:off x="7894080" y="355536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7eed0"/>
          </a:solidFill>
          <a:ln w="5443">
            <a:solidFill>
              <a:srgbClr val="e1cc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23"/>
          <p:cNvSpPr/>
          <p:nvPr/>
        </p:nvSpPr>
        <p:spPr>
          <a:xfrm>
            <a:off x="7994880" y="359892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b8860b"/>
                </a:solidFill>
                <a:latin typeface="Arial"/>
                <a:ea typeface="Arial"/>
              </a:rPr>
              <a:t>2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25" name="Shape 24"/>
          <p:cNvSpPr/>
          <p:nvPr/>
        </p:nvSpPr>
        <p:spPr>
          <a:xfrm>
            <a:off x="669600" y="436140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Text 25"/>
          <p:cNvSpPr/>
          <p:nvPr/>
        </p:nvSpPr>
        <p:spPr>
          <a:xfrm>
            <a:off x="808200" y="448092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7" name="Shape 26"/>
          <p:cNvSpPr/>
          <p:nvPr/>
        </p:nvSpPr>
        <p:spPr>
          <a:xfrm>
            <a:off x="1411920" y="436140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27"/>
          <p:cNvSpPr/>
          <p:nvPr/>
        </p:nvSpPr>
        <p:spPr>
          <a:xfrm>
            <a:off x="1588680" y="448092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Privileged + Seccomp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9" name="Shape 28"/>
          <p:cNvSpPr/>
          <p:nvPr/>
        </p:nvSpPr>
        <p:spPr>
          <a:xfrm>
            <a:off x="7355520" y="436140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Shape 29"/>
          <p:cNvSpPr/>
          <p:nvPr/>
        </p:nvSpPr>
        <p:spPr>
          <a:xfrm>
            <a:off x="7894080" y="447840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7eed0"/>
          </a:solidFill>
          <a:ln w="5443">
            <a:solidFill>
              <a:srgbClr val="e1cc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30"/>
          <p:cNvSpPr/>
          <p:nvPr/>
        </p:nvSpPr>
        <p:spPr>
          <a:xfrm>
            <a:off x="7994880" y="452196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b8860b"/>
                </a:solidFill>
                <a:latin typeface="Arial"/>
                <a:ea typeface="Arial"/>
              </a:rPr>
              <a:t>2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32" name="Shape 31"/>
          <p:cNvSpPr/>
          <p:nvPr/>
        </p:nvSpPr>
        <p:spPr>
          <a:xfrm>
            <a:off x="669600" y="528444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32"/>
          <p:cNvSpPr/>
          <p:nvPr/>
        </p:nvSpPr>
        <p:spPr>
          <a:xfrm>
            <a:off x="808200" y="540432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4" name="Shape 33"/>
          <p:cNvSpPr/>
          <p:nvPr/>
        </p:nvSpPr>
        <p:spPr>
          <a:xfrm>
            <a:off x="1411920" y="528444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34"/>
          <p:cNvSpPr/>
          <p:nvPr/>
        </p:nvSpPr>
        <p:spPr>
          <a:xfrm>
            <a:off x="1588680" y="540432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Privileged, No Seccomp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6" name="Shape 35"/>
          <p:cNvSpPr/>
          <p:nvPr/>
        </p:nvSpPr>
        <p:spPr>
          <a:xfrm>
            <a:off x="7355520" y="528444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36"/>
          <p:cNvSpPr/>
          <p:nvPr/>
        </p:nvSpPr>
        <p:spPr>
          <a:xfrm>
            <a:off x="7894080" y="540144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37"/>
          <p:cNvSpPr/>
          <p:nvPr/>
        </p:nvSpPr>
        <p:spPr>
          <a:xfrm>
            <a:off x="7994880" y="544500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4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39" name="Shape 38"/>
          <p:cNvSpPr/>
          <p:nvPr/>
        </p:nvSpPr>
        <p:spPr>
          <a:xfrm>
            <a:off x="669600" y="620784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39"/>
          <p:cNvSpPr/>
          <p:nvPr/>
        </p:nvSpPr>
        <p:spPr>
          <a:xfrm>
            <a:off x="808200" y="632736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41" name="Shape 40"/>
          <p:cNvSpPr/>
          <p:nvPr/>
        </p:nvSpPr>
        <p:spPr>
          <a:xfrm>
            <a:off x="1411920" y="620784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41"/>
          <p:cNvSpPr/>
          <p:nvPr/>
        </p:nvSpPr>
        <p:spPr>
          <a:xfrm>
            <a:off x="1588680" y="632736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Partial Security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43" name="Shape 42"/>
          <p:cNvSpPr/>
          <p:nvPr/>
        </p:nvSpPr>
        <p:spPr>
          <a:xfrm>
            <a:off x="7355520" y="620784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Shape 43"/>
          <p:cNvSpPr/>
          <p:nvPr/>
        </p:nvSpPr>
        <p:spPr>
          <a:xfrm>
            <a:off x="7894080" y="632484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7eed0"/>
          </a:solidFill>
          <a:ln w="5443">
            <a:solidFill>
              <a:srgbClr val="e1cc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44"/>
          <p:cNvSpPr/>
          <p:nvPr/>
        </p:nvSpPr>
        <p:spPr>
          <a:xfrm>
            <a:off x="7994880" y="636840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b8860b"/>
                </a:solidFill>
                <a:latin typeface="Arial"/>
                <a:ea typeface="Arial"/>
              </a:rPr>
              <a:t>1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46" name="Shape 45"/>
          <p:cNvSpPr/>
          <p:nvPr/>
        </p:nvSpPr>
        <p:spPr>
          <a:xfrm>
            <a:off x="669600" y="7130880"/>
            <a:ext cx="7419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Text 46"/>
          <p:cNvSpPr/>
          <p:nvPr/>
        </p:nvSpPr>
        <p:spPr>
          <a:xfrm>
            <a:off x="808200" y="7250400"/>
            <a:ext cx="46440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6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48" name="Shape 47"/>
          <p:cNvSpPr/>
          <p:nvPr/>
        </p:nvSpPr>
        <p:spPr>
          <a:xfrm>
            <a:off x="1411920" y="7130880"/>
            <a:ext cx="594324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48"/>
          <p:cNvSpPr/>
          <p:nvPr/>
        </p:nvSpPr>
        <p:spPr>
          <a:xfrm>
            <a:off x="1588680" y="7250400"/>
            <a:ext cx="57679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No Privilege Escalation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50" name="Shape 49"/>
          <p:cNvSpPr/>
          <p:nvPr/>
        </p:nvSpPr>
        <p:spPr>
          <a:xfrm>
            <a:off x="7355520" y="7130880"/>
            <a:ext cx="1467360" cy="92268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Shape 50"/>
          <p:cNvSpPr/>
          <p:nvPr/>
        </p:nvSpPr>
        <p:spPr>
          <a:xfrm>
            <a:off x="7894080" y="724788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 51"/>
          <p:cNvSpPr/>
          <p:nvPr/>
        </p:nvSpPr>
        <p:spPr>
          <a:xfrm>
            <a:off x="7994880" y="729144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0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53" name="Shape 52"/>
          <p:cNvSpPr/>
          <p:nvPr/>
        </p:nvSpPr>
        <p:spPr>
          <a:xfrm>
            <a:off x="669600" y="8053920"/>
            <a:ext cx="741960" cy="92304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53"/>
          <p:cNvSpPr/>
          <p:nvPr/>
        </p:nvSpPr>
        <p:spPr>
          <a:xfrm>
            <a:off x="808200" y="8173800"/>
            <a:ext cx="4644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7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55" name="Shape 54"/>
          <p:cNvSpPr/>
          <p:nvPr/>
        </p:nvSpPr>
        <p:spPr>
          <a:xfrm>
            <a:off x="1411920" y="8053920"/>
            <a:ext cx="5943240" cy="92304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Text 55"/>
          <p:cNvSpPr/>
          <p:nvPr/>
        </p:nvSpPr>
        <p:spPr>
          <a:xfrm>
            <a:off x="1588680" y="8173800"/>
            <a:ext cx="57679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Host Namespaces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57" name="Shape 56"/>
          <p:cNvSpPr/>
          <p:nvPr/>
        </p:nvSpPr>
        <p:spPr>
          <a:xfrm>
            <a:off x="7355520" y="8053920"/>
            <a:ext cx="1467360" cy="92304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57"/>
          <p:cNvSpPr/>
          <p:nvPr/>
        </p:nvSpPr>
        <p:spPr>
          <a:xfrm>
            <a:off x="7894080" y="817092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58"/>
          <p:cNvSpPr/>
          <p:nvPr/>
        </p:nvSpPr>
        <p:spPr>
          <a:xfrm>
            <a:off x="7994880" y="821448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6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60" name="Shape 59"/>
          <p:cNvSpPr/>
          <p:nvPr/>
        </p:nvSpPr>
        <p:spPr>
          <a:xfrm>
            <a:off x="9054360" y="1931760"/>
            <a:ext cx="8566560" cy="704808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60"/>
          <p:cNvSpPr/>
          <p:nvPr/>
        </p:nvSpPr>
        <p:spPr>
          <a:xfrm>
            <a:off x="9166680" y="2127600"/>
            <a:ext cx="83415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Unique Spec Violations per Pod </a:t>
            </a:r>
            <a:r>
              <a:rPr b="0" lang="en-US" sz="1050" spc="-1" strike="noStrike">
                <a:solidFill>
                  <a:srgbClr val="595959"/>
                </a:solidFill>
                <a:latin typeface="Arial"/>
                <a:ea typeface="Arial"/>
              </a:rPr>
              <a:t>(Table 5.1)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462" name="Image 0" descr="preencoded.png"/>
          <p:cNvPicPr/>
          <p:nvPr/>
        </p:nvPicPr>
        <p:blipFill>
          <a:blip r:embed="rId1"/>
          <a:stretch/>
        </p:blipFill>
        <p:spPr>
          <a:xfrm>
            <a:off x="9288360" y="2702880"/>
            <a:ext cx="8096040" cy="5333760"/>
          </a:xfrm>
          <a:prstGeom prst="rect">
            <a:avLst/>
          </a:prstGeom>
          <a:ln w="0">
            <a:noFill/>
          </a:ln>
        </p:spPr>
      </p:pic>
      <p:sp>
        <p:nvSpPr>
          <p:cNvPr id="463" name="Text 61"/>
          <p:cNvSpPr/>
          <p:nvPr/>
        </p:nvSpPr>
        <p:spPr>
          <a:xfrm>
            <a:off x="9166680" y="8112960"/>
            <a:ext cx="83415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280" spc="-1" strike="noStrike">
                <a:solidFill>
                  <a:srgbClr val="595959"/>
                </a:solidFill>
                <a:latin typeface="Arial"/>
                <a:ea typeface="Arial"/>
              </a:rPr>
              <a:t>Green = compliant · Gold = warning · Red = critical. Pod 7 highest (6), Pods 1 &amp; 6 fully compliant.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64" name="Shape 62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63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66" name="Text 64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10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Finding 1: Docker Silently Strips Seccomp </a:t>
            </a:r>
            <a:r>
              <a:rPr b="1" lang="en-US" sz="4650" spc="-1" strike="noStrike">
                <a:solidFill>
                  <a:srgbClr val="a0203b"/>
                </a:solidFill>
                <a:latin typeface="Arial"/>
                <a:ea typeface="Arial"/>
              </a:rPr>
              <a:t>(TRUE POSITIVE)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468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5 · Central Result — Pod 3 vs. Pod 4 Controlled Comparison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469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Shape 3"/>
          <p:cNvSpPr/>
          <p:nvPr/>
        </p:nvSpPr>
        <p:spPr>
          <a:xfrm>
            <a:off x="666720" y="1504800"/>
            <a:ext cx="8381520" cy="3611880"/>
          </a:xfrm>
          <a:prstGeom prst="rect">
            <a:avLst/>
          </a:prstGeom>
          <a:solidFill>
            <a:srgbClr val="ffffff"/>
          </a:solidFill>
          <a:ln w="16329">
            <a:solidFill>
              <a:srgbClr val="a020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4"/>
          <p:cNvSpPr/>
          <p:nvPr/>
        </p:nvSpPr>
        <p:spPr>
          <a:xfrm>
            <a:off x="911520" y="1711800"/>
            <a:ext cx="8128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a0203b"/>
                </a:solidFill>
                <a:latin typeface="Arial"/>
                <a:ea typeface="Arial"/>
              </a:rPr>
              <a:t>Pod 3 — privileged: true + seccomp: RuntimeDefault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2" name="Text 5"/>
          <p:cNvSpPr/>
          <p:nvPr/>
        </p:nvSpPr>
        <p:spPr>
          <a:xfrm>
            <a:off x="911520" y="2073600"/>
            <a:ext cx="81284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Kubernetes Spec: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73" name="Shape 6"/>
          <p:cNvSpPr/>
          <p:nvPr/>
        </p:nvSpPr>
        <p:spPr>
          <a:xfrm>
            <a:off x="911520" y="2338560"/>
            <a:ext cx="7891920" cy="1001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7"/>
          <p:cNvSpPr/>
          <p:nvPr/>
        </p:nvSpPr>
        <p:spPr>
          <a:xfrm>
            <a:off x="911520" y="3334680"/>
            <a:ext cx="78919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Shape 8"/>
          <p:cNvSpPr/>
          <p:nvPr/>
        </p:nvSpPr>
        <p:spPr>
          <a:xfrm>
            <a:off x="911520" y="2338560"/>
            <a:ext cx="78919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Shape 9"/>
          <p:cNvSpPr/>
          <p:nvPr/>
        </p:nvSpPr>
        <p:spPr>
          <a:xfrm>
            <a:off x="911520" y="2338560"/>
            <a:ext cx="37800" cy="100116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Shape 10"/>
          <p:cNvSpPr/>
          <p:nvPr/>
        </p:nvSpPr>
        <p:spPr>
          <a:xfrm>
            <a:off x="8798400" y="2338560"/>
            <a:ext cx="9000" cy="10011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11"/>
          <p:cNvSpPr/>
          <p:nvPr/>
        </p:nvSpPr>
        <p:spPr>
          <a:xfrm>
            <a:off x="1140120" y="2496240"/>
            <a:ext cx="77040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2000"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privileged: true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seccompProfile: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type: RuntimeDefault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9" name="Text 12"/>
          <p:cNvSpPr/>
          <p:nvPr/>
        </p:nvSpPr>
        <p:spPr>
          <a:xfrm>
            <a:off x="911520" y="3416040"/>
            <a:ext cx="81284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Container Runtime (what Docker does):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80" name="Shape 13"/>
          <p:cNvSpPr/>
          <p:nvPr/>
        </p:nvSpPr>
        <p:spPr>
          <a:xfrm>
            <a:off x="911520" y="3681000"/>
            <a:ext cx="7891920" cy="7725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14"/>
          <p:cNvSpPr/>
          <p:nvPr/>
        </p:nvSpPr>
        <p:spPr>
          <a:xfrm>
            <a:off x="911520" y="4448520"/>
            <a:ext cx="78919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Shape 15"/>
          <p:cNvSpPr/>
          <p:nvPr/>
        </p:nvSpPr>
        <p:spPr>
          <a:xfrm>
            <a:off x="911520" y="3681000"/>
            <a:ext cx="78919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16"/>
          <p:cNvSpPr/>
          <p:nvPr/>
        </p:nvSpPr>
        <p:spPr>
          <a:xfrm>
            <a:off x="911520" y="3681000"/>
            <a:ext cx="37800" cy="772560"/>
          </a:xfrm>
          <a:prstGeom prst="rect">
            <a:avLst/>
          </a:prstGeom>
          <a:solidFill>
            <a:srgbClr val="a020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Shape 17"/>
          <p:cNvSpPr/>
          <p:nvPr/>
        </p:nvSpPr>
        <p:spPr>
          <a:xfrm>
            <a:off x="8798400" y="3681000"/>
            <a:ext cx="9000" cy="772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18"/>
          <p:cNvSpPr/>
          <p:nvPr/>
        </p:nvSpPr>
        <p:spPr>
          <a:xfrm>
            <a:off x="1140120" y="3838680"/>
            <a:ext cx="77040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capabilities: </a:t>
            </a:r>
            <a:r>
              <a:rPr b="0" lang="en-US" sz="1200" spc="-1" strike="noStrike">
                <a:solidFill>
                  <a:srgbClr val="a0203b"/>
                </a:solidFill>
                <a:latin typeface="Courier New"/>
                <a:ea typeface="Courier New"/>
              </a:rPr>
              <a:t>all 41 granted </a:t>
            </a:r>
            <a:r>
              <a:rPr b="0" lang="en-US" sz="120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seccomp:      </a:t>
            </a:r>
            <a:r>
              <a:rPr b="1" lang="en-US" sz="1200" spc="-1" strike="noStrike">
                <a:solidFill>
                  <a:srgbClr val="a0203b"/>
                </a:solidFill>
                <a:latin typeface="Courier New"/>
                <a:ea typeface="Courier New"/>
              </a:rPr>
              <a:t>STRIPPED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6" name="Text 19"/>
          <p:cNvSpPr/>
          <p:nvPr/>
        </p:nvSpPr>
        <p:spPr>
          <a:xfrm>
            <a:off x="911520" y="4529880"/>
            <a:ext cx="812844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→ </a:t>
            </a:r>
            <a:r>
              <a:rPr b="1" lang="en-US" sz="1650" spc="-1" strike="noStrike">
                <a:solidFill>
                  <a:srgbClr val="a0203b"/>
                </a:solidFill>
                <a:highlight>
                  <a:srgbClr val="f4e1e6"/>
                </a:highlight>
                <a:latin typeface="Arial"/>
                <a:ea typeface="Arial"/>
              </a:rPr>
              <a:t>1 CRITICAL </a:t>
            </a: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+ </a:t>
            </a:r>
            <a:r>
              <a:rPr b="1" lang="en-US" sz="1650" spc="-1" strike="noStrike">
                <a:solidFill>
                  <a:srgbClr val="b8860b"/>
                </a:solidFill>
                <a:highlight>
                  <a:srgbClr val="f7eed0"/>
                </a:highlight>
                <a:latin typeface="Arial"/>
                <a:ea typeface="Arial"/>
              </a:rPr>
              <a:t>27 WARNING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87" name="Shape 20"/>
          <p:cNvSpPr/>
          <p:nvPr/>
        </p:nvSpPr>
        <p:spPr>
          <a:xfrm>
            <a:off x="9239400" y="1504800"/>
            <a:ext cx="8381520" cy="361188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 21"/>
          <p:cNvSpPr/>
          <p:nvPr/>
        </p:nvSpPr>
        <p:spPr>
          <a:xfrm>
            <a:off x="9473400" y="1701000"/>
            <a:ext cx="8151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f3864"/>
                </a:solidFill>
                <a:latin typeface="Arial"/>
                <a:ea typeface="Arial"/>
              </a:rPr>
              <a:t>Pod 4 — privileged: true (no seccomp declared) — CONTROL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89" name="Text 22"/>
          <p:cNvSpPr/>
          <p:nvPr/>
        </p:nvSpPr>
        <p:spPr>
          <a:xfrm>
            <a:off x="9473400" y="2062800"/>
            <a:ext cx="8151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Kubernetes Spec: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90" name="Shape 23"/>
          <p:cNvSpPr/>
          <p:nvPr/>
        </p:nvSpPr>
        <p:spPr>
          <a:xfrm>
            <a:off x="9473400" y="2327760"/>
            <a:ext cx="7913520" cy="7725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Shape 24"/>
          <p:cNvSpPr/>
          <p:nvPr/>
        </p:nvSpPr>
        <p:spPr>
          <a:xfrm>
            <a:off x="9473400" y="3094920"/>
            <a:ext cx="79135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Shape 25"/>
          <p:cNvSpPr/>
          <p:nvPr/>
        </p:nvSpPr>
        <p:spPr>
          <a:xfrm>
            <a:off x="9473400" y="2327760"/>
            <a:ext cx="79135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26"/>
          <p:cNvSpPr/>
          <p:nvPr/>
        </p:nvSpPr>
        <p:spPr>
          <a:xfrm>
            <a:off x="9473400" y="2327760"/>
            <a:ext cx="37800" cy="77256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Shape 27"/>
          <p:cNvSpPr/>
          <p:nvPr/>
        </p:nvSpPr>
        <p:spPr>
          <a:xfrm>
            <a:off x="17381880" y="2327760"/>
            <a:ext cx="9000" cy="772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Text 28"/>
          <p:cNvSpPr/>
          <p:nvPr/>
        </p:nvSpPr>
        <p:spPr>
          <a:xfrm>
            <a:off x="9702000" y="2485440"/>
            <a:ext cx="7726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privileged: true </a:t>
            </a:r>
            <a:r>
              <a:rPr b="0" lang="en-US" sz="1200" spc="-1" strike="noStrike">
                <a:solidFill>
                  <a:srgbClr val="595959"/>
                </a:solidFill>
                <a:latin typeface="Courier New"/>
                <a:ea typeface="Courier New"/>
              </a:rPr>
              <a:t># no seccompProfile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6" name="Text 29"/>
          <p:cNvSpPr/>
          <p:nvPr/>
        </p:nvSpPr>
        <p:spPr>
          <a:xfrm>
            <a:off x="9473400" y="3176640"/>
            <a:ext cx="8151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Container Runtime (what Docker does):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97" name="Shape 30"/>
          <p:cNvSpPr/>
          <p:nvPr/>
        </p:nvSpPr>
        <p:spPr>
          <a:xfrm>
            <a:off x="9473400" y="3441240"/>
            <a:ext cx="7913520" cy="7725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Shape 31"/>
          <p:cNvSpPr/>
          <p:nvPr/>
        </p:nvSpPr>
        <p:spPr>
          <a:xfrm>
            <a:off x="9473400" y="4208760"/>
            <a:ext cx="79135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Shape 32"/>
          <p:cNvSpPr/>
          <p:nvPr/>
        </p:nvSpPr>
        <p:spPr>
          <a:xfrm>
            <a:off x="9473400" y="3441240"/>
            <a:ext cx="791352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33"/>
          <p:cNvSpPr/>
          <p:nvPr/>
        </p:nvSpPr>
        <p:spPr>
          <a:xfrm>
            <a:off x="9473400" y="3441240"/>
            <a:ext cx="37800" cy="77256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Shape 34"/>
          <p:cNvSpPr/>
          <p:nvPr/>
        </p:nvSpPr>
        <p:spPr>
          <a:xfrm>
            <a:off x="17381880" y="3441240"/>
            <a:ext cx="9000" cy="772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Text 35"/>
          <p:cNvSpPr/>
          <p:nvPr/>
        </p:nvSpPr>
        <p:spPr>
          <a:xfrm>
            <a:off x="9702000" y="3599280"/>
            <a:ext cx="7726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1000"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capabilities: all 41 granted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Courier New"/>
                <a:ea typeface="Courier New"/>
              </a:rPr>
              <a:t>seccomp:      stripped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3" name="Text 36"/>
          <p:cNvSpPr/>
          <p:nvPr/>
        </p:nvSpPr>
        <p:spPr>
          <a:xfrm>
            <a:off x="9473400" y="4290480"/>
            <a:ext cx="8151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→ </a:t>
            </a:r>
            <a:r>
              <a:rPr b="1" lang="en-US" sz="1650" spc="-1" strike="noStrike">
                <a:solidFill>
                  <a:srgbClr val="2e7d32"/>
                </a:solidFill>
                <a:highlight>
                  <a:srgbClr val="ddebdc"/>
                </a:highlight>
                <a:latin typeface="Arial"/>
                <a:ea typeface="Arial"/>
              </a:rPr>
              <a:t>0 seccomp findings </a:t>
            </a: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+ </a:t>
            </a:r>
            <a:r>
              <a:rPr b="1" lang="en-US" sz="1650" spc="-1" strike="noStrike">
                <a:solidFill>
                  <a:srgbClr val="b8860b"/>
                </a:solidFill>
                <a:highlight>
                  <a:srgbClr val="f7eed0"/>
                </a:highlight>
                <a:latin typeface="Arial"/>
                <a:ea typeface="Arial"/>
              </a:rPr>
              <a:t>27 WARNING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04" name="Shape 37"/>
          <p:cNvSpPr/>
          <p:nvPr/>
        </p:nvSpPr>
        <p:spPr>
          <a:xfrm>
            <a:off x="666720" y="5231520"/>
            <a:ext cx="16954200" cy="441000"/>
          </a:xfrm>
          <a:prstGeom prst="rect">
            <a:avLst/>
          </a:prstGeom>
          <a:solidFill>
            <a:srgbClr val="fff2cc"/>
          </a:solidFill>
          <a:ln w="5443">
            <a:solidFill>
              <a:srgbClr val="dbc3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38"/>
          <p:cNvSpPr/>
          <p:nvPr/>
        </p:nvSpPr>
        <p:spPr>
          <a:xfrm>
            <a:off x="824760" y="5332320"/>
            <a:ext cx="171374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Both pods have </a:t>
            </a:r>
            <a:r>
              <a:rPr b="1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byte-identical runtime state</a:t>
            </a: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. The only difference is one line of YAML — </a:t>
            </a:r>
            <a:r>
              <a:rPr b="1" lang="en-US" sz="1350" spc="-1" strike="noStrike">
                <a:solidFill>
                  <a:srgbClr val="a0203b"/>
                </a:solidFill>
                <a:latin typeface="Arial"/>
                <a:ea typeface="Arial"/>
              </a:rPr>
              <a:t>1 CRITICAL </a:t>
            </a: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for Pod 3 vs. </a:t>
            </a:r>
            <a:r>
              <a:rPr b="1" lang="en-US" sz="1350" spc="-1" strike="noStrike">
                <a:solidFill>
                  <a:srgbClr val="2e7d32"/>
                </a:solidFill>
                <a:latin typeface="Arial"/>
                <a:ea typeface="Arial"/>
              </a:rPr>
              <a:t>0 </a:t>
            </a:r>
            <a:r>
              <a:rPr b="0" lang="en-US" sz="1350" spc="-1" strike="noStrike">
                <a:solidFill>
                  <a:srgbClr val="1f1f1f"/>
                </a:solidFill>
                <a:latin typeface="Arial"/>
                <a:ea typeface="Arial"/>
              </a:rPr>
              <a:t>for Pod 4. Controlled proof of the enforcement gap.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06" name="Text 39"/>
          <p:cNvSpPr/>
          <p:nvPr/>
        </p:nvSpPr>
        <p:spPr>
          <a:xfrm>
            <a:off x="666720" y="5768280"/>
            <a:ext cx="9074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3864"/>
                </a:solidFill>
                <a:latin typeface="Arial"/>
                <a:ea typeface="Arial"/>
              </a:rPr>
              <a:t>Independent confirmation — Kubernetes control plane (Table 5.3)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7" name="Shape 40"/>
          <p:cNvSpPr/>
          <p:nvPr/>
        </p:nvSpPr>
        <p:spPr>
          <a:xfrm>
            <a:off x="669600" y="6041160"/>
            <a:ext cx="475452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41"/>
          <p:cNvSpPr/>
          <p:nvPr/>
        </p:nvSpPr>
        <p:spPr>
          <a:xfrm>
            <a:off x="846360" y="6161040"/>
            <a:ext cx="4543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System Pod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09" name="Shape 42"/>
          <p:cNvSpPr/>
          <p:nvPr/>
        </p:nvSpPr>
        <p:spPr>
          <a:xfrm>
            <a:off x="5424480" y="6041160"/>
            <a:ext cx="132048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43"/>
          <p:cNvSpPr/>
          <p:nvPr/>
        </p:nvSpPr>
        <p:spPr>
          <a:xfrm>
            <a:off x="5601240" y="6161040"/>
            <a:ext cx="1042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CRIT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11" name="Shape 44"/>
          <p:cNvSpPr/>
          <p:nvPr/>
        </p:nvSpPr>
        <p:spPr>
          <a:xfrm>
            <a:off x="6745320" y="6041160"/>
            <a:ext cx="132048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Text 45"/>
          <p:cNvSpPr/>
          <p:nvPr/>
        </p:nvSpPr>
        <p:spPr>
          <a:xfrm>
            <a:off x="6922080" y="6161040"/>
            <a:ext cx="1042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WARN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13" name="Shape 46"/>
          <p:cNvSpPr/>
          <p:nvPr/>
        </p:nvSpPr>
        <p:spPr>
          <a:xfrm>
            <a:off x="8066160" y="6041160"/>
            <a:ext cx="140868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47"/>
          <p:cNvSpPr/>
          <p:nvPr/>
        </p:nvSpPr>
        <p:spPr>
          <a:xfrm>
            <a:off x="8242920" y="6161040"/>
            <a:ext cx="113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INFO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15" name="Shape 48"/>
          <p:cNvSpPr/>
          <p:nvPr/>
        </p:nvSpPr>
        <p:spPr>
          <a:xfrm>
            <a:off x="669600" y="6621840"/>
            <a:ext cx="47545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Text 49"/>
          <p:cNvSpPr/>
          <p:nvPr/>
        </p:nvSpPr>
        <p:spPr>
          <a:xfrm>
            <a:off x="846360" y="6741720"/>
            <a:ext cx="45435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etcd-minikube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7" name="Shape 50"/>
          <p:cNvSpPr/>
          <p:nvPr/>
        </p:nvSpPr>
        <p:spPr>
          <a:xfrm>
            <a:off x="5424480" y="662184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Shape 51"/>
          <p:cNvSpPr/>
          <p:nvPr/>
        </p:nvSpPr>
        <p:spPr>
          <a:xfrm>
            <a:off x="5889960" y="673920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Text 52"/>
          <p:cNvSpPr/>
          <p:nvPr/>
        </p:nvSpPr>
        <p:spPr>
          <a:xfrm>
            <a:off x="5990400" y="678240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1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20" name="Shape 53"/>
          <p:cNvSpPr/>
          <p:nvPr/>
        </p:nvSpPr>
        <p:spPr>
          <a:xfrm>
            <a:off x="6745320" y="662184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54"/>
          <p:cNvSpPr/>
          <p:nvPr/>
        </p:nvSpPr>
        <p:spPr>
          <a:xfrm>
            <a:off x="6884280" y="6741720"/>
            <a:ext cx="1042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2" name="Shape 55"/>
          <p:cNvSpPr/>
          <p:nvPr/>
        </p:nvSpPr>
        <p:spPr>
          <a:xfrm>
            <a:off x="8066160" y="6621840"/>
            <a:ext cx="14086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Text 56"/>
          <p:cNvSpPr/>
          <p:nvPr/>
        </p:nvSpPr>
        <p:spPr>
          <a:xfrm>
            <a:off x="8204760" y="6741720"/>
            <a:ext cx="11311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4" name="Shape 57"/>
          <p:cNvSpPr/>
          <p:nvPr/>
        </p:nvSpPr>
        <p:spPr>
          <a:xfrm>
            <a:off x="669600" y="7236360"/>
            <a:ext cx="47545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58"/>
          <p:cNvSpPr/>
          <p:nvPr/>
        </p:nvSpPr>
        <p:spPr>
          <a:xfrm>
            <a:off x="846360" y="7356240"/>
            <a:ext cx="45435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kube-apiserver-minikube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6" name="Shape 59"/>
          <p:cNvSpPr/>
          <p:nvPr/>
        </p:nvSpPr>
        <p:spPr>
          <a:xfrm>
            <a:off x="5424480" y="723636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Shape 60"/>
          <p:cNvSpPr/>
          <p:nvPr/>
        </p:nvSpPr>
        <p:spPr>
          <a:xfrm>
            <a:off x="5889960" y="735336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Text 61"/>
          <p:cNvSpPr/>
          <p:nvPr/>
        </p:nvSpPr>
        <p:spPr>
          <a:xfrm>
            <a:off x="5990400" y="739692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1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29" name="Shape 62"/>
          <p:cNvSpPr/>
          <p:nvPr/>
        </p:nvSpPr>
        <p:spPr>
          <a:xfrm>
            <a:off x="6745320" y="723636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Text 63"/>
          <p:cNvSpPr/>
          <p:nvPr/>
        </p:nvSpPr>
        <p:spPr>
          <a:xfrm>
            <a:off x="6884280" y="7356240"/>
            <a:ext cx="1042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1" name="Shape 64"/>
          <p:cNvSpPr/>
          <p:nvPr/>
        </p:nvSpPr>
        <p:spPr>
          <a:xfrm>
            <a:off x="8066160" y="7236360"/>
            <a:ext cx="14086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65"/>
          <p:cNvSpPr/>
          <p:nvPr/>
        </p:nvSpPr>
        <p:spPr>
          <a:xfrm>
            <a:off x="8204760" y="7356240"/>
            <a:ext cx="11311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3" name="Shape 66"/>
          <p:cNvSpPr/>
          <p:nvPr/>
        </p:nvSpPr>
        <p:spPr>
          <a:xfrm>
            <a:off x="669600" y="7850880"/>
            <a:ext cx="47545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67"/>
          <p:cNvSpPr/>
          <p:nvPr/>
        </p:nvSpPr>
        <p:spPr>
          <a:xfrm>
            <a:off x="846360" y="7970760"/>
            <a:ext cx="45435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kube-controller-manager-minikube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5" name="Shape 68"/>
          <p:cNvSpPr/>
          <p:nvPr/>
        </p:nvSpPr>
        <p:spPr>
          <a:xfrm>
            <a:off x="5424480" y="785088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Shape 69"/>
          <p:cNvSpPr/>
          <p:nvPr/>
        </p:nvSpPr>
        <p:spPr>
          <a:xfrm>
            <a:off x="5889960" y="796788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Text 70"/>
          <p:cNvSpPr/>
          <p:nvPr/>
        </p:nvSpPr>
        <p:spPr>
          <a:xfrm>
            <a:off x="5990400" y="801144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1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38" name="Shape 71"/>
          <p:cNvSpPr/>
          <p:nvPr/>
        </p:nvSpPr>
        <p:spPr>
          <a:xfrm>
            <a:off x="6745320" y="785088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Text 72"/>
          <p:cNvSpPr/>
          <p:nvPr/>
        </p:nvSpPr>
        <p:spPr>
          <a:xfrm>
            <a:off x="6884280" y="7970760"/>
            <a:ext cx="1042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0" name="Shape 73"/>
          <p:cNvSpPr/>
          <p:nvPr/>
        </p:nvSpPr>
        <p:spPr>
          <a:xfrm>
            <a:off x="8066160" y="7850880"/>
            <a:ext cx="14086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Text 74"/>
          <p:cNvSpPr/>
          <p:nvPr/>
        </p:nvSpPr>
        <p:spPr>
          <a:xfrm>
            <a:off x="8204760" y="7970760"/>
            <a:ext cx="11311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2" name="Shape 75"/>
          <p:cNvSpPr/>
          <p:nvPr/>
        </p:nvSpPr>
        <p:spPr>
          <a:xfrm>
            <a:off x="669600" y="8465400"/>
            <a:ext cx="47545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Text 76"/>
          <p:cNvSpPr/>
          <p:nvPr/>
        </p:nvSpPr>
        <p:spPr>
          <a:xfrm>
            <a:off x="846360" y="8584920"/>
            <a:ext cx="45435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kube-scheduler-minikube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4" name="Shape 77"/>
          <p:cNvSpPr/>
          <p:nvPr/>
        </p:nvSpPr>
        <p:spPr>
          <a:xfrm>
            <a:off x="5424480" y="846540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Shape 78"/>
          <p:cNvSpPr/>
          <p:nvPr/>
        </p:nvSpPr>
        <p:spPr>
          <a:xfrm>
            <a:off x="5889960" y="8582400"/>
            <a:ext cx="389880" cy="380160"/>
          </a:xfrm>
          <a:prstGeom prst="roundRect">
            <a:avLst>
              <a:gd name="adj" fmla="val 7512"/>
            </a:avLst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79"/>
          <p:cNvSpPr/>
          <p:nvPr/>
        </p:nvSpPr>
        <p:spPr>
          <a:xfrm>
            <a:off x="5990400" y="8625960"/>
            <a:ext cx="1882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a0203b"/>
                </a:solidFill>
                <a:latin typeface="Arial"/>
                <a:ea typeface="Arial"/>
              </a:rPr>
              <a:t>1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47" name="Shape 80"/>
          <p:cNvSpPr/>
          <p:nvPr/>
        </p:nvSpPr>
        <p:spPr>
          <a:xfrm>
            <a:off x="6745320" y="846540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81"/>
          <p:cNvSpPr/>
          <p:nvPr/>
        </p:nvSpPr>
        <p:spPr>
          <a:xfrm>
            <a:off x="6884280" y="8584920"/>
            <a:ext cx="1042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9" name="Shape 82"/>
          <p:cNvSpPr/>
          <p:nvPr/>
        </p:nvSpPr>
        <p:spPr>
          <a:xfrm>
            <a:off x="8066160" y="8465400"/>
            <a:ext cx="14086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83"/>
          <p:cNvSpPr/>
          <p:nvPr/>
        </p:nvSpPr>
        <p:spPr>
          <a:xfrm>
            <a:off x="8204760" y="8584920"/>
            <a:ext cx="11311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1" name="Shape 84"/>
          <p:cNvSpPr/>
          <p:nvPr/>
        </p:nvSpPr>
        <p:spPr>
          <a:xfrm>
            <a:off x="669600" y="9079920"/>
            <a:ext cx="475452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85"/>
          <p:cNvSpPr/>
          <p:nvPr/>
        </p:nvSpPr>
        <p:spPr>
          <a:xfrm>
            <a:off x="846360" y="9199440"/>
            <a:ext cx="45435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kube-proxy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3" name="Shape 86"/>
          <p:cNvSpPr/>
          <p:nvPr/>
        </p:nvSpPr>
        <p:spPr>
          <a:xfrm>
            <a:off x="5424480" y="907992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87"/>
          <p:cNvSpPr/>
          <p:nvPr/>
        </p:nvSpPr>
        <p:spPr>
          <a:xfrm>
            <a:off x="5563440" y="9199440"/>
            <a:ext cx="1042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5" name="Shape 88"/>
          <p:cNvSpPr/>
          <p:nvPr/>
        </p:nvSpPr>
        <p:spPr>
          <a:xfrm>
            <a:off x="6745320" y="9079920"/>
            <a:ext cx="13204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Shape 89"/>
          <p:cNvSpPr/>
          <p:nvPr/>
        </p:nvSpPr>
        <p:spPr>
          <a:xfrm>
            <a:off x="7154280" y="9196920"/>
            <a:ext cx="502200" cy="380160"/>
          </a:xfrm>
          <a:prstGeom prst="roundRect">
            <a:avLst>
              <a:gd name="adj" fmla="val 7512"/>
            </a:avLst>
          </a:prstGeom>
          <a:solidFill>
            <a:srgbClr val="f7eed0"/>
          </a:solidFill>
          <a:ln w="5443">
            <a:solidFill>
              <a:srgbClr val="e1cc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90"/>
          <p:cNvSpPr/>
          <p:nvPr/>
        </p:nvSpPr>
        <p:spPr>
          <a:xfrm>
            <a:off x="7255080" y="9240480"/>
            <a:ext cx="3009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b8860b"/>
                </a:solidFill>
                <a:latin typeface="Arial"/>
                <a:ea typeface="Arial"/>
              </a:rPr>
              <a:t>27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558" name="Shape 91"/>
          <p:cNvSpPr/>
          <p:nvPr/>
        </p:nvSpPr>
        <p:spPr>
          <a:xfrm>
            <a:off x="8066160" y="9079920"/>
            <a:ext cx="1408680" cy="61416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Text 92"/>
          <p:cNvSpPr/>
          <p:nvPr/>
        </p:nvSpPr>
        <p:spPr>
          <a:xfrm>
            <a:off x="8204760" y="9199440"/>
            <a:ext cx="11311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0" name="Shape 93"/>
          <p:cNvSpPr/>
          <p:nvPr/>
        </p:nvSpPr>
        <p:spPr>
          <a:xfrm>
            <a:off x="669600" y="9694080"/>
            <a:ext cx="4754520" cy="4471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Text 94"/>
          <p:cNvSpPr/>
          <p:nvPr/>
        </p:nvSpPr>
        <p:spPr>
          <a:xfrm>
            <a:off x="846360" y="9813960"/>
            <a:ext cx="45435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6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storage-provisioner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2" name="Shape 95"/>
          <p:cNvSpPr/>
          <p:nvPr/>
        </p:nvSpPr>
        <p:spPr>
          <a:xfrm>
            <a:off x="5424480" y="9694080"/>
            <a:ext cx="1320480" cy="4471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96"/>
          <p:cNvSpPr/>
          <p:nvPr/>
        </p:nvSpPr>
        <p:spPr>
          <a:xfrm>
            <a:off x="5563440" y="9813960"/>
            <a:ext cx="1042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6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4" name="Shape 97"/>
          <p:cNvSpPr/>
          <p:nvPr/>
        </p:nvSpPr>
        <p:spPr>
          <a:xfrm>
            <a:off x="6745320" y="9694080"/>
            <a:ext cx="1320480" cy="4471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Text 98"/>
          <p:cNvSpPr/>
          <p:nvPr/>
        </p:nvSpPr>
        <p:spPr>
          <a:xfrm>
            <a:off x="6884280" y="9813960"/>
            <a:ext cx="10429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6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6" name="Shape 99"/>
          <p:cNvSpPr/>
          <p:nvPr/>
        </p:nvSpPr>
        <p:spPr>
          <a:xfrm>
            <a:off x="8066160" y="9694080"/>
            <a:ext cx="1408680" cy="4471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100"/>
          <p:cNvSpPr/>
          <p:nvPr/>
        </p:nvSpPr>
        <p:spPr>
          <a:xfrm>
            <a:off x="8204760" y="9813960"/>
            <a:ext cx="11311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6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f1f1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8" name="Shape 101"/>
          <p:cNvSpPr/>
          <p:nvPr/>
        </p:nvSpPr>
        <p:spPr>
          <a:xfrm>
            <a:off x="9649080" y="5768280"/>
            <a:ext cx="7971480" cy="437580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Text 102"/>
          <p:cNvSpPr/>
          <p:nvPr/>
        </p:nvSpPr>
        <p:spPr>
          <a:xfrm>
            <a:off x="9826200" y="5906880"/>
            <a:ext cx="7846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f3864"/>
                </a:solidFill>
                <a:latin typeface="Arial"/>
                <a:ea typeface="Arial"/>
              </a:rPr>
              <a:t>Why this matters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70" name="Text 103"/>
          <p:cNvSpPr/>
          <p:nvPr/>
        </p:nvSpPr>
        <p:spPr>
          <a:xfrm>
            <a:off x="9826200" y="6204240"/>
            <a:ext cx="784620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5000"/>
              </a:lnSpc>
              <a:buNone/>
              <a:tabLst>
                <a:tab algn="l" pos="0"/>
              </a:tabLst>
            </a:pPr>
            <a:r>
              <a:rPr b="0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The four privileged control-plane pods reproduce Pod 3's finding on a real Kubernetes deployment. Invisible to </a:t>
            </a: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OPA Gatekeeper, Kyverno, Kubescape, Trivy Operator </a:t>
            </a:r>
            <a:r>
              <a:rPr b="0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571" name="Text 104"/>
          <p:cNvSpPr/>
          <p:nvPr/>
        </p:nvSpPr>
        <p:spPr>
          <a:xfrm>
            <a:off x="9826200" y="6749640"/>
            <a:ext cx="784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5000"/>
              </a:lnSpc>
              <a:buNone/>
              <a:tabLst>
                <a:tab algn="l" pos="0"/>
              </a:tabLst>
            </a:pPr>
            <a:r>
              <a:rPr b="0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Documented in </a:t>
            </a:r>
            <a:r>
              <a:rPr b="1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Moby #41321 </a:t>
            </a:r>
            <a:r>
              <a:rPr b="0" lang="en-US" sz="1280" spc="-1" strike="noStrike">
                <a:solidFill>
                  <a:srgbClr val="1f1f1f"/>
                </a:solidFill>
                <a:latin typeface="Arial"/>
                <a:ea typeface="Arial"/>
              </a:rPr>
              <a:t>since 2020 — never previously detected by any verification tool.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572" name="Shape 105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106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74" name="Text 107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11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Finding 2: docker inspect Hides Implicit Seccomp Defaults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576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5 · Observability Artefact — distinct from Finding 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577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Text 3"/>
          <p:cNvSpPr/>
          <p:nvPr/>
        </p:nvSpPr>
        <p:spPr>
          <a:xfrm>
            <a:off x="666720" y="1504800"/>
            <a:ext cx="861336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What I Observed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579" name="Text 4"/>
          <p:cNvSpPr/>
          <p:nvPr/>
        </p:nvSpPr>
        <p:spPr>
          <a:xfrm>
            <a:off x="666720" y="2206080"/>
            <a:ext cx="86133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Pods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1, 5, and 6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non-privileged, correctly declaring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RuntimeDefault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also produced CRITICAL seccomp findings.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But these containers are actually protected.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The kernel is applying a seccomp filter. The findings are false positives.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580" name="Text 5"/>
          <p:cNvSpPr/>
          <p:nvPr/>
        </p:nvSpPr>
        <p:spPr>
          <a:xfrm>
            <a:off x="666720" y="3222000"/>
            <a:ext cx="861336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Root Cause — Three-Step Chain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581" name="Shape 6"/>
          <p:cNvSpPr/>
          <p:nvPr/>
        </p:nvSpPr>
        <p:spPr>
          <a:xfrm>
            <a:off x="666720" y="3922920"/>
            <a:ext cx="8362440" cy="55267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82" name="Image 0" descr="preencoded.png"/>
          <p:cNvPicPr/>
          <p:nvPr/>
        </p:nvPicPr>
        <p:blipFill>
          <a:blip r:embed="rId1"/>
          <a:stretch/>
        </p:blipFill>
        <p:spPr>
          <a:xfrm>
            <a:off x="824760" y="4099680"/>
            <a:ext cx="8047080" cy="5172840"/>
          </a:xfrm>
          <a:prstGeom prst="rect">
            <a:avLst/>
          </a:prstGeom>
          <a:ln w="0">
            <a:noFill/>
          </a:ln>
        </p:spPr>
      </p:pic>
      <p:sp>
        <p:nvSpPr>
          <p:cNvPr id="583" name="Shape 7"/>
          <p:cNvSpPr/>
          <p:nvPr/>
        </p:nvSpPr>
        <p:spPr>
          <a:xfrm>
            <a:off x="9258480" y="1504800"/>
            <a:ext cx="8362440" cy="2121840"/>
          </a:xfrm>
          <a:prstGeom prst="rect">
            <a:avLst/>
          </a:prstGeom>
          <a:solidFill>
            <a:srgbClr val="fff2cc"/>
          </a:solidFill>
          <a:ln w="5443">
            <a:solidFill>
              <a:srgbClr val="dbc36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Text 8"/>
          <p:cNvSpPr/>
          <p:nvPr/>
        </p:nvSpPr>
        <p:spPr>
          <a:xfrm>
            <a:off x="9492480" y="1701000"/>
            <a:ext cx="8131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Lesson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9492480" y="2276280"/>
            <a:ext cx="813132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Runtime metadata is a </a:t>
            </a: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lossy abstraction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. Any tool that relies on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inspect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for seccomp verification will produce these false positives.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586" name="Text 10"/>
          <p:cNvSpPr/>
          <p:nvPr/>
        </p:nvSpPr>
        <p:spPr>
          <a:xfrm>
            <a:off x="9492480" y="2916720"/>
            <a:ext cx="8131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Docker acknowledges this in </a:t>
            </a:r>
            <a:r>
              <a:rPr b="1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CIS Docker Benchmark check 5.21 </a:t>
            </a:r>
            <a:r>
              <a:rPr b="0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— an empty </a:t>
            </a:r>
            <a:r>
              <a:rPr b="0" lang="en-US" sz="1260" spc="-1" strike="noStrike">
                <a:solidFill>
                  <a:srgbClr val="404040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SecurityOpt </a:t>
            </a:r>
            <a:r>
              <a:rPr b="0" lang="en-US" sz="1430" spc="-1" strike="noStrike">
                <a:solidFill>
                  <a:srgbClr val="404040"/>
                </a:solidFill>
                <a:latin typeface="Arial"/>
                <a:ea typeface="Arial"/>
              </a:rPr>
              <a:t>means the default profile is active, not that seccomp is disabled.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587" name="Text 11"/>
          <p:cNvSpPr/>
          <p:nvPr/>
        </p:nvSpPr>
        <p:spPr>
          <a:xfrm>
            <a:off x="9258480" y="3779640"/>
            <a:ext cx="86133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1f1f"/>
                </a:solidFill>
                <a:latin typeface="Arial"/>
                <a:ea typeface="Arial"/>
              </a:rPr>
              <a:t>Definitive Fix — Read the Kernel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88" name="Shape 12"/>
          <p:cNvSpPr/>
          <p:nvPr/>
        </p:nvSpPr>
        <p:spPr>
          <a:xfrm>
            <a:off x="9258480" y="4335840"/>
            <a:ext cx="8362440" cy="117252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Shape 13"/>
          <p:cNvSpPr/>
          <p:nvPr/>
        </p:nvSpPr>
        <p:spPr>
          <a:xfrm>
            <a:off x="9258480" y="5503320"/>
            <a:ext cx="836244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Shape 14"/>
          <p:cNvSpPr/>
          <p:nvPr/>
        </p:nvSpPr>
        <p:spPr>
          <a:xfrm>
            <a:off x="9258480" y="4335840"/>
            <a:ext cx="836244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Shape 15"/>
          <p:cNvSpPr/>
          <p:nvPr/>
        </p:nvSpPr>
        <p:spPr>
          <a:xfrm>
            <a:off x="9258480" y="4335840"/>
            <a:ext cx="37800" cy="117252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Shape 16"/>
          <p:cNvSpPr/>
          <p:nvPr/>
        </p:nvSpPr>
        <p:spPr>
          <a:xfrm>
            <a:off x="17615880" y="4335840"/>
            <a:ext cx="9000" cy="11725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Text 17"/>
          <p:cNvSpPr/>
          <p:nvPr/>
        </p:nvSpPr>
        <p:spPr>
          <a:xfrm>
            <a:off x="9487080" y="4493520"/>
            <a:ext cx="818892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2000"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95959"/>
                </a:solidFill>
                <a:latin typeface="Courier New"/>
                <a:ea typeface="Courier New"/>
              </a:rPr>
              <a:t># Bypass docker inspect entirely </a:t>
            </a:r>
            <a:r>
              <a:rPr b="0" lang="en-US" sz="150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$ cat /proc/$PID/status | grep Seccomp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Seccomp: 2      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95959"/>
                </a:solidFill>
                <a:latin typeface="Courier New"/>
                <a:ea typeface="Courier New"/>
              </a:rPr>
              <a:t># 2 = BPF filter mode active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94" name="Shape 18"/>
          <p:cNvSpPr/>
          <p:nvPr/>
        </p:nvSpPr>
        <p:spPr>
          <a:xfrm>
            <a:off x="9261000" y="5663880"/>
            <a:ext cx="417852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Text 19"/>
          <p:cNvSpPr/>
          <p:nvPr/>
        </p:nvSpPr>
        <p:spPr>
          <a:xfrm>
            <a:off x="9437760" y="5783760"/>
            <a:ext cx="3949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Finding 1 (real risk)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96" name="Shape 20"/>
          <p:cNvSpPr/>
          <p:nvPr/>
        </p:nvSpPr>
        <p:spPr>
          <a:xfrm>
            <a:off x="13439880" y="5663880"/>
            <a:ext cx="417852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Text 21"/>
          <p:cNvSpPr/>
          <p:nvPr/>
        </p:nvSpPr>
        <p:spPr>
          <a:xfrm>
            <a:off x="13616640" y="5783760"/>
            <a:ext cx="3949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Finding 2 (artefact)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98" name="Shape 22"/>
          <p:cNvSpPr/>
          <p:nvPr/>
        </p:nvSpPr>
        <p:spPr>
          <a:xfrm>
            <a:off x="9261000" y="6244560"/>
            <a:ext cx="4178520" cy="740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Text 23"/>
          <p:cNvSpPr/>
          <p:nvPr/>
        </p:nvSpPr>
        <p:spPr>
          <a:xfrm>
            <a:off x="9437760" y="6364440"/>
            <a:ext cx="394992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Privileged containers — enforcement gap. </a:t>
            </a: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The kernel literally has no filter.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600" name="Shape 24"/>
          <p:cNvSpPr/>
          <p:nvPr/>
        </p:nvSpPr>
        <p:spPr>
          <a:xfrm>
            <a:off x="13439880" y="6244560"/>
            <a:ext cx="4178520" cy="740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Text 25"/>
          <p:cNvSpPr/>
          <p:nvPr/>
        </p:nvSpPr>
        <p:spPr>
          <a:xfrm>
            <a:off x="13616640" y="6364440"/>
            <a:ext cx="394992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Non-privileged containers — observability gap. </a:t>
            </a:r>
            <a:r>
              <a:rPr b="0" lang="en-US" sz="1430" spc="-1" strike="noStrike">
                <a:solidFill>
                  <a:srgbClr val="1f1f1f"/>
                </a:solidFill>
                <a:latin typeface="Arial"/>
                <a:ea typeface="Arial"/>
              </a:rPr>
              <a:t>The filter is active, but metadata hides it.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602" name="Shape 26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Text 27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04" name="Text 28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12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Full Evaluation Results — Layer 2 Drift Findings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606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5 · k8s-psa Live Dashboard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607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Shape 3"/>
          <p:cNvSpPr/>
          <p:nvPr/>
        </p:nvSpPr>
        <p:spPr>
          <a:xfrm>
            <a:off x="666720" y="1504800"/>
            <a:ext cx="5536800" cy="10285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Text 4"/>
          <p:cNvSpPr/>
          <p:nvPr/>
        </p:nvSpPr>
        <p:spPr>
          <a:xfrm>
            <a:off x="746280" y="1624680"/>
            <a:ext cx="5377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50" spc="-1" strike="noStrike">
                <a:solidFill>
                  <a:srgbClr val="1f3864"/>
                </a:solidFill>
                <a:latin typeface="Arial"/>
                <a:ea typeface="Arial"/>
              </a:rPr>
              <a:t>7 + 6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746280" y="2100960"/>
            <a:ext cx="53776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pods evaluated | test + system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11" name="Shape 6"/>
          <p:cNvSpPr/>
          <p:nvPr/>
        </p:nvSpPr>
        <p:spPr>
          <a:xfrm>
            <a:off x="6375240" y="1504800"/>
            <a:ext cx="5536800" cy="10285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Text 7"/>
          <p:cNvSpPr/>
          <p:nvPr/>
        </p:nvSpPr>
        <p:spPr>
          <a:xfrm>
            <a:off x="6454800" y="1624680"/>
            <a:ext cx="5377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50" spc="-1" strike="noStrike">
                <a:solidFill>
                  <a:srgbClr val="1f3864"/>
                </a:solidFill>
                <a:latin typeface="Arial"/>
                <a:ea typeface="Arial"/>
              </a:rPr>
              <a:t>3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613" name="Text 8"/>
          <p:cNvSpPr/>
          <p:nvPr/>
        </p:nvSpPr>
        <p:spPr>
          <a:xfrm>
            <a:off x="6454800" y="2100960"/>
            <a:ext cx="53776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scan cycles · 60 s each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12084120" y="1504800"/>
            <a:ext cx="5536800" cy="1028520"/>
          </a:xfrm>
          <a:prstGeom prst="rect">
            <a:avLst/>
          </a:prstGeom>
          <a:solidFill>
            <a:srgbClr val="f4e1e6"/>
          </a:solidFill>
          <a:ln w="5443">
            <a:solidFill>
              <a:srgbClr val="d4b0b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5" name="Text 10"/>
          <p:cNvSpPr/>
          <p:nvPr/>
        </p:nvSpPr>
        <p:spPr>
          <a:xfrm>
            <a:off x="12163680" y="1624680"/>
            <a:ext cx="53776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50" spc="-1" strike="noStrike">
                <a:solidFill>
                  <a:srgbClr val="a0203b"/>
                </a:solidFill>
                <a:latin typeface="Arial"/>
                <a:ea typeface="Arial"/>
              </a:rPr>
              <a:t>8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12163680" y="2100960"/>
            <a:ext cx="53776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unique CRITICAL · 4 test + 4 system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17" name="Shape 12"/>
          <p:cNvSpPr/>
          <p:nvPr/>
        </p:nvSpPr>
        <p:spPr>
          <a:xfrm>
            <a:off x="666720" y="2666880"/>
            <a:ext cx="8381520" cy="65527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Text 13"/>
          <p:cNvSpPr/>
          <p:nvPr/>
        </p:nvSpPr>
        <p:spPr>
          <a:xfrm>
            <a:off x="703440" y="2805840"/>
            <a:ext cx="83080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1f3864"/>
                </a:solidFill>
                <a:latin typeface="Arial"/>
                <a:ea typeface="Arial"/>
              </a:rPr>
              <a:t>Layer 2 Drift Findings by Pod &amp; Severity</a:t>
            </a:r>
            <a:endParaRPr b="0" lang="en-US" sz="1650" spc="-1" strike="noStrike">
              <a:latin typeface="Arial"/>
            </a:endParaRPr>
          </a:p>
        </p:txBody>
      </p:sp>
      <p:pic>
        <p:nvPicPr>
          <p:cNvPr id="619" name="Image 0" descr="preencoded.png"/>
          <p:cNvPicPr/>
          <p:nvPr/>
        </p:nvPicPr>
        <p:blipFill>
          <a:blip r:embed="rId1"/>
          <a:stretch/>
        </p:blipFill>
        <p:spPr>
          <a:xfrm>
            <a:off x="824760" y="3175200"/>
            <a:ext cx="8057880" cy="5524200"/>
          </a:xfrm>
          <a:prstGeom prst="rect">
            <a:avLst/>
          </a:prstGeom>
          <a:ln w="0">
            <a:noFill/>
          </a:ln>
        </p:spPr>
      </p:pic>
      <p:sp>
        <p:nvSpPr>
          <p:cNvPr id="620" name="Shape 14"/>
          <p:cNvSpPr/>
          <p:nvPr/>
        </p:nvSpPr>
        <p:spPr>
          <a:xfrm>
            <a:off x="9239400" y="2666880"/>
            <a:ext cx="8381520" cy="1537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Shape 15"/>
          <p:cNvSpPr/>
          <p:nvPr/>
        </p:nvSpPr>
        <p:spPr>
          <a:xfrm>
            <a:off x="9239400" y="4199760"/>
            <a:ext cx="838152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Shape 16"/>
          <p:cNvSpPr/>
          <p:nvPr/>
        </p:nvSpPr>
        <p:spPr>
          <a:xfrm>
            <a:off x="9239400" y="2666880"/>
            <a:ext cx="8381520" cy="37800"/>
          </a:xfrm>
          <a:prstGeom prst="rect">
            <a:avLst/>
          </a:prstGeom>
          <a:solidFill>
            <a:srgbClr val="a020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Shape 17"/>
          <p:cNvSpPr/>
          <p:nvPr/>
        </p:nvSpPr>
        <p:spPr>
          <a:xfrm>
            <a:off x="9239400" y="2666880"/>
            <a:ext cx="9000" cy="15379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4" name="Shape 18"/>
          <p:cNvSpPr/>
          <p:nvPr/>
        </p:nvSpPr>
        <p:spPr>
          <a:xfrm>
            <a:off x="17615880" y="2666880"/>
            <a:ext cx="9000" cy="15379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Text 19"/>
          <p:cNvSpPr/>
          <p:nvPr/>
        </p:nvSpPr>
        <p:spPr>
          <a:xfrm>
            <a:off x="9217080" y="2800440"/>
            <a:ext cx="84258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350" spc="-1" strike="noStrike">
                <a:solidFill>
                  <a:srgbClr val="a0203b"/>
                </a:solidFill>
                <a:latin typeface="Arial"/>
                <a:ea typeface="Arial"/>
              </a:rPr>
              <a:t>1</a:t>
            </a:r>
            <a:endParaRPr b="0" lang="en-US" sz="4350" spc="-1" strike="noStrike">
              <a:latin typeface="Arial"/>
            </a:endParaRPr>
          </a:p>
        </p:txBody>
      </p:sp>
      <p:sp>
        <p:nvSpPr>
          <p:cNvPr id="626" name="Text 20"/>
          <p:cNvSpPr/>
          <p:nvPr/>
        </p:nvSpPr>
        <p:spPr>
          <a:xfrm>
            <a:off x="9217080" y="3390840"/>
            <a:ext cx="8425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CRITICAL · Pod 3 </a:t>
            </a: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✓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7" name="Text 21"/>
          <p:cNvSpPr/>
          <p:nvPr/>
        </p:nvSpPr>
        <p:spPr>
          <a:xfrm>
            <a:off x="9217080" y="3657600"/>
            <a:ext cx="84258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privileged + seccomp declared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28" name="Shape 22"/>
          <p:cNvSpPr/>
          <p:nvPr/>
        </p:nvSpPr>
        <p:spPr>
          <a:xfrm>
            <a:off x="9239400" y="4338720"/>
            <a:ext cx="8381520" cy="1537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Shape 23"/>
          <p:cNvSpPr/>
          <p:nvPr/>
        </p:nvSpPr>
        <p:spPr>
          <a:xfrm>
            <a:off x="9239400" y="5871600"/>
            <a:ext cx="838152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Shape 24"/>
          <p:cNvSpPr/>
          <p:nvPr/>
        </p:nvSpPr>
        <p:spPr>
          <a:xfrm>
            <a:off x="9239400" y="4338720"/>
            <a:ext cx="8381520" cy="378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Shape 25"/>
          <p:cNvSpPr/>
          <p:nvPr/>
        </p:nvSpPr>
        <p:spPr>
          <a:xfrm>
            <a:off x="9239400" y="4338720"/>
            <a:ext cx="9000" cy="15379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Shape 26"/>
          <p:cNvSpPr/>
          <p:nvPr/>
        </p:nvSpPr>
        <p:spPr>
          <a:xfrm>
            <a:off x="17615880" y="4338720"/>
            <a:ext cx="9000" cy="15379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Text 27"/>
          <p:cNvSpPr/>
          <p:nvPr/>
        </p:nvSpPr>
        <p:spPr>
          <a:xfrm>
            <a:off x="9217080" y="4471920"/>
            <a:ext cx="84258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350" spc="-1" strike="noStrike">
                <a:solidFill>
                  <a:srgbClr val="2e7d32"/>
                </a:solidFill>
                <a:latin typeface="Arial"/>
                <a:ea typeface="Arial"/>
              </a:rPr>
              <a:t>0</a:t>
            </a:r>
            <a:endParaRPr b="0" lang="en-US" sz="4350" spc="-1" strike="noStrike">
              <a:latin typeface="Arial"/>
            </a:endParaRPr>
          </a:p>
        </p:txBody>
      </p:sp>
      <p:sp>
        <p:nvSpPr>
          <p:cNvPr id="634" name="Text 28"/>
          <p:cNvSpPr/>
          <p:nvPr/>
        </p:nvSpPr>
        <p:spPr>
          <a:xfrm>
            <a:off x="9217080" y="5062680"/>
            <a:ext cx="8425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CRITICAL · Pod 4 </a:t>
            </a: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✓ control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5" name="Text 29"/>
          <p:cNvSpPr/>
          <p:nvPr/>
        </p:nvSpPr>
        <p:spPr>
          <a:xfrm>
            <a:off x="9217080" y="5329080"/>
            <a:ext cx="84258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privileged · no seccomp declaration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36" name="Shape 30"/>
          <p:cNvSpPr/>
          <p:nvPr/>
        </p:nvSpPr>
        <p:spPr>
          <a:xfrm>
            <a:off x="9239400" y="6010200"/>
            <a:ext cx="8381520" cy="153792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Text 31"/>
          <p:cNvSpPr/>
          <p:nvPr/>
        </p:nvSpPr>
        <p:spPr>
          <a:xfrm>
            <a:off x="9217080" y="6111000"/>
            <a:ext cx="84258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f3864"/>
                </a:solidFill>
                <a:latin typeface="Arial"/>
                <a:ea typeface="Arial"/>
              </a:rPr>
              <a:t>27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38" name="Text 32"/>
          <p:cNvSpPr/>
          <p:nvPr/>
        </p:nvSpPr>
        <p:spPr>
          <a:xfrm>
            <a:off x="9217080" y="6606360"/>
            <a:ext cx="8425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WARNING per privileged pod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9" name="Text 33"/>
          <p:cNvSpPr/>
          <p:nvPr/>
        </p:nvSpPr>
        <p:spPr>
          <a:xfrm>
            <a:off x="9217080" y="6873120"/>
            <a:ext cx="84258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280" spc="-1" strike="noStrike">
                <a:solidFill>
                  <a:srgbClr val="595959"/>
                </a:solidFill>
                <a:latin typeface="Arial"/>
                <a:ea typeface="Arial"/>
              </a:rPr>
              <a:t>41 granted − 14 default = capability inflation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640" name="Shape 34"/>
          <p:cNvSpPr/>
          <p:nvPr/>
        </p:nvSpPr>
        <p:spPr>
          <a:xfrm>
            <a:off x="9239400" y="7682040"/>
            <a:ext cx="8381520" cy="153792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Text 35"/>
          <p:cNvSpPr/>
          <p:nvPr/>
        </p:nvSpPr>
        <p:spPr>
          <a:xfrm>
            <a:off x="9397080" y="7839720"/>
            <a:ext cx="8308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f1f1f"/>
                </a:solidFill>
                <a:latin typeface="Arial"/>
                <a:ea typeface="Arial"/>
              </a:rPr>
              <a:t>Every predicted finding appeared. The Pod 3 vs Pod 4 asymmetry proves the tool detects the enforcement gap, not general privileged-mode noise.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2" name="Text 36"/>
          <p:cNvSpPr/>
          <p:nvPr/>
        </p:nvSpPr>
        <p:spPr>
          <a:xfrm>
            <a:off x="412560" y="9296280"/>
            <a:ext cx="174628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95959"/>
                </a:solidFill>
                <a:latin typeface="Arial"/>
                <a:ea typeface="Arial"/>
              </a:rPr>
              <a:t>Solid bar = true positive · Grey bar = observability false positive (cri-dockerd metadata gap · Finding 2)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3" name="Shape 37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4" name="Text 38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5" name="Text 39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13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Answering the Three Research Questions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647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5 · Discussion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648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9" name="Shape 3"/>
          <p:cNvSpPr/>
          <p:nvPr/>
        </p:nvSpPr>
        <p:spPr>
          <a:xfrm>
            <a:off x="669600" y="1507680"/>
            <a:ext cx="135540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Text 4"/>
          <p:cNvSpPr/>
          <p:nvPr/>
        </p:nvSpPr>
        <p:spPr>
          <a:xfrm>
            <a:off x="846360" y="1627560"/>
            <a:ext cx="1077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#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51" name="Shape 5"/>
          <p:cNvSpPr/>
          <p:nvPr/>
        </p:nvSpPr>
        <p:spPr>
          <a:xfrm>
            <a:off x="2025360" y="1507680"/>
            <a:ext cx="474516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2" name="Text 6"/>
          <p:cNvSpPr/>
          <p:nvPr/>
        </p:nvSpPr>
        <p:spPr>
          <a:xfrm>
            <a:off x="2202120" y="1627560"/>
            <a:ext cx="4533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Question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53" name="Shape 7"/>
          <p:cNvSpPr/>
          <p:nvPr/>
        </p:nvSpPr>
        <p:spPr>
          <a:xfrm>
            <a:off x="6770880" y="1507680"/>
            <a:ext cx="847440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Text 8"/>
          <p:cNvSpPr/>
          <p:nvPr/>
        </p:nvSpPr>
        <p:spPr>
          <a:xfrm>
            <a:off x="6948000" y="1627560"/>
            <a:ext cx="8374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Answer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55" name="Shape 9"/>
          <p:cNvSpPr/>
          <p:nvPr/>
        </p:nvSpPr>
        <p:spPr>
          <a:xfrm>
            <a:off x="15245640" y="1507680"/>
            <a:ext cx="2372400" cy="580320"/>
          </a:xfrm>
          <a:prstGeom prst="rect">
            <a:avLst/>
          </a:prstGeom>
          <a:solidFill>
            <a:srgbClr val="d9e2f3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Text 10"/>
          <p:cNvSpPr/>
          <p:nvPr/>
        </p:nvSpPr>
        <p:spPr>
          <a:xfrm>
            <a:off x="15422400" y="1627560"/>
            <a:ext cx="2094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1f3864"/>
                </a:solidFill>
                <a:latin typeface="Arial"/>
                <a:ea typeface="Arial"/>
              </a:rPr>
              <a:t>Status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57" name="Shape 11"/>
          <p:cNvSpPr/>
          <p:nvPr/>
        </p:nvSpPr>
        <p:spPr>
          <a:xfrm>
            <a:off x="669600" y="2088360"/>
            <a:ext cx="1355400" cy="10782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Text 12"/>
          <p:cNvSpPr/>
          <p:nvPr/>
        </p:nvSpPr>
        <p:spPr>
          <a:xfrm>
            <a:off x="846360" y="2208240"/>
            <a:ext cx="10778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RQ1 </a:t>
            </a:r>
            <a:r>
              <a:rPr b="0" lang="en-US" sz="1200" spc="-1" strike="noStrike">
                <a:solidFill>
                  <a:srgbClr val="595959"/>
                </a:solidFill>
                <a:latin typeface="Arial"/>
                <a:ea typeface="Arial"/>
              </a:rPr>
              <a:t>Empirical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9" name="Shape 13"/>
          <p:cNvSpPr/>
          <p:nvPr/>
        </p:nvSpPr>
        <p:spPr>
          <a:xfrm>
            <a:off x="2025360" y="2088360"/>
            <a:ext cx="4745160" cy="10782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Text 14"/>
          <p:cNvSpPr/>
          <p:nvPr/>
        </p:nvSpPr>
        <p:spPr>
          <a:xfrm>
            <a:off x="2202120" y="2208240"/>
            <a:ext cx="45338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Does divergence actually exist?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61" name="Shape 15"/>
          <p:cNvSpPr/>
          <p:nvPr/>
        </p:nvSpPr>
        <p:spPr>
          <a:xfrm>
            <a:off x="6770880" y="2088360"/>
            <a:ext cx="8474400" cy="10782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Text 16"/>
          <p:cNvSpPr/>
          <p:nvPr/>
        </p:nvSpPr>
        <p:spPr>
          <a:xfrm>
            <a:off x="6948000" y="2208240"/>
            <a:ext cx="837468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Yes. Docker silently strips declared seccomp from privileged containers. The K8s API reports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RuntimeDefault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; the kernel applies no filter. Confirmed by Pod 3 vs. Pod 4 controlled comparison.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63" name="Shape 17"/>
          <p:cNvSpPr/>
          <p:nvPr/>
        </p:nvSpPr>
        <p:spPr>
          <a:xfrm>
            <a:off x="15245640" y="2088360"/>
            <a:ext cx="2372400" cy="10782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Shape 18"/>
          <p:cNvSpPr/>
          <p:nvPr/>
        </p:nvSpPr>
        <p:spPr>
          <a:xfrm>
            <a:off x="15726600" y="2205360"/>
            <a:ext cx="141048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Text 19"/>
          <p:cNvSpPr/>
          <p:nvPr/>
        </p:nvSpPr>
        <p:spPr>
          <a:xfrm>
            <a:off x="15827400" y="2248920"/>
            <a:ext cx="12092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CONFIRMED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666" name="Shape 20"/>
          <p:cNvSpPr/>
          <p:nvPr/>
        </p:nvSpPr>
        <p:spPr>
          <a:xfrm>
            <a:off x="669600" y="3166920"/>
            <a:ext cx="1355400" cy="1073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Text 21"/>
          <p:cNvSpPr/>
          <p:nvPr/>
        </p:nvSpPr>
        <p:spPr>
          <a:xfrm>
            <a:off x="846360" y="3286800"/>
            <a:ext cx="1077840" cy="8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RQ2 </a:t>
            </a:r>
            <a:r>
              <a:rPr b="0" lang="en-US" sz="1200" spc="-1" strike="noStrike">
                <a:solidFill>
                  <a:srgbClr val="595959"/>
                </a:solidFill>
                <a:latin typeface="Arial"/>
                <a:ea typeface="Arial"/>
              </a:rPr>
              <a:t>Engineering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68" name="Shape 22"/>
          <p:cNvSpPr/>
          <p:nvPr/>
        </p:nvSpPr>
        <p:spPr>
          <a:xfrm>
            <a:off x="2025360" y="3166920"/>
            <a:ext cx="4745160" cy="1073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Text 23"/>
          <p:cNvSpPr/>
          <p:nvPr/>
        </p:nvSpPr>
        <p:spPr>
          <a:xfrm>
            <a:off x="2202120" y="3286800"/>
            <a:ext cx="4533840" cy="8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Can a lightweight tool detect it?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70" name="Shape 24"/>
          <p:cNvSpPr/>
          <p:nvPr/>
        </p:nvSpPr>
        <p:spPr>
          <a:xfrm>
            <a:off x="6770880" y="3166920"/>
            <a:ext cx="8474400" cy="1073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Text 25"/>
          <p:cNvSpPr/>
          <p:nvPr/>
        </p:nvSpPr>
        <p:spPr>
          <a:xfrm>
            <a:off x="6948000" y="3286800"/>
            <a:ext cx="8374680" cy="8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Yes. k8s-psa successfully detects enforcement divergences with a lightweight footprint — completing full scan cycles in seconds, consuming minimal memory and CPU, and requiring no modifications to existing cluster security mechanisms.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72" name="Shape 26"/>
          <p:cNvSpPr/>
          <p:nvPr/>
        </p:nvSpPr>
        <p:spPr>
          <a:xfrm>
            <a:off x="15245640" y="3166920"/>
            <a:ext cx="2372400" cy="107352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Shape 27"/>
          <p:cNvSpPr/>
          <p:nvPr/>
        </p:nvSpPr>
        <p:spPr>
          <a:xfrm>
            <a:off x="15726600" y="3283920"/>
            <a:ext cx="141048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4" name="Text 28"/>
          <p:cNvSpPr/>
          <p:nvPr/>
        </p:nvSpPr>
        <p:spPr>
          <a:xfrm>
            <a:off x="15827400" y="3327480"/>
            <a:ext cx="12092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CONFIRMED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675" name="Shape 29"/>
          <p:cNvSpPr/>
          <p:nvPr/>
        </p:nvSpPr>
        <p:spPr>
          <a:xfrm>
            <a:off x="669600" y="4240800"/>
            <a:ext cx="1355400" cy="13536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6" name="Text 30"/>
          <p:cNvSpPr/>
          <p:nvPr/>
        </p:nvSpPr>
        <p:spPr>
          <a:xfrm>
            <a:off x="846360" y="4360680"/>
            <a:ext cx="107784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RQ3 </a:t>
            </a:r>
            <a:r>
              <a:rPr b="0" lang="en-US" sz="1200" spc="-1" strike="noStrike">
                <a:solidFill>
                  <a:srgbClr val="595959"/>
                </a:solidFill>
                <a:latin typeface="Arial"/>
                <a:ea typeface="Arial"/>
              </a:rPr>
              <a:t>Taxonomy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7" name="Shape 31"/>
          <p:cNvSpPr/>
          <p:nvPr/>
        </p:nvSpPr>
        <p:spPr>
          <a:xfrm>
            <a:off x="2025360" y="4240800"/>
            <a:ext cx="4745160" cy="13536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Text 32"/>
          <p:cNvSpPr/>
          <p:nvPr/>
        </p:nvSpPr>
        <p:spPr>
          <a:xfrm>
            <a:off x="2202120" y="4360680"/>
            <a:ext cx="453384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What categories of divergence occur?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79" name="Shape 33"/>
          <p:cNvSpPr/>
          <p:nvPr/>
        </p:nvSpPr>
        <p:spPr>
          <a:xfrm>
            <a:off x="6770880" y="4240800"/>
            <a:ext cx="8474400" cy="13536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Text 34"/>
          <p:cNvSpPr/>
          <p:nvPr/>
        </p:nvSpPr>
        <p:spPr>
          <a:xfrm>
            <a:off x="6948000" y="4360680"/>
            <a:ext cx="837468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Three: (1) </a:t>
            </a:r>
            <a:r>
              <a:rPr b="1" lang="en-US" sz="1580" spc="-1" strike="noStrike">
                <a:solidFill>
                  <a:srgbClr val="a0203b"/>
                </a:solidFill>
                <a:latin typeface="Arial"/>
                <a:ea typeface="Arial"/>
              </a:rPr>
              <a:t>enforcement gap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seccomp stripped from privileged containers; (2) </a:t>
            </a:r>
            <a:r>
              <a:rPr b="1" lang="en-US" sz="1580" spc="-1" strike="noStrike">
                <a:solidFill>
                  <a:srgbClr val="b8860b"/>
                </a:solidFill>
                <a:latin typeface="Arial"/>
                <a:ea typeface="Arial"/>
              </a:rPr>
              <a:t>capability inflation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27 extra caps granted by privileged mode; (3) </a:t>
            </a:r>
            <a:r>
              <a:rPr b="1" lang="en-US" sz="1580" spc="-1" strike="noStrike">
                <a:solidFill>
                  <a:srgbClr val="0f7b7e"/>
                </a:solidFill>
                <a:latin typeface="Arial"/>
                <a:ea typeface="Arial"/>
              </a:rPr>
              <a:t>observability artefact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— Docker metadata hides implicit defaults.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81" name="Shape 35"/>
          <p:cNvSpPr/>
          <p:nvPr/>
        </p:nvSpPr>
        <p:spPr>
          <a:xfrm>
            <a:off x="15245640" y="4240800"/>
            <a:ext cx="2372400" cy="1353600"/>
          </a:xfrm>
          <a:prstGeom prst="rect">
            <a:avLst/>
          </a:prstGeom>
          <a:noFill/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2" name="Shape 36"/>
          <p:cNvSpPr/>
          <p:nvPr/>
        </p:nvSpPr>
        <p:spPr>
          <a:xfrm>
            <a:off x="15642360" y="4357800"/>
            <a:ext cx="157896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3" name="Text 37"/>
          <p:cNvSpPr/>
          <p:nvPr/>
        </p:nvSpPr>
        <p:spPr>
          <a:xfrm>
            <a:off x="15743160" y="4401360"/>
            <a:ext cx="13777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3 CATEGORIES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684" name="Text 38"/>
          <p:cNvSpPr/>
          <p:nvPr/>
        </p:nvSpPr>
        <p:spPr>
          <a:xfrm>
            <a:off x="666720" y="5749920"/>
            <a:ext cx="174628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f3864"/>
                </a:solidFill>
                <a:latin typeface="Arial"/>
                <a:ea typeface="Arial"/>
              </a:rPr>
              <a:t>Performance Footprint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685" name="Shape 39"/>
          <p:cNvSpPr/>
          <p:nvPr/>
        </p:nvSpPr>
        <p:spPr>
          <a:xfrm>
            <a:off x="666720" y="6450840"/>
            <a:ext cx="4313520" cy="1229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6" name="Text 40"/>
          <p:cNvSpPr/>
          <p:nvPr/>
        </p:nvSpPr>
        <p:spPr>
          <a:xfrm>
            <a:off x="843120" y="6646680"/>
            <a:ext cx="39607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150" spc="-1" strike="noStrike">
                <a:solidFill>
                  <a:srgbClr val="1f3864"/>
                </a:solidFill>
                <a:latin typeface="Arial"/>
                <a:ea typeface="Arial"/>
              </a:rPr>
              <a:t>≈ </a:t>
            </a:r>
            <a:r>
              <a:rPr b="1" lang="en-US" sz="3150" spc="-1" strike="noStrike">
                <a:solidFill>
                  <a:srgbClr val="1f3864"/>
                </a:solidFill>
                <a:latin typeface="Arial"/>
                <a:ea typeface="Arial"/>
              </a:rPr>
              <a:t>3.1 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687" name="Text 41"/>
          <p:cNvSpPr/>
          <p:nvPr/>
        </p:nvSpPr>
        <p:spPr>
          <a:xfrm>
            <a:off x="843120" y="7245000"/>
            <a:ext cx="396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Scan cycle </a:t>
            </a:r>
            <a:r>
              <a:rPr b="0" lang="en-US" sz="1350" spc="-1" strike="noStrike">
                <a:solidFill>
                  <a:srgbClr val="999999"/>
                </a:solidFill>
                <a:latin typeface="Arial"/>
                <a:ea typeface="Arial"/>
              </a:rPr>
              <a:t>|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16 pods / 18 containers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88" name="Shape 42"/>
          <p:cNvSpPr/>
          <p:nvPr/>
        </p:nvSpPr>
        <p:spPr>
          <a:xfrm>
            <a:off x="5114160" y="6450840"/>
            <a:ext cx="4313520" cy="1229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9" name="Text 43"/>
          <p:cNvSpPr/>
          <p:nvPr/>
        </p:nvSpPr>
        <p:spPr>
          <a:xfrm>
            <a:off x="5290200" y="6646680"/>
            <a:ext cx="39607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150" spc="-1" strike="noStrike">
                <a:solidFill>
                  <a:srgbClr val="1f3864"/>
                </a:solidFill>
                <a:latin typeface="Arial"/>
                <a:ea typeface="Arial"/>
              </a:rPr>
              <a:t>64 + 32 MiB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690" name="Text 44"/>
          <p:cNvSpPr/>
          <p:nvPr/>
        </p:nvSpPr>
        <p:spPr>
          <a:xfrm>
            <a:off x="5290200" y="7245000"/>
            <a:ext cx="396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Memory </a:t>
            </a:r>
            <a:r>
              <a:rPr b="0" lang="en-US" sz="1350" spc="-1" strike="noStrike">
                <a:solidFill>
                  <a:srgbClr val="999999"/>
                </a:solidFill>
                <a:latin typeface="Arial"/>
                <a:ea typeface="Arial"/>
              </a:rPr>
              <a:t>|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scanner + dashboard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91" name="Shape 45"/>
          <p:cNvSpPr/>
          <p:nvPr/>
        </p:nvSpPr>
        <p:spPr>
          <a:xfrm>
            <a:off x="666720" y="7814160"/>
            <a:ext cx="4313520" cy="1229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2" name="Text 46"/>
          <p:cNvSpPr/>
          <p:nvPr/>
        </p:nvSpPr>
        <p:spPr>
          <a:xfrm>
            <a:off x="843120" y="8010360"/>
            <a:ext cx="39607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150" spc="-1" strike="noStrike">
                <a:solidFill>
                  <a:srgbClr val="1f3864"/>
                </a:solidFill>
                <a:latin typeface="Arial"/>
                <a:ea typeface="Arial"/>
              </a:rPr>
              <a:t>&lt; 100 m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693" name="Text 47"/>
          <p:cNvSpPr/>
          <p:nvPr/>
        </p:nvSpPr>
        <p:spPr>
          <a:xfrm>
            <a:off x="843120" y="8608320"/>
            <a:ext cx="396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CPU usage </a:t>
            </a:r>
            <a:r>
              <a:rPr b="0" lang="en-US" sz="1350" spc="-1" strike="noStrike">
                <a:solidFill>
                  <a:srgbClr val="999999"/>
                </a:solidFill>
                <a:latin typeface="Arial"/>
                <a:ea typeface="Arial"/>
              </a:rPr>
              <a:t>|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against 100 m limit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94" name="Shape 48"/>
          <p:cNvSpPr/>
          <p:nvPr/>
        </p:nvSpPr>
        <p:spPr>
          <a:xfrm>
            <a:off x="5114160" y="7814160"/>
            <a:ext cx="4313520" cy="12297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5" name="Text 49"/>
          <p:cNvSpPr/>
          <p:nvPr/>
        </p:nvSpPr>
        <p:spPr>
          <a:xfrm>
            <a:off x="5290200" y="8010360"/>
            <a:ext cx="39607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3150" spc="-1" strike="noStrike">
                <a:solidFill>
                  <a:srgbClr val="1f3864"/>
                </a:solidFill>
                <a:latin typeface="Arial"/>
                <a:ea typeface="Arial"/>
              </a:rPr>
              <a:t>44 · 0.2 s</a:t>
            </a:r>
            <a:endParaRPr b="0" lang="en-US" sz="3150" spc="-1" strike="noStrike">
              <a:latin typeface="Arial"/>
            </a:endParaRPr>
          </a:p>
        </p:txBody>
      </p:sp>
      <p:sp>
        <p:nvSpPr>
          <p:cNvPr id="696" name="Text 50"/>
          <p:cNvSpPr/>
          <p:nvPr/>
        </p:nvSpPr>
        <p:spPr>
          <a:xfrm>
            <a:off x="5290200" y="8608320"/>
            <a:ext cx="39607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Unit tests </a:t>
            </a:r>
            <a:r>
              <a:rPr b="0" lang="en-US" sz="1350" spc="-1" strike="noStrike">
                <a:solidFill>
                  <a:srgbClr val="999999"/>
                </a:solidFill>
                <a:latin typeface="Arial"/>
                <a:ea typeface="Arial"/>
              </a:rPr>
              <a:t>|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no cluster required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97" name="Shape 51"/>
          <p:cNvSpPr/>
          <p:nvPr/>
        </p:nvSpPr>
        <p:spPr>
          <a:xfrm>
            <a:off x="9656640" y="6450840"/>
            <a:ext cx="7964280" cy="3321360"/>
          </a:xfrm>
          <a:prstGeom prst="rect">
            <a:avLst/>
          </a:prstGeom>
          <a:solidFill>
            <a:srgbClr val="f2f2f2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8" name="Text 52"/>
          <p:cNvSpPr/>
          <p:nvPr/>
        </p:nvSpPr>
        <p:spPr>
          <a:xfrm>
            <a:off x="9777960" y="6646680"/>
            <a:ext cx="772128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3864"/>
                </a:solidFill>
                <a:latin typeface="Arial"/>
                <a:ea typeface="Arial"/>
              </a:rPr>
              <a:t>Scan Cycle vs. 60-second Budget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99" name="Image 0" descr="preencoded.png"/>
          <p:cNvPicPr/>
          <p:nvPr/>
        </p:nvPicPr>
        <p:blipFill>
          <a:blip r:embed="rId1"/>
          <a:stretch/>
        </p:blipFill>
        <p:spPr>
          <a:xfrm>
            <a:off x="9890640" y="7062120"/>
            <a:ext cx="7495920" cy="2238120"/>
          </a:xfrm>
          <a:prstGeom prst="rect">
            <a:avLst/>
          </a:prstGeom>
          <a:ln w="0">
            <a:noFill/>
          </a:ln>
        </p:spPr>
      </p:pic>
      <p:sp>
        <p:nvSpPr>
          <p:cNvPr id="700" name="Text 53"/>
          <p:cNvSpPr/>
          <p:nvPr/>
        </p:nvSpPr>
        <p:spPr>
          <a:xfrm>
            <a:off x="9777960" y="9363240"/>
            <a:ext cx="77212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95959"/>
                </a:solidFill>
                <a:latin typeface="Arial"/>
                <a:ea typeface="Arial"/>
              </a:rPr>
              <a:t>5.2% of the 60 s budget used · 56.9 s headroom (Table 5.5).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1" name="Shape 54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Text 55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03" name="Text 56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14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Limitations — Honest Scope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6 · Limitations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706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Text 3"/>
          <p:cNvSpPr/>
          <p:nvPr/>
        </p:nvSpPr>
        <p:spPr>
          <a:xfrm>
            <a:off x="666720" y="1504800"/>
            <a:ext cx="174628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Four scope decisions bound the conclusions of this work. None of them invalidate the central finding — each maps cleanly to a future-work item on the next slide.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708" name="Shape 4"/>
          <p:cNvSpPr/>
          <p:nvPr/>
        </p:nvSpPr>
        <p:spPr>
          <a:xfrm>
            <a:off x="661680" y="1945440"/>
            <a:ext cx="8362440" cy="379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Shape 5"/>
          <p:cNvSpPr/>
          <p:nvPr/>
        </p:nvSpPr>
        <p:spPr>
          <a:xfrm>
            <a:off x="666720" y="5744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Shape 6"/>
          <p:cNvSpPr/>
          <p:nvPr/>
        </p:nvSpPr>
        <p:spPr>
          <a:xfrm>
            <a:off x="666720" y="195084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Shape 7"/>
          <p:cNvSpPr/>
          <p:nvPr/>
        </p:nvSpPr>
        <p:spPr>
          <a:xfrm>
            <a:off x="666720" y="1950840"/>
            <a:ext cx="43200" cy="379872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Shape 8"/>
          <p:cNvSpPr/>
          <p:nvPr/>
        </p:nvSpPr>
        <p:spPr>
          <a:xfrm>
            <a:off x="9024120" y="1950840"/>
            <a:ext cx="9000" cy="37987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Text 9"/>
          <p:cNvSpPr/>
          <p:nvPr/>
        </p:nvSpPr>
        <p:spPr>
          <a:xfrm>
            <a:off x="938880" y="2146680"/>
            <a:ext cx="8092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b8860b"/>
                </a:solidFill>
                <a:latin typeface="Arial"/>
                <a:ea typeface="Arial"/>
              </a:rPr>
              <a:t>1 · Single Runtime Tested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14" name="Text 10"/>
          <p:cNvSpPr/>
          <p:nvPr/>
        </p:nvSpPr>
        <p:spPr>
          <a:xfrm>
            <a:off x="941040" y="2760480"/>
            <a:ext cx="809208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Evaluation uses Minikube + Docker only. The containerd adapter is implemented and unit-tested, but not exercised in cluster experiments.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15" name="Text 11"/>
          <p:cNvSpPr/>
          <p:nvPr/>
        </p:nvSpPr>
        <p:spPr>
          <a:xfrm>
            <a:off x="938880" y="335808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Impact: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the seccomp-stripping finding is confirmed for Docker; cross-runtime reproducibility is open.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16" name="Shape 12"/>
          <p:cNvSpPr/>
          <p:nvPr/>
        </p:nvSpPr>
        <p:spPr>
          <a:xfrm>
            <a:off x="9258480" y="1950840"/>
            <a:ext cx="8362440" cy="379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Shape 13"/>
          <p:cNvSpPr/>
          <p:nvPr/>
        </p:nvSpPr>
        <p:spPr>
          <a:xfrm>
            <a:off x="9258480" y="5744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8" name="Shape 14"/>
          <p:cNvSpPr/>
          <p:nvPr/>
        </p:nvSpPr>
        <p:spPr>
          <a:xfrm>
            <a:off x="9258480" y="195084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9" name="Shape 15"/>
          <p:cNvSpPr/>
          <p:nvPr/>
        </p:nvSpPr>
        <p:spPr>
          <a:xfrm>
            <a:off x="9258480" y="1950840"/>
            <a:ext cx="43200" cy="379872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0" name="Shape 16"/>
          <p:cNvSpPr/>
          <p:nvPr/>
        </p:nvSpPr>
        <p:spPr>
          <a:xfrm>
            <a:off x="17615880" y="1950840"/>
            <a:ext cx="9000" cy="37987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Text 17"/>
          <p:cNvSpPr/>
          <p:nvPr/>
        </p:nvSpPr>
        <p:spPr>
          <a:xfrm>
            <a:off x="9530280" y="2146680"/>
            <a:ext cx="8092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b8860b"/>
                </a:solidFill>
                <a:latin typeface="Arial"/>
                <a:ea typeface="Arial"/>
              </a:rPr>
              <a:t>2 · Metadata-Based Seccomp Check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22" name="Text 18"/>
          <p:cNvSpPr/>
          <p:nvPr/>
        </p:nvSpPr>
        <p:spPr>
          <a:xfrm>
            <a:off x="9530280" y="2721960"/>
            <a:ext cx="80920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Layer 2 reads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inspect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rather than the kernel directly. This is precisely what produced the false positives on Pods 1, 5, and 6 — Finding 2.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23" name="Text 19"/>
          <p:cNvSpPr/>
          <p:nvPr/>
        </p:nvSpPr>
        <p:spPr>
          <a:xfrm>
            <a:off x="9530280" y="336276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Impact: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the observability gap is a known, characterised limitation, not an unknown unknown.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24" name="Shape 20"/>
          <p:cNvSpPr/>
          <p:nvPr/>
        </p:nvSpPr>
        <p:spPr>
          <a:xfrm>
            <a:off x="666720" y="5978160"/>
            <a:ext cx="8362440" cy="379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Shape 21"/>
          <p:cNvSpPr/>
          <p:nvPr/>
        </p:nvSpPr>
        <p:spPr>
          <a:xfrm>
            <a:off x="666720" y="9767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Shape 22"/>
          <p:cNvSpPr/>
          <p:nvPr/>
        </p:nvSpPr>
        <p:spPr>
          <a:xfrm>
            <a:off x="666720" y="5978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7" name="Shape 23"/>
          <p:cNvSpPr/>
          <p:nvPr/>
        </p:nvSpPr>
        <p:spPr>
          <a:xfrm>
            <a:off x="666720" y="5978160"/>
            <a:ext cx="43200" cy="379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8" name="Shape 24"/>
          <p:cNvSpPr/>
          <p:nvPr/>
        </p:nvSpPr>
        <p:spPr>
          <a:xfrm>
            <a:off x="9024120" y="5978160"/>
            <a:ext cx="9000" cy="379404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Text 25"/>
          <p:cNvSpPr/>
          <p:nvPr/>
        </p:nvSpPr>
        <p:spPr>
          <a:xfrm>
            <a:off x="938880" y="6174000"/>
            <a:ext cx="8092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b8860b"/>
                </a:solidFill>
                <a:latin typeface="Arial"/>
                <a:ea typeface="Arial"/>
              </a:rPr>
              <a:t>3 · Single-Node Cluster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30" name="Text 26"/>
          <p:cNvSpPr/>
          <p:nvPr/>
        </p:nvSpPr>
        <p:spPr>
          <a:xfrm>
            <a:off x="938880" y="6749280"/>
            <a:ext cx="809208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Multi-node clusters, NetworkPolicy enforcement, and service-mesh interactions (Istio, Linkerd) were not in scope.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31" name="Text 27"/>
          <p:cNvSpPr/>
          <p:nvPr/>
        </p:nvSpPr>
        <p:spPr>
          <a:xfrm>
            <a:off x="938880" y="738540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Impact: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findings are conservative — they hold per-node; multi-node behaviour is open.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32" name="Shape 28"/>
          <p:cNvSpPr/>
          <p:nvPr/>
        </p:nvSpPr>
        <p:spPr>
          <a:xfrm>
            <a:off x="9258480" y="5978160"/>
            <a:ext cx="8362440" cy="379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Shape 29"/>
          <p:cNvSpPr/>
          <p:nvPr/>
        </p:nvSpPr>
        <p:spPr>
          <a:xfrm>
            <a:off x="9258480" y="9767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Shape 30"/>
          <p:cNvSpPr/>
          <p:nvPr/>
        </p:nvSpPr>
        <p:spPr>
          <a:xfrm>
            <a:off x="9258480" y="5978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5" name="Shape 31"/>
          <p:cNvSpPr/>
          <p:nvPr/>
        </p:nvSpPr>
        <p:spPr>
          <a:xfrm>
            <a:off x="9258480" y="5978160"/>
            <a:ext cx="43200" cy="379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6" name="Shape 32"/>
          <p:cNvSpPr/>
          <p:nvPr/>
        </p:nvSpPr>
        <p:spPr>
          <a:xfrm>
            <a:off x="17615880" y="5978160"/>
            <a:ext cx="9000" cy="379404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7" name="Text 33"/>
          <p:cNvSpPr/>
          <p:nvPr/>
        </p:nvSpPr>
        <p:spPr>
          <a:xfrm>
            <a:off x="9530280" y="6174000"/>
            <a:ext cx="8092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b8860b"/>
                </a:solidFill>
                <a:latin typeface="Arial"/>
                <a:ea typeface="Arial"/>
              </a:rPr>
              <a:t>4 · CLI-Based Inspection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38" name="Text 34"/>
          <p:cNvSpPr/>
          <p:nvPr/>
        </p:nvSpPr>
        <p:spPr>
          <a:xfrm>
            <a:off x="9530280" y="6749280"/>
            <a:ext cx="809208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The tool shells out to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kubectl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and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rather than using native Python client libraries.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39" name="Text 35"/>
          <p:cNvSpPr/>
          <p:nvPr/>
        </p:nvSpPr>
        <p:spPr>
          <a:xfrm>
            <a:off x="9530280" y="711000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Impact: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some parsing fragility under version skew; functionally complete on the tested versions.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40" name="Shape 36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1" name="Text 37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42" name="Text 38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15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Future Work — Natural Next Steps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744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6 · Future Work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745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6" name="Text 3"/>
          <p:cNvSpPr/>
          <p:nvPr/>
        </p:nvSpPr>
        <p:spPr>
          <a:xfrm>
            <a:off x="666720" y="1504800"/>
            <a:ext cx="174628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1f1f1f"/>
                </a:solidFill>
                <a:latin typeface="Arial"/>
                <a:ea typeface="Arial"/>
              </a:rPr>
              <a:t>Each limitation maps directly to a concrete next step. The two findings are mature enough that publication is the recommended next move.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747" name="Shape 4"/>
          <p:cNvSpPr/>
          <p:nvPr/>
        </p:nvSpPr>
        <p:spPr>
          <a:xfrm>
            <a:off x="666720" y="1950840"/>
            <a:ext cx="8362440" cy="379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8" name="Shape 5"/>
          <p:cNvSpPr/>
          <p:nvPr/>
        </p:nvSpPr>
        <p:spPr>
          <a:xfrm>
            <a:off x="666720" y="5744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9" name="Shape 6"/>
          <p:cNvSpPr/>
          <p:nvPr/>
        </p:nvSpPr>
        <p:spPr>
          <a:xfrm>
            <a:off x="666720" y="195084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0" name="Shape 7"/>
          <p:cNvSpPr/>
          <p:nvPr/>
        </p:nvSpPr>
        <p:spPr>
          <a:xfrm>
            <a:off x="666720" y="1950840"/>
            <a:ext cx="43200" cy="379872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1" name="Shape 8"/>
          <p:cNvSpPr/>
          <p:nvPr/>
        </p:nvSpPr>
        <p:spPr>
          <a:xfrm>
            <a:off x="9024120" y="1950840"/>
            <a:ext cx="9000" cy="37987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Text 9"/>
          <p:cNvSpPr/>
          <p:nvPr/>
        </p:nvSpPr>
        <p:spPr>
          <a:xfrm>
            <a:off x="938880" y="2146680"/>
            <a:ext cx="5383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1 · Kernel-Level Seccomp Verification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53" name="Text 10"/>
          <p:cNvSpPr/>
          <p:nvPr/>
        </p:nvSpPr>
        <p:spPr>
          <a:xfrm>
            <a:off x="938880" y="2797920"/>
            <a:ext cx="80920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Read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/proc/&lt;pid&gt;/status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directly. A value of </a:t>
            </a: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Seccomp: 2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confirms BPF mode regardless of what Docker's metadata reports.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54" name="Text 11"/>
          <p:cNvSpPr/>
          <p:nvPr/>
        </p:nvSpPr>
        <p:spPr>
          <a:xfrm>
            <a:off x="938880" y="343872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Eliminates the observability gap entirely </a:t>
            </a:r>
            <a:r>
              <a:rPr b="0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— addresses Limitation 2.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55" name="Shape 12"/>
          <p:cNvSpPr/>
          <p:nvPr/>
        </p:nvSpPr>
        <p:spPr>
          <a:xfrm>
            <a:off x="9258480" y="1950840"/>
            <a:ext cx="8362440" cy="379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6" name="Shape 13"/>
          <p:cNvSpPr/>
          <p:nvPr/>
        </p:nvSpPr>
        <p:spPr>
          <a:xfrm>
            <a:off x="9258480" y="5744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Shape 14"/>
          <p:cNvSpPr/>
          <p:nvPr/>
        </p:nvSpPr>
        <p:spPr>
          <a:xfrm>
            <a:off x="9258480" y="195084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8" name="Shape 15"/>
          <p:cNvSpPr/>
          <p:nvPr/>
        </p:nvSpPr>
        <p:spPr>
          <a:xfrm>
            <a:off x="9258480" y="1950840"/>
            <a:ext cx="43200" cy="379872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Shape 16"/>
          <p:cNvSpPr/>
          <p:nvPr/>
        </p:nvSpPr>
        <p:spPr>
          <a:xfrm>
            <a:off x="17615880" y="1950840"/>
            <a:ext cx="9000" cy="37987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0" name="Text 17"/>
          <p:cNvSpPr/>
          <p:nvPr/>
        </p:nvSpPr>
        <p:spPr>
          <a:xfrm>
            <a:off x="9530280" y="2146680"/>
            <a:ext cx="4180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2 · Cross-Runtime Evaluation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61" name="Text 18"/>
          <p:cNvSpPr/>
          <p:nvPr/>
        </p:nvSpPr>
        <p:spPr>
          <a:xfrm>
            <a:off x="9530280" y="2797920"/>
            <a:ext cx="809208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Deploy on containerd (kind, GKE, EKS) and CRI-O (OpenShift). Does the seccomp-stripping reproduce? Is the observability gap absent on containerd?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62" name="Text 19"/>
          <p:cNvSpPr/>
          <p:nvPr/>
        </p:nvSpPr>
        <p:spPr>
          <a:xfrm>
            <a:off x="9530280" y="343404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Addresses Limitation 1.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63" name="Shape 20"/>
          <p:cNvSpPr/>
          <p:nvPr/>
        </p:nvSpPr>
        <p:spPr>
          <a:xfrm>
            <a:off x="666720" y="5978160"/>
            <a:ext cx="8362440" cy="379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4" name="Shape 21"/>
          <p:cNvSpPr/>
          <p:nvPr/>
        </p:nvSpPr>
        <p:spPr>
          <a:xfrm>
            <a:off x="666720" y="9767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5" name="Shape 22"/>
          <p:cNvSpPr/>
          <p:nvPr/>
        </p:nvSpPr>
        <p:spPr>
          <a:xfrm>
            <a:off x="666720" y="5978160"/>
            <a:ext cx="8362440" cy="900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6" name="Shape 23"/>
          <p:cNvSpPr/>
          <p:nvPr/>
        </p:nvSpPr>
        <p:spPr>
          <a:xfrm>
            <a:off x="666720" y="5978160"/>
            <a:ext cx="43200" cy="379404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Shape 24"/>
          <p:cNvSpPr/>
          <p:nvPr/>
        </p:nvSpPr>
        <p:spPr>
          <a:xfrm>
            <a:off x="9024120" y="5978160"/>
            <a:ext cx="9000" cy="379404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Text 25"/>
          <p:cNvSpPr/>
          <p:nvPr/>
        </p:nvSpPr>
        <p:spPr>
          <a:xfrm>
            <a:off x="938880" y="6174000"/>
            <a:ext cx="40402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3 · Mutating-Webhook Drift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69" name="Shape 26"/>
          <p:cNvSpPr/>
          <p:nvPr/>
        </p:nvSpPr>
        <p:spPr>
          <a:xfrm>
            <a:off x="7564320" y="6266520"/>
            <a:ext cx="1230840" cy="380160"/>
          </a:xfrm>
          <a:prstGeom prst="roundRect">
            <a:avLst>
              <a:gd name="adj" fmla="val 7512"/>
            </a:avLst>
          </a:prstGeom>
          <a:solidFill>
            <a:srgbClr val="d9ebec"/>
          </a:solidFill>
          <a:ln w="5443">
            <a:solidFill>
              <a:srgbClr val="b0cd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0" name="Text 27"/>
          <p:cNvSpPr/>
          <p:nvPr/>
        </p:nvSpPr>
        <p:spPr>
          <a:xfrm>
            <a:off x="7703280" y="6310080"/>
            <a:ext cx="10296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0f7b7e"/>
                </a:solidFill>
                <a:latin typeface="Arial"/>
                <a:ea typeface="Arial"/>
              </a:rPr>
              <a:t>RESEARCH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771" name="Text 28"/>
          <p:cNvSpPr/>
          <p:nvPr/>
        </p:nvSpPr>
        <p:spPr>
          <a:xfrm>
            <a:off x="938880" y="6825600"/>
            <a:ext cx="809208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Admission webhooks (PSA, custom controllers) can silently add or modify seccomp profiles </a:t>
            </a:r>
            <a:r>
              <a:rPr b="0" i="1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after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the user submits the spec. A potential third class of enforcement gap.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72" name="Text 29"/>
          <p:cNvSpPr/>
          <p:nvPr/>
        </p:nvSpPr>
        <p:spPr>
          <a:xfrm>
            <a:off x="938880" y="7461720"/>
            <a:ext cx="8092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New research direction — multi-node and webhook-aware.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73" name="Shape 30"/>
          <p:cNvSpPr/>
          <p:nvPr/>
        </p:nvSpPr>
        <p:spPr>
          <a:xfrm>
            <a:off x="9258480" y="5978160"/>
            <a:ext cx="8362440" cy="3794040"/>
          </a:xfrm>
          <a:prstGeom prst="rect">
            <a:avLst/>
          </a:prstGeom>
          <a:solidFill>
            <a:srgbClr val="e8eef7"/>
          </a:solidFill>
          <a:ln w="5443">
            <a:solidFill>
              <a:srgbClr val="2e539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4" name="Text 31"/>
          <p:cNvSpPr/>
          <p:nvPr/>
        </p:nvSpPr>
        <p:spPr>
          <a:xfrm>
            <a:off x="9492480" y="6174000"/>
            <a:ext cx="20919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4 · Publication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75" name="Shape 32"/>
          <p:cNvSpPr/>
          <p:nvPr/>
        </p:nvSpPr>
        <p:spPr>
          <a:xfrm>
            <a:off x="15599160" y="6266520"/>
            <a:ext cx="1787760" cy="380160"/>
          </a:xfrm>
          <a:prstGeom prst="roundRect">
            <a:avLst>
              <a:gd name="adj" fmla="val 7512"/>
            </a:avLst>
          </a:prstGeom>
          <a:solidFill>
            <a:srgbClr val="ddebdc"/>
          </a:solidFill>
          <a:ln w="5443">
            <a:solidFill>
              <a:srgbClr val="b5cf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Text 33"/>
          <p:cNvSpPr/>
          <p:nvPr/>
        </p:nvSpPr>
        <p:spPr>
          <a:xfrm>
            <a:off x="15738120" y="6310080"/>
            <a:ext cx="15861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650" spc="49" strike="noStrike">
                <a:solidFill>
                  <a:srgbClr val="2e7d32"/>
                </a:solidFill>
                <a:latin typeface="Arial"/>
                <a:ea typeface="Arial"/>
              </a:rPr>
              <a:t>RECOMMENDED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777" name="Text 34"/>
          <p:cNvSpPr/>
          <p:nvPr/>
        </p:nvSpPr>
        <p:spPr>
          <a:xfrm>
            <a:off x="9492480" y="6825600"/>
            <a:ext cx="81313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The two findings — the true enforcement gap and the observability artefact — together form a novel, reproducible, and well-evidenced contribution suitable for publication at a security venue.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78" name="Text 35"/>
          <p:cNvSpPr/>
          <p:nvPr/>
        </p:nvSpPr>
        <p:spPr>
          <a:xfrm>
            <a:off x="9492480" y="7461720"/>
            <a:ext cx="8131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95959"/>
                </a:solidFill>
                <a:latin typeface="Arial"/>
                <a:ea typeface="Arial"/>
              </a:rPr>
              <a:t>Strong empirical signal · controlled experiment · open-source artefact.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79" name="Shape 36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0" name="Text 37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1" name="Text 38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16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Text 0"/>
          <p:cNvSpPr/>
          <p:nvPr/>
        </p:nvSpPr>
        <p:spPr>
          <a:xfrm>
            <a:off x="666720" y="343080"/>
            <a:ext cx="17462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4650" spc="-1" strike="noStrike">
                <a:solidFill>
                  <a:srgbClr val="1f3864"/>
                </a:solidFill>
                <a:latin typeface="Arial"/>
                <a:ea typeface="Arial"/>
              </a:rPr>
              <a:t>Conclusion: Four Contributions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783" name="Text 1"/>
          <p:cNvSpPr/>
          <p:nvPr/>
        </p:nvSpPr>
        <p:spPr>
          <a:xfrm>
            <a:off x="666720" y="999720"/>
            <a:ext cx="17462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595959"/>
                </a:solidFill>
                <a:latin typeface="Arial"/>
                <a:ea typeface="Arial"/>
              </a:rPr>
              <a:t>Chapter 6 · Summary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784" name="Shape 2"/>
          <p:cNvSpPr/>
          <p:nvPr/>
        </p:nvSpPr>
        <p:spPr>
          <a:xfrm>
            <a:off x="666720" y="1476000"/>
            <a:ext cx="1695420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5" name="Shape 3"/>
          <p:cNvSpPr/>
          <p:nvPr/>
        </p:nvSpPr>
        <p:spPr>
          <a:xfrm>
            <a:off x="666720" y="1504800"/>
            <a:ext cx="8372160" cy="152676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Text 4"/>
          <p:cNvSpPr/>
          <p:nvPr/>
        </p:nvSpPr>
        <p:spPr>
          <a:xfrm>
            <a:off x="900720" y="1701000"/>
            <a:ext cx="8141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1. A New Verification Tool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87" name="Text 5"/>
          <p:cNvSpPr/>
          <p:nvPr/>
        </p:nvSpPr>
        <p:spPr>
          <a:xfrm>
            <a:off x="900720" y="2276280"/>
            <a:ext cx="81410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k8s-psa — first open-source tool to systematically compare Kubernetes declarations against actual container runtime state across 7 security dimensions.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88" name="Shape 6"/>
          <p:cNvSpPr/>
          <p:nvPr/>
        </p:nvSpPr>
        <p:spPr>
          <a:xfrm>
            <a:off x="9248760" y="1504800"/>
            <a:ext cx="8372160" cy="152676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Text 7"/>
          <p:cNvSpPr/>
          <p:nvPr/>
        </p:nvSpPr>
        <p:spPr>
          <a:xfrm>
            <a:off x="9482760" y="1701000"/>
            <a:ext cx="8141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a0203b"/>
                </a:solidFill>
                <a:latin typeface="Arial"/>
                <a:ea typeface="Arial"/>
              </a:rPr>
              <a:t>2. True Enforcement Gap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90" name="Text 8"/>
          <p:cNvSpPr/>
          <p:nvPr/>
        </p:nvSpPr>
        <p:spPr>
          <a:xfrm>
            <a:off x="9482760" y="2276280"/>
            <a:ext cx="81410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Empirical evidence that Docker strips declared seccomp from privileged containers — a vulnerability invisible to every existing specification-only tool.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91" name="Shape 9"/>
          <p:cNvSpPr/>
          <p:nvPr/>
        </p:nvSpPr>
        <p:spPr>
          <a:xfrm>
            <a:off x="666720" y="3241440"/>
            <a:ext cx="8372160" cy="153144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2" name="Text 10"/>
          <p:cNvSpPr/>
          <p:nvPr/>
        </p:nvSpPr>
        <p:spPr>
          <a:xfrm>
            <a:off x="900720" y="3437640"/>
            <a:ext cx="8141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b8860b"/>
                </a:solidFill>
                <a:latin typeface="Arial"/>
                <a:ea typeface="Arial"/>
              </a:rPr>
              <a:t>3. Observability Gap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93" name="Text 11"/>
          <p:cNvSpPr/>
          <p:nvPr/>
        </p:nvSpPr>
        <p:spPr>
          <a:xfrm>
            <a:off x="900720" y="4012920"/>
            <a:ext cx="8141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rgbClr val="1f1f1f"/>
                </a:solidFill>
                <a:highlight>
                  <a:srgbClr val="f2f2f2"/>
                </a:highlight>
                <a:latin typeface="Courier New"/>
                <a:ea typeface="Courier New"/>
              </a:rPr>
              <a:t>docker inspect </a:t>
            </a: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omits implicit seccomp defaults — any security tool relying on this metadata inherits the false-positive problem.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94" name="Shape 12"/>
          <p:cNvSpPr/>
          <p:nvPr/>
        </p:nvSpPr>
        <p:spPr>
          <a:xfrm>
            <a:off x="9248760" y="3241440"/>
            <a:ext cx="8372160" cy="1531440"/>
          </a:xfrm>
          <a:prstGeom prst="rect">
            <a:avLst/>
          </a:prstGeom>
          <a:solidFill>
            <a:srgbClr val="ffffff"/>
          </a:solidFill>
          <a:ln w="5443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5" name="Text 13"/>
          <p:cNvSpPr/>
          <p:nvPr/>
        </p:nvSpPr>
        <p:spPr>
          <a:xfrm>
            <a:off x="9482760" y="3437640"/>
            <a:ext cx="81410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3864"/>
                </a:solidFill>
                <a:latin typeface="Arial"/>
                <a:ea typeface="Arial"/>
              </a:rPr>
              <a:t>4. Open-Source Eval Framework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796" name="Text 14"/>
          <p:cNvSpPr/>
          <p:nvPr/>
        </p:nvSpPr>
        <p:spPr>
          <a:xfrm>
            <a:off x="9482760" y="4012920"/>
            <a:ext cx="81410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1f1f1f"/>
                </a:solidFill>
                <a:latin typeface="Arial"/>
                <a:ea typeface="Arial"/>
              </a:rPr>
              <a:t>44 unit tests · 7 deployment-level test cases · one-command deploy · real-time Chart.js dashboard for continuous monitoring.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97" name="Shape 15"/>
          <p:cNvSpPr/>
          <p:nvPr/>
        </p:nvSpPr>
        <p:spPr>
          <a:xfrm>
            <a:off x="8572680" y="6391800"/>
            <a:ext cx="1142640" cy="2808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8" name="Text 16"/>
          <p:cNvSpPr/>
          <p:nvPr/>
        </p:nvSpPr>
        <p:spPr>
          <a:xfrm>
            <a:off x="7882560" y="6630120"/>
            <a:ext cx="25225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0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4500" spc="-1" strike="noStrike">
                <a:solidFill>
                  <a:srgbClr val="1f3864"/>
                </a:solidFill>
                <a:latin typeface="Arial"/>
                <a:ea typeface="Arial"/>
              </a:rPr>
              <a:t>Thank You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99" name="Text 17"/>
          <p:cNvSpPr/>
          <p:nvPr/>
        </p:nvSpPr>
        <p:spPr>
          <a:xfrm>
            <a:off x="8008920" y="7506360"/>
            <a:ext cx="226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595959"/>
                </a:solidFill>
                <a:latin typeface="Arial"/>
                <a:ea typeface="Arial"/>
              </a:rPr>
              <a:t>Questions welcome.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800" name="Text 18"/>
          <p:cNvSpPr/>
          <p:nvPr/>
        </p:nvSpPr>
        <p:spPr>
          <a:xfrm>
            <a:off x="6556680" y="8108280"/>
            <a:ext cx="51746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9000"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595959"/>
                </a:solidFill>
                <a:latin typeface="Arial"/>
                <a:ea typeface="Arial"/>
              </a:rPr>
              <a:t>Yehia Sobeh · Supervisor: Kirill Saltanov · Innopolis · 2026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801" name="Shape 19"/>
          <p:cNvSpPr/>
          <p:nvPr/>
        </p:nvSpPr>
        <p:spPr>
          <a:xfrm>
            <a:off x="666720" y="9805320"/>
            <a:ext cx="16954200" cy="90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Text 20"/>
          <p:cNvSpPr/>
          <p:nvPr/>
        </p:nvSpPr>
        <p:spPr>
          <a:xfrm>
            <a:off x="666720" y="9887040"/>
            <a:ext cx="44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95959"/>
                </a:solidFill>
                <a:latin typeface="Arial"/>
                <a:ea typeface="Arial"/>
              </a:rPr>
              <a:t>Yehia Sobeh · Bridging the Enforcement Verification Gap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03" name="Text 21"/>
          <p:cNvSpPr/>
          <p:nvPr/>
        </p:nvSpPr>
        <p:spPr>
          <a:xfrm>
            <a:off x="17066880" y="9887040"/>
            <a:ext cx="630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78000"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04040"/>
                </a:solidFill>
                <a:latin typeface="Arial"/>
                <a:ea typeface="Arial"/>
              </a:rPr>
              <a:t>17 / 17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2026-06-15T11:45:41Z</dcterms:created>
  <dc:creator>PptxGenJS</dc:creator>
  <dc:description/>
  <dc:language>en-US</dc:language>
  <cp:lastModifiedBy/>
  <dcterms:modified xsi:type="dcterms:W3CDTF">2026-06-15T14:57:28Z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